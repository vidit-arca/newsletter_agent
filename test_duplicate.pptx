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84" r:id="rId33"/>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lnSpc>
                <a:spcPts val="5523"/>
              </a:lnSpc>
            </a:pPr>
            <a:r>
              <a:rPr lang="en-US" sz="4000" b="1" spc="933" dirty="0">
                <a:solidFill>
                  <a:srgbClr val="000000"/>
                </a:solidFill>
                <a:latin typeface="Montserrat Bold"/>
                <a:ea typeface="Montserrat Bold"/>
                <a:cs typeface="Montserrat Bold"/>
                <a:sym typeface="Montserrat Bold"/>
              </a:rPr>
              <a:t>____</a:t>
            </a:r>
          </a:p>
          <a:p>
            <a:pPr algn="ctr">
              <a:lnSpc>
                <a:spcPts val="5523"/>
              </a:lnSpc>
            </a:pPr>
            <a:r>
              <a:rPr lang="en-US" sz="4000" b="1" spc="933" dirty="0">
                <a:solidFill>
                  <a:srgbClr val="000000"/>
                </a:solidFill>
                <a:latin typeface="Montserrat Bold"/>
                <a:ea typeface="Montserrat Bold"/>
                <a:cs typeface="Montserrat Bold"/>
                <a:sym typeface="Montserrat Bold"/>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pPr algn="l">
              <a:lnSpc>
                <a:spcPts val="1933"/>
              </a:lnSpc>
            </a:pPr>
            <a:r>
              <a:rPr lang="en-US" sz="1400" dirty="0">
                <a:ln w="0"/>
                <a:latin typeface="Montserrat Classic"/>
                <a:ea typeface="Montserrat Classic"/>
                <a:cs typeface="Montserrat Classic"/>
                <a:sym typeface="Montserrat Classic"/>
              </a:rPr>
              <a:t>Issue</a:t>
            </a:r>
            <a:r>
              <a:rPr lang="en-US" sz="1400" dirty="0">
                <a:ln w="0"/>
                <a:effectLst>
                  <a:outerShdw blurRad="38100" dist="19050" dir="2700000" algn="tl" rotWithShape="0">
                    <a:schemeClr val="dk1">
                      <a:alpha val="40000"/>
                    </a:schemeClr>
                  </a:outerShdw>
                </a:effectLst>
                <a:latin typeface="Montserrat Classic"/>
                <a:ea typeface="Montserrat Classic"/>
                <a:cs typeface="Montserrat Classic"/>
                <a:sym typeface="Montserrat Classic"/>
              </a:rPr>
              <a:t> ____ | _____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11</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pPr marL="0" marR="0" algn="just">
              <a:lnSpc>
                <a:spcPct val="150000"/>
              </a:lnSpc>
              <a:spcAft>
                <a:spcPts val="800"/>
              </a:spcAft>
              <a:buNone/>
            </a:pPr>
            <a:r>
              <a:rPr lang="en-US" sz="1600" kern="100" dirty="0">
                <a:solidFill>
                  <a:srgbClr val="002060"/>
                </a:solidFill>
                <a:effectLst/>
                <a:ea typeface="Aptos" panose="020B0004020202020204" pitchFamily="34" charset="0"/>
                <a:cs typeface="Times New Roman" panose="02020603050405020304" pitchFamily="18" charset="0"/>
              </a:rPr>
              <a:t>This edition captures key updates from SEBI issued durin</a:t>
            </a:r>
            <a:r>
              <a:rPr lang="en-US" sz="1600" kern="100" dirty="0">
                <a:solidFill>
                  <a:srgbClr val="002060"/>
                </a:solidFill>
                <a:ea typeface="Aptos" panose="020B0004020202020204" pitchFamily="34" charset="0"/>
                <a:cs typeface="Times New Roman" panose="02020603050405020304" pitchFamily="18" charset="0"/>
              </a:rPr>
              <a:t>g ______</a:t>
            </a:r>
            <a:r>
              <a:rPr lang="en-US" sz="1600" kern="100" dirty="0">
                <a:solidFill>
                  <a:srgbClr val="002060"/>
                </a:solidFill>
                <a:effectLst/>
                <a:ea typeface="Aptos" panose="020B0004020202020204" pitchFamily="34" charset="0"/>
                <a:cs typeface="Times New Roman" panose="02020603050405020304" pitchFamily="18" charset="0"/>
              </a:rPr>
              <a:t>, grouped by relevance to ensure actionable insights. </a:t>
            </a:r>
            <a:r>
              <a:rPr lang="en-IN" sz="1600" kern="100" dirty="0">
                <a:solidFill>
                  <a:srgbClr val="002060"/>
                </a:solidFill>
                <a:effectLst/>
                <a:ea typeface="Aptos" panose="020B0004020202020204" pitchFamily="34" charset="0"/>
                <a:cs typeface="Times New Roman" panose="02020603050405020304" pitchFamily="18" charset="0"/>
              </a:rPr>
              <a:t>Our aim is to support your governance journey and reinforce transparency across your operations.</a:t>
            </a:r>
            <a:endParaRPr lang="en-US" sz="1600" kern="100" dirty="0">
              <a:solidFill>
                <a:srgbClr val="002060"/>
              </a:solidFill>
              <a:effectLst/>
              <a:ea typeface="Aptos" panose="020B0004020202020204" pitchFamily="34" charset="0"/>
              <a:cs typeface="Times New Roman" panose="02020603050405020304" pitchFamily="18" charset="0"/>
            </a:endParaRPr>
          </a:p>
          <a:p>
            <a:pPr marL="0" marR="0" algn="just">
              <a:lnSpc>
                <a:spcPct val="150000"/>
              </a:lnSpc>
              <a:spcAft>
                <a:spcPts val="800"/>
              </a:spcAft>
            </a:pPr>
            <a:r>
              <a:rPr lang="en-IN" sz="1600" kern="100" dirty="0">
                <a:solidFill>
                  <a:srgbClr val="002060"/>
                </a:solidFill>
                <a:effectLst/>
                <a:ea typeface="Aptos" panose="020B0004020202020204" pitchFamily="34" charset="0"/>
                <a:cs typeface="Times New Roman" panose="02020603050405020304" pitchFamily="18" charset="0"/>
              </a:rPr>
              <a:t>Let divine blessings illuminate our path as we foster integrity, accountability, and principled action in every endeavour</a:t>
            </a:r>
          </a:p>
          <a:p>
            <a:pPr>
              <a:lnSpc>
                <a:spcPct val="150000"/>
              </a:lnSpc>
            </a:pPr>
            <a:r>
              <a:rPr lang="en-IN" sz="1600" b="1" u="sng" dirty="0">
                <a:solidFill>
                  <a:srgbClr val="002060"/>
                </a:solidFill>
              </a:rPr>
              <a:t>FOR LISTED ENTITIES</a:t>
            </a:r>
            <a:r>
              <a:rPr lang="en-IN" sz="1600" dirty="0">
                <a:solidFill>
                  <a:srgbClr val="002060"/>
                </a:solidFill>
              </a:rPr>
              <a:t> </a:t>
            </a:r>
          </a:p>
          <a:p>
            <a:pPr>
              <a:lnSpc>
                <a:spcPct val="150000"/>
              </a:lnSpc>
            </a:pPr>
            <a:endParaRPr lang="en-IN" sz="1600" dirty="0">
              <a:solidFill>
                <a:srgbClr val="002060"/>
              </a:solidFill>
            </a:endParaRPr>
          </a:p>
          <a:p>
            <a:pPr>
              <a:lnSpc>
                <a:spcPct val="150000"/>
              </a:lnSpc>
            </a:pPr>
            <a:r>
              <a:rPr lang="en-IN" sz="1600" dirty="0">
                <a:solidFill>
                  <a:srgbClr val="002060"/>
                </a:solidFill>
              </a:rPr>
              <a:t>  </a:t>
            </a:r>
            <a:endParaRPr lang="en-US" sz="1600" kern="100" dirty="0">
              <a:solidFill>
                <a:srgbClr val="002060"/>
              </a:solidFill>
              <a:cs typeface="Times New Roman" panose="02020603050405020304" pitchFamily="18" charset="0"/>
            </a:endParaRPr>
          </a:p>
          <a:p>
            <a:pPr algn="just">
              <a:lnSpc>
                <a:spcPct val="150000"/>
              </a:lnSpc>
            </a:pPr>
            <a:endParaRPr lang="en-US" sz="1600" b="1" u="sng"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11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11</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11</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11</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11</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11</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11</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