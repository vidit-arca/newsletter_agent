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bookmarkIdSeed="2">
  <p:sldMasterIdLst>
    <p:sldMasterId id="2147483648" r:id="rId1"/>
  </p:sldMasterIdLst>
  <p:notesMasterIdLst>
    <p:notesMasterId r:id="rId13"/>
  </p:notesMasterIdLst>
  <p:handoutMasterIdLst>
    <p:handoutMasterId r:id="rId14"/>
  </p:handoutMasterIdLst>
  <p:sldIdLst>
    <p:sldId id="256" r:id="rId2"/>
    <p:sldId id="257" r:id="rId3"/>
    <p:sldId id="281" r:id="rId4"/>
    <p:sldId id="275" r:id="rId5"/>
    <p:sldId id="258" r:id="rId6"/>
    <p:sldId id="259" r:id="rId7"/>
    <p:sldId id="276" r:id="rId8"/>
    <p:sldId id="280" r:id="rId9"/>
    <p:sldId id="282" r:id="rId10"/>
    <p:sldId id="283" r:id="rId11"/>
    <p:sldId id="284" r:id="rId33"/>
    <p:sldId id="285" r:id="rId34"/>
    <p:sldId id="262" r:id="rId12"/>
  </p:sldIdLst>
  <p:sldSz cx="7556500" cy="10693400"/>
  <p:notesSz cx="6858000" cy="9144000"/>
  <p:embeddedFontLst>
    <p:embeddedFont>
      <p:font typeface="Canva Sans Bold Italics" panose="020B0604020202020204"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
      <p:font typeface="Montserrat Bold" panose="00000800000000000000" charset="0"/>
      <p:regular r:id="rId23"/>
      <p:bold r:id="rId24"/>
    </p:embeddedFont>
    <p:embeddedFont>
      <p:font typeface="Montserrat Classic" panose="020B0604020202020204" charset="0"/>
      <p:regular r:id="rId25"/>
    </p:embeddedFont>
    <p:embeddedFont>
      <p:font typeface="Montserrat Classic Bold" panose="020B0604020202020204"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5B13AD-9D3F-43D7-8C09-EE99CC0E6810}">
          <p14:sldIdLst>
            <p14:sldId id="256"/>
            <p14:sldId id="257"/>
            <p14:sldId id="281"/>
            <p14:sldId id="275"/>
            <p14:sldId id="258"/>
            <p14:sldId id="259"/>
            <p14:sldId id="276"/>
            <p14:sldId id="280"/>
            <p14:sldId id="282"/>
            <p14:sldId id="283"/>
            <p14:sldId id="26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AFC70B-62F5-A2D5-179E-38CFE34E869D}" name="Akshayam Corporate" initials="AC" userId="4da170d8fe2c9114" providerId="Windows Live"/>
  <p188:author id="{37B40F4F-C4B7-9A17-BD58-D8B6D1E58FBB}" name="Vijayashree Akshayam" initials="VA" userId="Vijayashree Akshayam" providerId="None"/>
  <p188:author id="{FC9427BF-2F46-F632-BD97-6A6E6211112C}" name="Akshayam Vijayashree" initials="AV" userId="c7b6f966c5db89bb" providerId="Windows Live"/>
  <p188:author id="{11512ADE-0601-89BE-5FA3-D4A7240BADA3}" name="Akshayam Gayathri" initials="AG" userId="d6c9e8928e28eb4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A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5033" autoAdjust="0"/>
  </p:normalViewPr>
  <p:slideViewPr>
    <p:cSldViewPr>
      <p:cViewPr>
        <p:scale>
          <a:sx n="66" d="100"/>
          <a:sy n="66" d="100"/>
        </p:scale>
        <p:origin x="2563"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 Id="rId33" Type="http://schemas.openxmlformats.org/officeDocument/2006/relationships/slide" Target="slides/slide12.xml"/><Relationship Id="rId3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090448-BEA7-13A3-E3BE-E0F629BA59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563141-DD44-53D6-0ADC-DBD0F49868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EAC7F4-989E-4E80-AA70-449465F511CB}" type="datetimeFigureOut">
              <a:rPr lang="en-US" smtClean="0"/>
              <a:t>19-May-26</a:t>
            </a:fld>
            <a:endParaRPr lang="en-US"/>
          </a:p>
        </p:txBody>
      </p:sp>
      <p:sp>
        <p:nvSpPr>
          <p:cNvPr id="4" name="Footer Placeholder 3">
            <a:extLst>
              <a:ext uri="{FF2B5EF4-FFF2-40B4-BE49-F238E27FC236}">
                <a16:creationId xmlns:a16="http://schemas.microsoft.com/office/drawing/2014/main" id="{0C2C51CB-7E77-5AF0-5B4C-D6C702DE41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B22FBA9-A29B-B09C-5BE6-D5FB66F831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138348-FB05-4257-A0BD-11356C79A27B}" type="slidenum">
              <a:rPr lang="en-US" smtClean="0"/>
              <a:t>‹#›</a:t>
            </a:fld>
            <a:endParaRPr lang="en-US"/>
          </a:p>
        </p:txBody>
      </p:sp>
    </p:spTree>
    <p:extLst>
      <p:ext uri="{BB962C8B-B14F-4D97-AF65-F5344CB8AC3E}">
        <p14:creationId xmlns:p14="http://schemas.microsoft.com/office/powerpoint/2010/main" val="3783394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90F206-EE2D-408D-9188-EF36162EE9A3}" type="datetimeFigureOut">
              <a:rPr lang="en-US" smtClean="0"/>
              <a:t>19-May-26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ED63A-9D04-49DF-9757-7D83F06E14E4}" type="slidenum">
              <a:rPr lang="en-US" smtClean="0"/>
              <a:t>‹#›</a:t>
            </a:fld>
            <a:endParaRPr lang="en-US"/>
          </a:p>
        </p:txBody>
      </p:sp>
    </p:spTree>
    <p:extLst>
      <p:ext uri="{BB962C8B-B14F-4D97-AF65-F5344CB8AC3E}">
        <p14:creationId xmlns:p14="http://schemas.microsoft.com/office/powerpoint/2010/main" val="30412944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8ED63A-9D04-49DF-9757-7D83F06E14E4}" type="slidenum">
              <a:rPr lang="en-US" smtClean="0"/>
              <a:t>9</a:t>
            </a:fld>
            <a:endParaRPr lang="en-US"/>
          </a:p>
        </p:txBody>
      </p:sp>
    </p:spTree>
    <p:extLst>
      <p:ext uri="{BB962C8B-B14F-4D97-AF65-F5344CB8AC3E}">
        <p14:creationId xmlns:p14="http://schemas.microsoft.com/office/powerpoint/2010/main" val="1184225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4D23EE-C28E-41DC-8BBD-F57A0AD8FACE}"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E1DF6A-5983-4275-9F6C-E198972BE1F2}"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E17121-B280-4071-9A85-E3B9C8C8310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57BDFE-9C60-4B7B-8991-612ACA6C157F}"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A230DB-6D8B-4397-A447-2E850283409E}" type="datetime1">
              <a:rPr lang="en-US" smtClean="0"/>
              <a:t>19-May-26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B9369B-338F-4E50-A49A-83ABDED5F3B2}" type="datetime1">
              <a:rPr lang="en-US" smtClean="0"/>
              <a:t>19-May-26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250EB-D47C-458D-97E7-3139D0BAC1E9}" type="datetime1">
              <a:rPr lang="en-US" smtClean="0"/>
              <a:t>19-May-26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55C71-FA91-43D3-82C5-0E3155B59D11}"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8264B2-330E-4794-A78E-185438AAB38A}"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151176-0F27-4BA3-B6F0-F479C7EBC6DD}"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04CF1D-AEE3-40DD-B035-C7A7DE1CAC3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8AD87-AA51-4402-A791-38EC1485A591}" type="datetime1">
              <a:rPr lang="en-US" smtClean="0"/>
              <a:t>19-May-26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n-2026/1782820586828.pdf" TargetMode="External"/><Relationship Id="rId4" Type="http://schemas.openxmlformats.org/officeDocument/2006/relationships/hyperlink" Target="https://www.sebi.gov.in/sebi_data/attachdocs/jun-2026/1782220609648.pdf" TargetMode="External"/><Relationship Id="rId5" Type="http://schemas.openxmlformats.org/officeDocument/2006/relationships/hyperlink" Target="https://www.sebi.gov.in/sebi_data/attachdocs/jun-2026/1782127785109.pdf" TargetMode="External"/><Relationship Id="rId6" Type="http://schemas.openxmlformats.org/officeDocument/2006/relationships/hyperlink" Target="https://www.sebi.gov.in/sebi_data/attachdocs/jun-2026/178187148388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n-2026/1781693343484.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n-2026/1782210871344.pdf" TargetMode="External"/><Relationship Id="rId4" Type="http://schemas.openxmlformats.org/officeDocument/2006/relationships/hyperlink" Target="https://www.sebi.gov.in/sebi_data/attachdocs/jun-2026/1781787487371.pdf"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n-2026/1781085792389.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commondocs/jun-2026/Informal%20Guidance%20Letter%20by%20SEBI%20-%20interpretive%20letter_p.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hyperlink" Target="mailto:Karthik@Peritumpartners.com" TargetMode="External"/><Relationship Id="rId6" Type="http://schemas.openxmlformats.org/officeDocument/2006/relationships/image" Target="../media/image7.jpg"/><Relationship Id="rId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bseindia.com/downloads/UploadDocs/Notices/20260601-34/20260601-34.pdf" TargetMode="External"/><Relationship Id="rId4" Type="http://schemas.openxmlformats.org/officeDocument/2006/relationships/hyperlink" Target="https://www.bseindia.com/downloads/UploadDocs/Notices/20260612-13/20260612-13.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2" name="TextBox 2"/>
          <p:cNvSpPr txBox="1"/>
          <p:nvPr/>
        </p:nvSpPr>
        <p:spPr>
          <a:xfrm>
            <a:off x="273050" y="1452803"/>
            <a:ext cx="7054625" cy="1361078"/>
          </a:xfrm>
          <a:prstGeom prst="rect">
            <a:avLst/>
          </a:prstGeom>
        </p:spPr>
        <p:txBody>
          <a:bodyPr wrap="square" lIns="0" tIns="0" rIns="0" bIns="0" rtlCol="0" anchor="t">
            <a:spAutoFit/>
          </a:bodyPr>
          <a:lstStyle/>
          <a:p>
            <a:pPr algn="ctr"/>
            <a:r>
              <a:rPr sz="4400" b="1">
                <a:solidFill>
                  <a:srgbClr val="0070C0"/>
                </a:solidFill>
                <a:latin typeface="Calibri"/>
              </a:rPr>
              <a:t>June</a:t>
            </a:r>
          </a:p>
          <a:p>
            <a:pPr algn="ctr"/>
            <a:r>
              <a:rPr sz="4400" b="1">
                <a:solidFill>
                  <a:srgbClr val="0070C0"/>
                </a:solidFill>
                <a:latin typeface="Calibri"/>
              </a:rPr>
              <a:t>2026-INSIGHTS</a:t>
            </a:r>
          </a:p>
        </p:txBody>
      </p:sp>
      <p:sp>
        <p:nvSpPr>
          <p:cNvPr id="3" name="Freeform 3"/>
          <p:cNvSpPr/>
          <p:nvPr/>
        </p:nvSpPr>
        <p:spPr>
          <a:xfrm>
            <a:off x="0" y="2623822"/>
            <a:ext cx="7569820" cy="8068178"/>
          </a:xfrm>
          <a:custGeom>
            <a:avLst/>
            <a:gdLst/>
            <a:ahLst/>
            <a:cxnLst/>
            <a:rect l="l" t="t" r="r" b="b"/>
            <a:pathLst>
              <a:path w="7569820" h="8068178">
                <a:moveTo>
                  <a:pt x="0" y="0"/>
                </a:moveTo>
                <a:lnTo>
                  <a:pt x="7569820" y="0"/>
                </a:lnTo>
                <a:lnTo>
                  <a:pt x="7569820" y="8068178"/>
                </a:lnTo>
                <a:lnTo>
                  <a:pt x="0" y="8068178"/>
                </a:lnTo>
                <a:lnTo>
                  <a:pt x="0" y="0"/>
                </a:lnTo>
                <a:close/>
              </a:path>
            </a:pathLst>
          </a:custGeom>
          <a:blipFill>
            <a:blip r:embed="rId2"/>
            <a:stretch>
              <a:fillRect l="-92267" t="-64" r="-25217" b="-14713"/>
            </a:stretch>
          </a:blipFill>
        </p:spPr>
        <p:txBody>
          <a:bodyPr/>
          <a:lstStyle/>
          <a:p>
            <a:endParaRPr lang="en-US"/>
          </a:p>
        </p:txBody>
      </p:sp>
      <p:grpSp>
        <p:nvGrpSpPr>
          <p:cNvPr id="4" name="Group 4"/>
          <p:cNvGrpSpPr/>
          <p:nvPr/>
        </p:nvGrpSpPr>
        <p:grpSpPr>
          <a:xfrm>
            <a:off x="0" y="8757906"/>
            <a:ext cx="7569820" cy="2356188"/>
            <a:chOff x="0" y="0"/>
            <a:chExt cx="2712853" cy="844405"/>
          </a:xfrm>
          <a:solidFill>
            <a:srgbClr val="00B0F0"/>
          </a:solidFill>
        </p:grpSpPr>
        <p:sp>
          <p:nvSpPr>
            <p:cNvPr id="5" name="Freeform 5"/>
            <p:cNvSpPr/>
            <p:nvPr/>
          </p:nvSpPr>
          <p:spPr>
            <a:xfrm>
              <a:off x="0" y="0"/>
              <a:ext cx="2712853" cy="844405"/>
            </a:xfrm>
            <a:custGeom>
              <a:avLst/>
              <a:gdLst/>
              <a:ahLst/>
              <a:cxnLst/>
              <a:rect l="l" t="t" r="r" b="b"/>
              <a:pathLst>
                <a:path w="2712853" h="844405">
                  <a:moveTo>
                    <a:pt x="0" y="0"/>
                  </a:moveTo>
                  <a:lnTo>
                    <a:pt x="2712853" y="0"/>
                  </a:lnTo>
                  <a:lnTo>
                    <a:pt x="2712853" y="844405"/>
                  </a:lnTo>
                  <a:lnTo>
                    <a:pt x="0" y="844405"/>
                  </a:lnTo>
                  <a:close/>
                </a:path>
              </a:pathLst>
            </a:custGeom>
            <a:grpFill/>
          </p:spPr>
          <p:txBody>
            <a:bodyPr/>
            <a:lstStyle/>
            <a:p>
              <a:endParaRPr lang="en-US" dirty="0"/>
            </a:p>
          </p:txBody>
        </p:sp>
        <p:sp>
          <p:nvSpPr>
            <p:cNvPr id="6" name="TextBox 6"/>
            <p:cNvSpPr txBox="1"/>
            <p:nvPr/>
          </p:nvSpPr>
          <p:spPr>
            <a:xfrm>
              <a:off x="0" y="-28575"/>
              <a:ext cx="2712853" cy="872980"/>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7" name="Group 7"/>
          <p:cNvGrpSpPr/>
          <p:nvPr/>
        </p:nvGrpSpPr>
        <p:grpSpPr>
          <a:xfrm>
            <a:off x="0" y="8875518"/>
            <a:ext cx="7569820" cy="1874539"/>
            <a:chOff x="0" y="0"/>
            <a:chExt cx="2712853" cy="671793"/>
          </a:xfrm>
          <a:solidFill>
            <a:schemeClr val="tx2"/>
          </a:solidFill>
        </p:grpSpPr>
        <p:sp>
          <p:nvSpPr>
            <p:cNvPr id="8" name="Freeform 8"/>
            <p:cNvSpPr/>
            <p:nvPr/>
          </p:nvSpPr>
          <p:spPr>
            <a:xfrm>
              <a:off x="0" y="0"/>
              <a:ext cx="2712853" cy="671793"/>
            </a:xfrm>
            <a:custGeom>
              <a:avLst/>
              <a:gdLst/>
              <a:ahLst/>
              <a:cxnLst/>
              <a:rect l="l" t="t" r="r" b="b"/>
              <a:pathLst>
                <a:path w="2712853" h="671793">
                  <a:moveTo>
                    <a:pt x="0" y="0"/>
                  </a:moveTo>
                  <a:lnTo>
                    <a:pt x="2712853" y="0"/>
                  </a:lnTo>
                  <a:lnTo>
                    <a:pt x="2712853" y="671793"/>
                  </a:lnTo>
                  <a:lnTo>
                    <a:pt x="0" y="671793"/>
                  </a:lnTo>
                  <a:close/>
                </a:path>
              </a:pathLst>
            </a:custGeom>
            <a:grpFill/>
          </p:spPr>
          <p:txBody>
            <a:bodyPr lIns="50800" tIns="50800" rIns="50800" bIns="50800" rtlCol="0" anchor="ctr"/>
            <a:lstStyle/>
            <a:p>
              <a:pPr algn="ctr">
                <a:lnSpc>
                  <a:spcPts val="1960"/>
                </a:lnSpc>
                <a:spcBef>
                  <a:spcPct val="0"/>
                </a:spcBef>
              </a:pPr>
              <a:endParaRPr lang="en-US"/>
            </a:p>
          </p:txBody>
        </p:sp>
        <p:sp>
          <p:nvSpPr>
            <p:cNvPr id="9" name="TextBox 9"/>
            <p:cNvSpPr txBox="1"/>
            <p:nvPr/>
          </p:nvSpPr>
          <p:spPr>
            <a:xfrm>
              <a:off x="0" y="-28575"/>
              <a:ext cx="2712853" cy="700368"/>
            </a:xfrm>
            <a:prstGeom prst="rect">
              <a:avLst/>
            </a:prstGeom>
            <a:grpFill/>
          </p:spPr>
          <p:txBody>
            <a:bodyPr lIns="50800" tIns="50800" rIns="50800" bIns="50800" rtlCol="0" anchor="ctr"/>
            <a:lstStyle>
              <a:defPPr>
                <a:defRPr lang="en-US"/>
              </a:defPPr>
              <a:lvl1pPr algn="ctr">
                <a:lnSpc>
                  <a:spcPts val="1960"/>
                </a:lnSpc>
                <a:spcBef>
                  <a:spcPct val="0"/>
                </a:spcBef>
              </a:lvl1pPr>
            </a:lstStyle>
            <a:p>
              <a:endParaRPr/>
            </a:p>
          </p:txBody>
        </p:sp>
      </p:grpSp>
      <p:sp>
        <p:nvSpPr>
          <p:cNvPr id="13" name="TextBox 13"/>
          <p:cNvSpPr txBox="1"/>
          <p:nvPr/>
        </p:nvSpPr>
        <p:spPr>
          <a:xfrm>
            <a:off x="4692650" y="902270"/>
            <a:ext cx="3400750" cy="217560"/>
          </a:xfrm>
          <a:prstGeom prst="rect">
            <a:avLst/>
          </a:prstGeom>
        </p:spPr>
        <p:txBody>
          <a:bodyPr wrap="square" lIns="0" tIns="0" rIns="0" bIns="0" rtlCol="0" anchor="t">
            <a:spAutoFit/>
          </a:bodyPr>
          <a:lstStyle/>
          <a:p>
            <a:r>
              <a:t>Issue June | June 2026</a:t>
            </a:r>
          </a:p>
        </p:txBody>
      </p:sp>
      <p:grpSp>
        <p:nvGrpSpPr>
          <p:cNvPr id="15" name="Group 15"/>
          <p:cNvGrpSpPr/>
          <p:nvPr/>
        </p:nvGrpSpPr>
        <p:grpSpPr>
          <a:xfrm>
            <a:off x="-3500" y="-1332120"/>
            <a:ext cx="7560000" cy="1874539"/>
            <a:chOff x="0" y="0"/>
            <a:chExt cx="2709333" cy="671793"/>
          </a:xfrm>
          <a:solidFill>
            <a:schemeClr val="tx2"/>
          </a:solidFill>
        </p:grpSpPr>
        <p:sp>
          <p:nvSpPr>
            <p:cNvPr id="16" name="Freeform 16"/>
            <p:cNvSpPr/>
            <p:nvPr/>
          </p:nvSpPr>
          <p:spPr>
            <a:xfrm>
              <a:off x="0" y="0"/>
              <a:ext cx="2709333" cy="671793"/>
            </a:xfrm>
            <a:custGeom>
              <a:avLst/>
              <a:gdLst/>
              <a:ahLst/>
              <a:cxnLst/>
              <a:rect l="l" t="t" r="r" b="b"/>
              <a:pathLst>
                <a:path w="2709333" h="671793">
                  <a:moveTo>
                    <a:pt x="0" y="0"/>
                  </a:moveTo>
                  <a:lnTo>
                    <a:pt x="2709333" y="0"/>
                  </a:lnTo>
                  <a:lnTo>
                    <a:pt x="2709333" y="671793"/>
                  </a:lnTo>
                  <a:lnTo>
                    <a:pt x="0" y="671793"/>
                  </a:lnTo>
                  <a:close/>
                </a:path>
              </a:pathLst>
            </a:custGeom>
            <a:grpFill/>
          </p:spPr>
          <p:txBody>
            <a:bodyPr/>
            <a:lstStyle/>
            <a:p>
              <a:endParaRPr lang="en-US" dirty="0"/>
            </a:p>
          </p:txBody>
        </p:sp>
        <p:sp>
          <p:nvSpPr>
            <p:cNvPr id="17" name="TextBox 17"/>
            <p:cNvSpPr txBox="1"/>
            <p:nvPr/>
          </p:nvSpPr>
          <p:spPr>
            <a:xfrm>
              <a:off x="0" y="-28575"/>
              <a:ext cx="2709333" cy="700368"/>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8" name="Group 18"/>
          <p:cNvGrpSpPr/>
          <p:nvPr/>
        </p:nvGrpSpPr>
        <p:grpSpPr>
          <a:xfrm>
            <a:off x="-13539" y="36934"/>
            <a:ext cx="7569820" cy="599044"/>
            <a:chOff x="0" y="0"/>
            <a:chExt cx="2712853" cy="148399"/>
          </a:xfrm>
          <a:solidFill>
            <a:srgbClr val="00B0F0"/>
          </a:solidFill>
        </p:grpSpPr>
        <p:sp>
          <p:nvSpPr>
            <p:cNvPr id="19" name="Freeform 19"/>
            <p:cNvSpPr/>
            <p:nvPr/>
          </p:nvSpPr>
          <p:spPr>
            <a:xfrm>
              <a:off x="0" y="0"/>
              <a:ext cx="2712853" cy="148399"/>
            </a:xfrm>
            <a:custGeom>
              <a:avLst/>
              <a:gdLst/>
              <a:ahLst/>
              <a:cxnLst/>
              <a:rect l="l" t="t" r="r" b="b"/>
              <a:pathLst>
                <a:path w="2712853" h="148399">
                  <a:moveTo>
                    <a:pt x="0" y="0"/>
                  </a:moveTo>
                  <a:lnTo>
                    <a:pt x="2712853" y="0"/>
                  </a:lnTo>
                  <a:lnTo>
                    <a:pt x="2712853" y="148399"/>
                  </a:lnTo>
                  <a:lnTo>
                    <a:pt x="0" y="148399"/>
                  </a:lnTo>
                  <a:close/>
                </a:path>
              </a:pathLst>
            </a:custGeom>
            <a:grpFill/>
          </p:spPr>
          <p:txBody>
            <a:bodyPr/>
            <a:lstStyle/>
            <a:p>
              <a:endParaRPr lang="en-US" sz="4000"/>
            </a:p>
          </p:txBody>
        </p:sp>
        <p:sp>
          <p:nvSpPr>
            <p:cNvPr id="20" name="TextBox 20"/>
            <p:cNvSpPr txBox="1"/>
            <p:nvPr/>
          </p:nvSpPr>
          <p:spPr>
            <a:xfrm>
              <a:off x="0" y="-28575"/>
              <a:ext cx="2712853" cy="176974"/>
            </a:xfrm>
            <a:prstGeom prst="rect">
              <a:avLst/>
            </a:prstGeom>
            <a:grpFill/>
          </p:spPr>
          <p:txBody>
            <a:bodyPr lIns="50800" tIns="50800" rIns="50800" bIns="50800" rtlCol="0" anchor="ctr"/>
            <a:lstStyle/>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r>
                <a:rPr lang="en-US" sz="4000" b="1" dirty="0">
                  <a:solidFill>
                    <a:srgbClr val="000000"/>
                  </a:solidFill>
                  <a:latin typeface="Montserrat Classic Bold"/>
                  <a:ea typeface="Montserrat Classic Bold"/>
                  <a:cs typeface="Montserrat Classic Bold"/>
                  <a:sym typeface="Montserrat Classic Bold"/>
                </a:rPr>
                <a:t>PRAVARTIYA</a:t>
              </a:r>
            </a:p>
            <a:p>
              <a:pPr algn="ctr">
                <a:lnSpc>
                  <a:spcPts val="1960"/>
                </a:lnSpc>
                <a:spcBef>
                  <a:spcPct val="0"/>
                </a:spcBef>
              </a:pPr>
              <a:endParaRPr sz="4000" dirty="0"/>
            </a:p>
          </p:txBody>
        </p:sp>
      </p:grpSp>
      <p:grpSp>
        <p:nvGrpSpPr>
          <p:cNvPr id="21" name="Group 21"/>
          <p:cNvGrpSpPr/>
          <p:nvPr/>
        </p:nvGrpSpPr>
        <p:grpSpPr>
          <a:xfrm>
            <a:off x="-44006" y="7502328"/>
            <a:ext cx="7569820" cy="1082285"/>
            <a:chOff x="0" y="0"/>
            <a:chExt cx="2712853" cy="387866"/>
          </a:xfrm>
        </p:grpSpPr>
        <p:sp>
          <p:nvSpPr>
            <p:cNvPr id="22" name="Freeform 22"/>
            <p:cNvSpPr/>
            <p:nvPr/>
          </p:nvSpPr>
          <p:spPr>
            <a:xfrm>
              <a:off x="0" y="0"/>
              <a:ext cx="2712853" cy="387866"/>
            </a:xfrm>
            <a:custGeom>
              <a:avLst/>
              <a:gdLst/>
              <a:ahLst/>
              <a:cxnLst/>
              <a:rect l="l" t="t" r="r" b="b"/>
              <a:pathLst>
                <a:path w="2712853" h="387866">
                  <a:moveTo>
                    <a:pt x="0" y="0"/>
                  </a:moveTo>
                  <a:lnTo>
                    <a:pt x="2712853" y="0"/>
                  </a:lnTo>
                  <a:lnTo>
                    <a:pt x="2712853" y="387866"/>
                  </a:lnTo>
                  <a:lnTo>
                    <a:pt x="0" y="387866"/>
                  </a:lnTo>
                  <a:close/>
                </a:path>
              </a:pathLst>
            </a:custGeom>
            <a:solidFill>
              <a:srgbClr val="02062C">
                <a:alpha val="61961"/>
              </a:srgbClr>
            </a:solidFill>
          </p:spPr>
          <p:txBody>
            <a:bodyPr/>
            <a:lstStyle/>
            <a:p>
              <a:endParaRPr lang="en-US"/>
            </a:p>
          </p:txBody>
        </p:sp>
        <p:sp>
          <p:nvSpPr>
            <p:cNvPr id="23" name="TextBox 23"/>
            <p:cNvSpPr txBox="1"/>
            <p:nvPr/>
          </p:nvSpPr>
          <p:spPr>
            <a:xfrm>
              <a:off x="0" y="-28575"/>
              <a:ext cx="2712853" cy="416441"/>
            </a:xfrm>
            <a:prstGeom prst="rect">
              <a:avLst/>
            </a:prstGeom>
          </p:spPr>
          <p:txBody>
            <a:bodyPr lIns="50800" tIns="50800" rIns="50800" bIns="50800" rtlCol="0" anchor="ctr"/>
            <a:lstStyle/>
            <a:p>
              <a:pPr algn="ctr">
                <a:lnSpc>
                  <a:spcPts val="1960"/>
                </a:lnSpc>
                <a:spcBef>
                  <a:spcPct val="0"/>
                </a:spcBef>
              </a:pPr>
              <a:endParaRPr/>
            </a:p>
          </p:txBody>
        </p:sp>
      </p:grpSp>
      <p:sp>
        <p:nvSpPr>
          <p:cNvPr id="24" name="TextBox 24"/>
          <p:cNvSpPr txBox="1"/>
          <p:nvPr/>
        </p:nvSpPr>
        <p:spPr>
          <a:xfrm>
            <a:off x="501650" y="7691797"/>
            <a:ext cx="6306891" cy="586379"/>
          </a:xfrm>
          <a:prstGeom prst="rect">
            <a:avLst/>
          </a:prstGeom>
        </p:spPr>
        <p:txBody>
          <a:bodyPr lIns="0" tIns="0" rIns="0" bIns="0" rtlCol="0" anchor="t">
            <a:spAutoFit/>
          </a:bodyPr>
          <a:lstStyle/>
          <a:p>
            <a:pPr algn="ctr">
              <a:lnSpc>
                <a:spcPts val="2362"/>
              </a:lnSpc>
            </a:pPr>
            <a:r>
              <a:rPr lang="en-US" sz="1920" spc="5" dirty="0">
                <a:solidFill>
                  <a:srgbClr val="FFFFFF"/>
                </a:solidFill>
                <a:latin typeface="Montserrat Classic"/>
                <a:ea typeface="Montserrat Classic"/>
                <a:cs typeface="Montserrat Classic"/>
                <a:sym typeface="Montserrat Classic"/>
              </a:rPr>
              <a:t>A Monthly newsletter from Akshayam  focusing on Listed Companies</a:t>
            </a:r>
          </a:p>
        </p:txBody>
      </p:sp>
      <p:sp>
        <p:nvSpPr>
          <p:cNvPr id="25" name="TextBox 25"/>
          <p:cNvSpPr txBox="1"/>
          <p:nvPr/>
        </p:nvSpPr>
        <p:spPr>
          <a:xfrm>
            <a:off x="2635250" y="9146316"/>
            <a:ext cx="4890564" cy="1604029"/>
          </a:xfrm>
          <a:prstGeom prst="rect">
            <a:avLst/>
          </a:prstGeom>
        </p:spPr>
        <p:txBody>
          <a:bodyPr wrap="square" lIns="0" tIns="0" rIns="0" bIns="0" rtlCol="0" anchor="t">
            <a:spAutoFit/>
          </a:bodyPr>
          <a:lstStyle/>
          <a:p>
            <a:pPr algn="just">
              <a:lnSpc>
                <a:spcPts val="1400"/>
              </a:lnSpc>
              <a:spcBef>
                <a:spcPct val="0"/>
              </a:spcBef>
            </a:pPr>
            <a:r>
              <a:rPr lang="en-US" sz="1000" b="1" i="1" dirty="0" err="1">
                <a:solidFill>
                  <a:srgbClr val="FFFFFF"/>
                </a:solidFill>
                <a:latin typeface="Canva Sans Bold Italics"/>
                <a:ea typeface="Canva Sans Bold Italics"/>
                <a:cs typeface="Canva Sans Bold Italics"/>
                <a:sym typeface="Canva Sans Bold Italics"/>
              </a:rPr>
              <a:t>Pravartiya</a:t>
            </a:r>
            <a:r>
              <a:rPr lang="en-US" sz="1000" b="1" i="1" dirty="0">
                <a:solidFill>
                  <a:srgbClr val="FFFFFF"/>
                </a:solidFill>
                <a:latin typeface="Canva Sans Bold Italics"/>
                <a:ea typeface="Canva Sans Bold Italics"/>
                <a:cs typeface="Canva Sans Bold Italics"/>
                <a:sym typeface="Canva Sans Bold Italics"/>
              </a:rPr>
              <a:t> is derived from Sanskrit term  "</a:t>
            </a:r>
            <a:r>
              <a:rPr lang="en-US" sz="1000" b="1" i="1" dirty="0" err="1">
                <a:solidFill>
                  <a:srgbClr val="FFFFFF"/>
                </a:solidFill>
                <a:latin typeface="Canva Sans Bold Italics"/>
                <a:ea typeface="Canva Sans Bold Italics"/>
                <a:cs typeface="Canva Sans Bold Italics"/>
                <a:sym typeface="Canva Sans Bold Italics"/>
              </a:rPr>
              <a:t>Pravritti</a:t>
            </a:r>
            <a:r>
              <a:rPr lang="en-US" sz="1000" b="1" i="1" dirty="0">
                <a:solidFill>
                  <a:srgbClr val="FFFFFF"/>
                </a:solidFill>
                <a:latin typeface="Canva Sans Bold Italics"/>
                <a:ea typeface="Canva Sans Bold Italics"/>
                <a:cs typeface="Canva Sans Bold Italics"/>
                <a:sym typeface="Canva Sans Bold Italics"/>
              </a:rPr>
              <a:t>" (activity or commencement), symbolizing the dissemination of crucial updates particularly in the domain of compliance and regulatory matters. The term suggests not only the initiation of action but also the ongoing flow of information and engagement with the necessary changes or updates.</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a:p>
            <a:pPr algn="just">
              <a:lnSpc>
                <a:spcPts val="1400"/>
              </a:lnSpc>
              <a:spcBef>
                <a:spcPct val="0"/>
              </a:spcBef>
            </a:pPr>
            <a:r>
              <a:rPr lang="en-US" sz="1000" b="1" i="1" dirty="0">
                <a:solidFill>
                  <a:srgbClr val="FFFFFF"/>
                </a:solidFill>
                <a:latin typeface="Canva Sans Bold Italics"/>
                <a:ea typeface="Canva Sans Bold Italics"/>
                <a:cs typeface="Canva Sans Bold Italics"/>
                <a:sym typeface="Canva Sans Bold Italics"/>
              </a:rPr>
              <a:t>In this spirit, Akshayam presents this newsletter to aid listed entities with timely, actionable insights for navigating compliance with clarity. </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p:txBody>
      </p:sp>
      <p:pic>
        <p:nvPicPr>
          <p:cNvPr id="11" name="Picture 10">
            <a:extLst>
              <a:ext uri="{FF2B5EF4-FFF2-40B4-BE49-F238E27FC236}">
                <a16:creationId xmlns:a16="http://schemas.microsoft.com/office/drawing/2014/main" id="{AA59AB90-DA7C-A834-2A22-09AFA21701F8}"/>
              </a:ext>
            </a:extLst>
          </p:cNvPr>
          <p:cNvPicPr>
            <a:picLocks noChangeAspect="1"/>
          </p:cNvPicPr>
          <p:nvPr/>
        </p:nvPicPr>
        <p:blipFill>
          <a:blip r:embed="rId3"/>
          <a:stretch>
            <a:fillRect/>
          </a:stretch>
        </p:blipFill>
        <p:spPr>
          <a:xfrm>
            <a:off x="273050" y="9130990"/>
            <a:ext cx="2057400" cy="1441467"/>
          </a:xfrm>
          <a:prstGeom prst="rect">
            <a:avLst/>
          </a:prstGeom>
        </p:spPr>
      </p:pic>
      <p:sp>
        <p:nvSpPr>
          <p:cNvPr id="10" name="Slide Number Placeholder 9">
            <a:extLst>
              <a:ext uri="{FF2B5EF4-FFF2-40B4-BE49-F238E27FC236}">
                <a16:creationId xmlns:a16="http://schemas.microsoft.com/office/drawing/2014/main" id="{13E56074-7C45-D2EC-2319-7B980B3CCECE}"/>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2 of 13</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E65D1568-0A2F-4CE9-74DF-DCE53D681004}"/>
              </a:ext>
            </a:extLst>
          </p:cNvPr>
          <p:cNvSpPr txBox="1"/>
          <p:nvPr/>
        </p:nvSpPr>
        <p:spPr>
          <a:xfrm>
            <a:off x="109949" y="1725927"/>
            <a:ext cx="7349922" cy="3583289"/>
          </a:xfrm>
          <a:prstGeom prst="rect">
            <a:avLst/>
          </a:prstGeom>
          <a:noFill/>
        </p:spPr>
        <p:txBody>
          <a:bodyPr wrap="square">
            <a:spAutoFit/>
          </a:bodyPr>
          <a:lstStyle/>
          <a:p>
            <a:r>
              <a:t>This edition captures key updates from SEBI and Listed Companies issued during June, grouped by relevance to ensure actionable insights. Our aim is to support your governance journey and reinforce transparency across your operations.</a:t>
            </a:r>
          </a:p>
          <a:p>
            <a:r>
              <a:t>Let divine blessings illuminate our path as we foster integrity, accountability, and principled action in every endeavour</a:t>
            </a:r>
          </a:p>
          <a:p>
            <a:r>
              <a:t>FOR LISTED ENTITIES </a:t>
            </a:r>
          </a:p>
          <a:p/>
          <a:p>
            <a:r>
              <a:t>  </a:t>
            </a:r>
          </a:p>
          <a:p/>
        </p:txBody>
      </p:sp>
      <p:sp>
        <p:nvSpPr>
          <p:cNvPr id="33" name="TextBox 32">
            <a:extLst>
              <a:ext uri="{FF2B5EF4-FFF2-40B4-BE49-F238E27FC236}">
                <a16:creationId xmlns:a16="http://schemas.microsoft.com/office/drawing/2014/main" id="{5B2CAF88-C710-FBDB-FCE0-EB1A648302E7}"/>
              </a:ext>
            </a:extLst>
          </p:cNvPr>
          <p:cNvSpPr txBox="1"/>
          <p:nvPr/>
        </p:nvSpPr>
        <p:spPr>
          <a:xfrm>
            <a:off x="230982" y="2700827"/>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82E317A-E6C8-1577-3225-8FB2BDDB6093}"/>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B04C6D90-66FE-6977-FA89-0863A744C7CE}"/>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
        <p:nvSpPr>
          <p:cNvPr id="34" name="TextBox 33"/>
          <p:cNvSpPr txBox="1"/>
          <p:nvPr/>
        </p:nvSpPr>
        <p:spPr>
          <a:xfrm>
            <a:off x="457200" y="4114800"/>
            <a:ext cx="6583680" cy="4572000"/>
          </a:xfrm>
          <a:prstGeom prst="rect">
            <a:avLst/>
          </a:prstGeom>
          <a:noFill/>
        </p:spPr>
        <p:txBody>
          <a:bodyPr wrap="square">
            <a:spAutoFit/>
          </a:bodyPr>
          <a:lstStyle/>
          <a:p>
            <a:br/>
            <a:pPr>
              <a:defRPr b="1" u="sng" sz="1600">
                <a:solidFill>
                  <a:srgbClr val="002060"/>
                </a:solidFill>
              </a:defRPr>
            </a:pPr>
            <a:r>
              <a:t>PRESS RELEASE:</a:t>
            </a:r>
          </a:p>
          <a:p>
            <a:pPr>
              <a:spcAft>
                <a:spcPts val="600"/>
              </a:spcAft>
              <a:defRPr sz="1200"/>
            </a:pPr>
            <a:r>
              <a:t>➢ Constitution of an Expert Working Group on review of extant regulatory framework applicable for Debenture Trusteeship activities and other incidental matters</a:t>
            </a:r>
          </a:p>
          <a:p>
            <a:pPr>
              <a:spcAft>
                <a:spcPts val="600"/>
              </a:spcAft>
              <a:defRPr sz="1200"/>
            </a:pPr>
            <a:r>
              <a:t>➢ SEBI Proposes Common Advertisement Code for Specified Regulated Entities</a:t>
            </a:r>
          </a:p>
          <a:p>
            <a:pPr>
              <a:spcAft>
                <a:spcPts val="600"/>
              </a:spcAft>
              <a:defRPr sz="1200"/>
            </a:pPr>
            <a:r>
              <a:t>➢ Launch of Securities Market TechSprint at Global Fintech Fest 2026 (GFF ’26)</a:t>
            </a:r>
          </a:p>
          <a:p>
            <a:pPr>
              <a:spcAft>
                <a:spcPts val="600"/>
              </a:spcAft>
              <a:defRPr sz="1200"/>
            </a:pPr>
            <a:r>
              <a:t>➢ Key decisions taken in the SEBI Board Meeting dated 19th June, 2026</a:t>
            </a:r>
          </a:p>
          <a:p>
            <a:pPr>
              <a:spcAft>
                <a:spcPts val="600"/>
              </a:spcAft>
              <a:defRPr sz="1200"/>
            </a:pPr>
            <a:r>
              <a:t>➢ Transaction in Securities of Unlisted Public Limited Companies on various Platforms</a:t>
            </a:r>
          </a:p>
          <a:p>
            <a:br/>
            <a:pPr>
              <a:defRPr b="1" u="sng" sz="1600">
                <a:solidFill>
                  <a:srgbClr val="002060"/>
                </a:solidFill>
              </a:defRPr>
            </a:pPr>
            <a:r>
              <a:t>CONSULTATION PAPER:</a:t>
            </a:r>
          </a:p>
          <a:p>
            <a:pPr>
              <a:spcAft>
                <a:spcPts val="600"/>
              </a:spcAft>
              <a:defRPr sz="1200"/>
            </a:pPr>
            <a:r>
              <a:t>➢ Consultation Paper on Common Advertisement Code for Specified SEBI Regulated Entities</a:t>
            </a:r>
          </a:p>
          <a:p>
            <a:pPr>
              <a:spcAft>
                <a:spcPts val="600"/>
              </a:spcAft>
              <a:defRPr sz="1200"/>
            </a:pPr>
            <a:r>
              <a:t>➢ Consultation Paper on Review of Margin Trading Facility (MTF) Framework</a:t>
            </a:r>
          </a:p>
          <a:p>
            <a:pPr>
              <a:spcAft>
                <a:spcPts val="600"/>
              </a:spcAft>
              <a:defRPr sz="1200"/>
            </a:pPr>
            <a:r>
              <a:t>➢ Consultation paper on review of provisions on disclosure of Executive Remuneration by Asset Management Companies (AMCs).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D43D0FC-F3AA-A652-2C27-523F9E41EE54}"/>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4F55D29A-E1DB-4EF3-DCB8-3A28EC2D5110}"/>
              </a:ext>
            </a:extLst>
          </p:cNvPr>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a:extLst>
              <a:ext uri="{FF2B5EF4-FFF2-40B4-BE49-F238E27FC236}">
                <a16:creationId xmlns:a16="http://schemas.microsoft.com/office/drawing/2014/main" id="{2274EB0C-1F3D-71D2-F728-1CCC1D3A27CE}"/>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D3F63C58-5958-944B-AA73-10A32D56B0C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9BA410C3-41CA-CF9C-6E62-0D9BE4754D0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418F693A-0569-085E-CF03-72FC21E8DC9D}"/>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75FB7D13-610D-E741-80D8-B67D6D7EF22F}"/>
              </a:ext>
            </a:extLst>
          </p:cNvPr>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3 of 13 </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CE210C6A-462C-991F-2D45-EB1BDDD8828B}"/>
              </a:ext>
            </a:extLst>
          </p:cNvPr>
          <p:cNvSpPr txBox="1"/>
          <p:nvPr/>
        </p:nvSpPr>
        <p:spPr>
          <a:xfrm>
            <a:off x="206578" y="1604977"/>
            <a:ext cx="7081214" cy="895373"/>
          </a:xfrm>
          <a:prstGeom prst="rect">
            <a:avLst/>
          </a:prstGeom>
          <a:noFill/>
        </p:spPr>
        <p:txBody>
          <a:bodyPr wrap="square">
            <a:spAutoFit/>
          </a:bodyPr>
          <a:lstStyle/>
          <a:p>
            <a:pPr marL="285750" indent="-285750">
              <a:lnSpc>
                <a:spcPct val="150000"/>
              </a:lnSpc>
              <a:spcAft>
                <a:spcPts val="800"/>
              </a:spcAft>
              <a:buFont typeface="Arial" panose="020B0604020202020204" pitchFamily="34" charset="0"/>
              <a:buChar char="•"/>
            </a:pPr>
            <a:endParaRPr lang="en-US" sz="1600" b="1" u="sng" kern="100" dirty="0">
              <a:solidFill>
                <a:srgbClr val="002060"/>
              </a:solidFill>
              <a:cs typeface="Times New Roman" panose="02020603050405020304" pitchFamily="18" charset="0"/>
            </a:endParaRPr>
          </a:p>
          <a:p>
            <a:pPr algn="just">
              <a:lnSpc>
                <a:spcPct val="150000"/>
              </a:lnSpc>
              <a:spcAft>
                <a:spcPts val="800"/>
              </a:spcAft>
            </a:pPr>
            <a:endParaRPr lang="en-US" sz="1600"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8EDDEE75-E309-5599-8007-F4AEE4BD1515}"/>
              </a:ext>
            </a:extLst>
          </p:cNvPr>
          <p:cNvSpPr txBox="1"/>
          <p:nvPr/>
        </p:nvSpPr>
        <p:spPr>
          <a:xfrm>
            <a:off x="682797" y="4371308"/>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a:extLst>
              <a:ext uri="{FF2B5EF4-FFF2-40B4-BE49-F238E27FC236}">
                <a16:creationId xmlns:a16="http://schemas.microsoft.com/office/drawing/2014/main" id="{6F0588AA-CE31-502D-E515-FC56E7D1567E}"/>
              </a:ext>
            </a:extLst>
          </p:cNvPr>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7E29C8F-7CEE-AF9A-01C7-39334E220BDA}"/>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24D13AA5-AB8B-2868-E8A4-87CAAC05F09A}"/>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34" name="TextBox 33"/>
          <p:cNvSpPr txBox="1"/>
          <p:nvPr/>
        </p:nvSpPr>
        <p:spPr>
          <a:xfrm>
            <a:off x="457200" y="1828800"/>
            <a:ext cx="6583680" cy="7315200"/>
          </a:xfrm>
          <a:prstGeom prst="rect">
            <a:avLst/>
          </a:prstGeom>
          <a:noFill/>
        </p:spPr>
        <p:txBody>
          <a:bodyPr wrap="square">
            <a:spAutoFit/>
          </a:bodyPr>
          <a:lstStyle/>
          <a:p>
            <a:br/>
            <a:pPr>
              <a:defRPr b="1" u="sng" sz="1600">
                <a:solidFill>
                  <a:srgbClr val="002060"/>
                </a:solidFill>
              </a:defRPr>
            </a:pPr>
            <a:r>
              <a:t>INFORMAL GUIDANCE:</a:t>
            </a:r>
          </a:p>
          <a:p>
            <a:pPr>
              <a:spcAft>
                <a:spcPts val="600"/>
              </a:spcAft>
              <a:defRPr sz="1200"/>
            </a:pPr>
            <a:r>
              <a:t>➢ Request for Informal Guidance by way of an "interpretive letter" under under the Securities and Exchange Board of India (Informal Guidance) Scheme, 2025 received from Maithan Alloys Limited seeking interpretation of the provisions of Regulation 16(1)(b)(iii) of Securities and Exchange Board of India (Listing Obligations and Disclosure Requirements/) Regulations, 2015.</a:t>
            </a:r>
          </a:p>
          <a:p>
            <a:br/>
            <a:pPr>
              <a:defRPr b="1" u="sng" sz="1600">
                <a:solidFill>
                  <a:srgbClr val="002060"/>
                </a:solidFill>
              </a:defRPr>
            </a:pPr>
            <a:r>
              <a:t>CIRCULAR-BSE:</a:t>
            </a:r>
          </a:p>
          <a:p>
            <a:pPr>
              <a:spcAft>
                <a:spcPts val="600"/>
              </a:spcAft>
              <a:defRPr sz="1200"/>
            </a:pPr>
            <a:r>
              <a:t>➢ Pre-Packaged Insolvency Resolution Process under Section 54L of the Insolvency and Bankruptcy Code, 2016</a:t>
            </a:r>
          </a:p>
          <a:p>
            <a:pPr>
              <a:spcAft>
                <a:spcPts val="600"/>
              </a:spcAft>
              <a:defRPr sz="1200"/>
            </a:pPr>
            <a:r>
              <a:t>➢ Frequently Asked Questions (FAQs) on the submission of the Quarterly Integrated Filing – Governance</a:t>
            </a:r>
          </a:p>
        </p:txBody>
      </p:sp>
    </p:spTree>
    <p:extLst>
      <p:ext uri="{BB962C8B-B14F-4D97-AF65-F5344CB8AC3E}">
        <p14:creationId xmlns:p14="http://schemas.microsoft.com/office/powerpoint/2010/main" val="326328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AA94FDAB-C0E1-AA34-7E9E-D884927F19DF}"/>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26C9E441-C00F-1D83-DA36-608BD11F64CB}"/>
              </a:ext>
            </a:extLst>
          </p:cNvPr>
          <p:cNvGrpSpPr/>
          <p:nvPr/>
        </p:nvGrpSpPr>
        <p:grpSpPr>
          <a:xfrm>
            <a:off x="0" y="17860"/>
            <a:ext cx="7569820" cy="1383010"/>
            <a:chOff x="0" y="-28575"/>
            <a:chExt cx="2712853" cy="533791"/>
          </a:xfrm>
          <a:solidFill>
            <a:schemeClr val="tx2"/>
          </a:solidFill>
        </p:grpSpPr>
        <p:sp>
          <p:nvSpPr>
            <p:cNvPr id="9" name="Freeform 9">
              <a:extLst>
                <a:ext uri="{FF2B5EF4-FFF2-40B4-BE49-F238E27FC236}">
                  <a16:creationId xmlns:a16="http://schemas.microsoft.com/office/drawing/2014/main" id="{C5B81A88-6DC2-84FE-28FD-B8D2B0043052}"/>
                </a:ext>
              </a:extLst>
            </p:cNvPr>
            <p:cNvSpPr/>
            <p:nvPr/>
          </p:nvSpPr>
          <p:spPr>
            <a:xfrm>
              <a:off x="0" y="0"/>
              <a:ext cx="2712853" cy="505216"/>
            </a:xfrm>
            <a:custGeom>
              <a:avLst/>
              <a:gdLst/>
              <a:ahLst/>
              <a:cxnLst/>
              <a:rect l="l" t="t" r="r" b="b"/>
              <a:pathLst>
                <a:path w="2712853" h="505216">
                  <a:moveTo>
                    <a:pt x="0" y="0"/>
                  </a:moveTo>
                  <a:lnTo>
                    <a:pt x="2712853" y="0"/>
                  </a:lnTo>
                  <a:lnTo>
                    <a:pt x="2712853" y="505216"/>
                  </a:lnTo>
                  <a:lnTo>
                    <a:pt x="0" y="505216"/>
                  </a:lnTo>
                  <a:close/>
                </a:path>
              </a:pathLst>
            </a:custGeom>
            <a:grpFill/>
          </p:spPr>
          <p:txBody>
            <a:bodyPr/>
            <a:lstStyle/>
            <a:p>
              <a:endParaRPr lang="en-US" dirty="0"/>
            </a:p>
          </p:txBody>
        </p:sp>
        <p:sp>
          <p:nvSpPr>
            <p:cNvPr id="10" name="TextBox 10">
              <a:extLst>
                <a:ext uri="{FF2B5EF4-FFF2-40B4-BE49-F238E27FC236}">
                  <a16:creationId xmlns:a16="http://schemas.microsoft.com/office/drawing/2014/main" id="{B3DAB8DC-01A1-1233-08A7-4619C609844C}"/>
                </a:ext>
              </a:extLst>
            </p:cNvPr>
            <p:cNvSpPr txBox="1"/>
            <p:nvPr/>
          </p:nvSpPr>
          <p:spPr>
            <a:xfrm>
              <a:off x="0" y="-28575"/>
              <a:ext cx="2712853" cy="533791"/>
            </a:xfrm>
            <a:prstGeom prst="rect">
              <a:avLst/>
            </a:prstGeom>
            <a:grpFill/>
          </p:spPr>
          <p:txBody>
            <a:bodyPr lIns="50800" tIns="50800" rIns="50800" bIns="50800" rtlCol="0" anchor="ctr"/>
            <a:lstStyle/>
            <a:p>
              <a:pPr algn="ctr">
                <a:lnSpc>
                  <a:spcPts val="1960"/>
                </a:lnSpc>
              </a:pPr>
              <a:endParaRPr lang="en-US" sz="2800" b="1" dirty="0">
                <a:solidFill>
                  <a:schemeClr val="bg1"/>
                </a:solidFill>
              </a:endParaRPr>
            </a:p>
            <a:p>
              <a:pPr algn="ctr">
                <a:lnSpc>
                  <a:spcPct val="107000"/>
                </a:lnSpc>
                <a:spcAft>
                  <a:spcPts val="800"/>
                </a:spcAft>
              </a:pPr>
              <a:r>
                <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rPr>
                <a:t>FOR LISTED ENTITIES </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11" name="Group 11">
            <a:extLst>
              <a:ext uri="{FF2B5EF4-FFF2-40B4-BE49-F238E27FC236}">
                <a16:creationId xmlns:a16="http://schemas.microsoft.com/office/drawing/2014/main" id="{1FF50D35-BAAE-6197-8187-5F91658FD012}"/>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6C8B191-5E84-4C09-64D8-4B3CE0F1978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2C0F79C2-2F34-5F91-0CA7-34E594BDC055}"/>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35E48552-9BE8-E739-74C4-99C4DD8321C8}"/>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C8316834-8554-4B2B-2EFE-00570FFA6C34}"/>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4 of 13</a:t>
            </a:r>
          </a:p>
        </p:txBody>
      </p:sp>
      <p:pic>
        <p:nvPicPr>
          <p:cNvPr id="2" name="Picture 1">
            <a:extLst>
              <a:ext uri="{FF2B5EF4-FFF2-40B4-BE49-F238E27FC236}">
                <a16:creationId xmlns:a16="http://schemas.microsoft.com/office/drawing/2014/main" id="{09F93F5B-4AF9-3A39-AA8E-62583C8F1846}"/>
              </a:ext>
            </a:extLst>
          </p:cNvPr>
          <p:cNvPicPr>
            <a:picLocks noChangeAspect="1"/>
          </p:cNvPicPr>
          <p:nvPr/>
        </p:nvPicPr>
        <p:blipFill>
          <a:blip r:embed="rId2"/>
          <a:stretch>
            <a:fillRect/>
          </a:stretch>
        </p:blipFill>
        <p:spPr>
          <a:xfrm>
            <a:off x="5527989" y="139757"/>
            <a:ext cx="1677526" cy="1139216"/>
          </a:xfrm>
          <a:prstGeom prst="rect">
            <a:avLst/>
          </a:prstGeom>
        </p:spPr>
      </p:pic>
      <p:sp>
        <p:nvSpPr>
          <p:cNvPr id="3" name="Slide Number Placeholder 2">
            <a:extLst>
              <a:ext uri="{FF2B5EF4-FFF2-40B4-BE49-F238E27FC236}">
                <a16:creationId xmlns:a16="http://schemas.microsoft.com/office/drawing/2014/main" id="{97EB0DCA-14FB-C75F-0683-C98EFA7583BF}"/>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3425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09732"/>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3500" y="72585"/>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5" name="TextBox 15"/>
          <p:cNvSpPr txBox="1"/>
          <p:nvPr/>
        </p:nvSpPr>
        <p:spPr>
          <a:xfrm>
            <a:off x="507036" y="10147300"/>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5 of 13</a:t>
            </a:r>
          </a:p>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 </a:t>
            </a:r>
          </a:p>
        </p:txBody>
      </p:sp>
      <p:pic>
        <p:nvPicPr>
          <p:cNvPr id="2" name="Picture 1">
            <a:extLst>
              <a:ext uri="{FF2B5EF4-FFF2-40B4-BE49-F238E27FC236}">
                <a16:creationId xmlns:a16="http://schemas.microsoft.com/office/drawing/2014/main" id="{2305DE8E-8631-C5DA-AC40-551EBD981F7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10" name="Rectangle 4">
            <a:extLst>
              <a:ext uri="{FF2B5EF4-FFF2-40B4-BE49-F238E27FC236}">
                <a16:creationId xmlns:a16="http://schemas.microsoft.com/office/drawing/2014/main" id="{86AFBC7B-8BCD-4C58-2C61-D97B192CA3B5}"/>
              </a:ext>
            </a:extLst>
          </p:cNvPr>
          <p:cNvSpPr>
            <a:spLocks noChangeArrowheads="1"/>
          </p:cNvSpPr>
          <p:nvPr/>
        </p:nvSpPr>
        <p:spPr bwMode="auto">
          <a:xfrm>
            <a:off x="430167" y="5086787"/>
            <a:ext cx="66922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457200" algn="l"/>
              </a:tabLst>
            </a:pPr>
            <a:r>
              <a:rPr lang="en-US" altLang="en-US" sz="1100" dirty="0">
                <a:solidFill>
                  <a:srgbClr val="002060"/>
                </a:solidFill>
                <a:latin typeface="Calibri" panose="020F0502020204030204" pitchFamily="34" charset="0"/>
                <a:ea typeface="Times New Roman" panose="02020603050405020304" pitchFamily="18" charset="0"/>
                <a:cs typeface="Calibri" panose="020F0502020204030204" pitchFamily="34" charset="0"/>
              </a:rPr>
              <a:t>\</a:t>
            </a:r>
          </a:p>
          <a:p>
            <a:pPr marL="0" marR="0" lvl="0" indent="0" algn="just" defTabSz="914400" rtl="0" eaLnBrk="0" fontAlgn="base" latinLnBrk="0" hangingPunct="0">
              <a:lnSpc>
                <a:spcPct val="100000"/>
              </a:lnSpc>
              <a:spcBef>
                <a:spcPct val="0"/>
              </a:spcBef>
              <a:spcAft>
                <a:spcPct val="0"/>
              </a:spcAft>
              <a:buClrTx/>
              <a:buSzTx/>
              <a:tabLst>
                <a:tab pos="457200" algn="l"/>
              </a:tabLst>
            </a:pPr>
            <a:endParaRPr kumimoji="0" lang="en-US" altLang="en-US" sz="1100" b="0" i="0" u="none" strike="noStrike" cap="none" normalizeH="0" baseline="0" dirty="0">
              <a:ln>
                <a:noFill/>
              </a:ln>
              <a:solidFill>
                <a:srgbClr val="00206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A255718-BBE4-711D-1EE2-7852EAA9EDEA}"/>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16" name="TextBox 15"/>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PRESS RELEASE</a:t>
            </a:r>
          </a:p>
        </p:txBody>
      </p:sp>
      <p:sp>
        <p:nvSpPr>
          <p:cNvPr id="17" name="TextBox 16"/>
          <p:cNvSpPr txBox="1"/>
          <p:nvPr/>
        </p:nvSpPr>
        <p:spPr>
          <a:xfrm>
            <a:off x="457200" y="2286000"/>
            <a:ext cx="6583680" cy="2249424"/>
          </a:xfrm>
          <a:prstGeom prst="rect">
            <a:avLst/>
          </a:prstGeom>
          <a:noFill/>
        </p:spPr>
        <p:txBody>
          <a:bodyPr wrap="square">
            <a:spAutoFit/>
          </a:bodyPr>
          <a:lstStyle/>
          <a:p>
            <a:pPr>
              <a:spcAft>
                <a:spcPts val="600"/>
              </a:spcAft>
            </a:pPr>
            <a:r>
              <a:rPr b="1" sz="1200" u="sng">
                <a:solidFill>
                  <a:srgbClr val="0066CC"/>
                </a:solidFill>
                <a:hlinkClick r:id="rId3"/>
              </a:rPr>
              <a:t>Constitution of an Expert Working Group on review of extant regulatory framework applicable for Debenture Trusteeship activities and other incidental matters</a:t>
            </a:r>
          </a:p>
          <a:p>
            <a:pPr>
              <a:spcBef>
                <a:spcPts val="0"/>
              </a:spcBef>
              <a:spcAft>
                <a:spcPts val="200"/>
              </a:spcAft>
              <a:defRPr sz="1100"/>
            </a:pPr>
            <a:r>
              <a:t>- The press release issued states that SEBI has constituted an Expert Working Group to review the regulatory framework applicable for Debenture Trusteeship activities, aiming to align it with changing market dynamics.</a:t>
            </a:r>
          </a:p>
          <a:p>
            <a:pPr>
              <a:spcBef>
                <a:spcPts val="0"/>
              </a:spcBef>
              <a:spcAft>
                <a:spcPts val="200"/>
              </a:spcAft>
              <a:defRPr sz="1100"/>
            </a:pPr>
            <a:r>
              <a:t>- The Working Group will examine representations and suggestions from market participants, recommend measures to strengthen Debenture Trustee roles, review net-worth requirements, and consider other relevant matters related to debenture trusteeship activities.</a:t>
            </a:r>
          </a:p>
          <a:p>
            <a:pPr>
              <a:spcBef>
                <a:spcPts val="0"/>
              </a:spcBef>
              <a:spcAft>
                <a:spcPts val="200"/>
              </a:spcAft>
              <a:defRPr sz="1100"/>
            </a:pPr>
            <a:r>
              <a:t>- SEBI invites suggestions from the public, market participants, and stakeholders on the existing regulatory framework governing Debenture Trustees, including proposals for simplification, rationalisation, updates, enhancing roles, responsibilities, and ease of compliance — all submissions are to be made by July 15, 2026.</a:t>
            </a:r>
          </a:p>
        </p:txBody>
      </p:sp>
      <p:sp>
        <p:nvSpPr>
          <p:cNvPr id="18" name="TextBox 17"/>
          <p:cNvSpPr txBox="1"/>
          <p:nvPr/>
        </p:nvSpPr>
        <p:spPr>
          <a:xfrm>
            <a:off x="457200" y="4672583"/>
            <a:ext cx="6583680" cy="2249424"/>
          </a:xfrm>
          <a:prstGeom prst="rect">
            <a:avLst/>
          </a:prstGeom>
          <a:noFill/>
        </p:spPr>
        <p:txBody>
          <a:bodyPr wrap="square">
            <a:spAutoFit/>
          </a:bodyPr>
          <a:lstStyle/>
          <a:p>
            <a:pPr>
              <a:spcAft>
                <a:spcPts val="600"/>
              </a:spcAft>
            </a:pPr>
            <a:r>
              <a:rPr b="1" sz="1200" u="sng">
                <a:solidFill>
                  <a:srgbClr val="0066CC"/>
                </a:solidFill>
                <a:hlinkClick r:id="rId4"/>
              </a:rPr>
              <a:t>SEBI Proposes Common Advertisement Code for Specified Regulated Entities</a:t>
            </a:r>
          </a:p>
          <a:p>
            <a:pPr>
              <a:spcBef>
                <a:spcPts val="0"/>
              </a:spcBef>
              <a:spcAft>
                <a:spcPts val="200"/>
              </a:spcAft>
              <a:defRPr sz="1100"/>
            </a:pPr>
            <a:r>
              <a:t>- The press release issued states that SEBI has proposed a unified Common Advertisement Code (CAC) for various regulated entities, replacing the existing fragmented frameworks. This move aims to reduce regulatory complexity and compliance burden, ensuring a harmonized framework across entities.</a:t>
            </a:r>
          </a:p>
          <a:p>
            <a:pPr>
              <a:spcBef>
                <a:spcPts val="0"/>
              </a:spcBef>
              <a:spcAft>
                <a:spcPts val="200"/>
              </a:spcAft>
              <a:defRPr sz="1100"/>
            </a:pPr>
            <a:r>
              <a:t>- The CAC will permit post-issuance reporting instead of mandatory prior approval for advertisements. Additionally, the use of celebrities for brand promotion is proposed to be allowed, subject to prescribed conditions.</a:t>
            </a:r>
          </a:p>
          <a:p>
            <a:pPr>
              <a:spcBef>
                <a:spcPts val="0"/>
              </a:spcBef>
              <a:spcAft>
                <a:spcPts val="200"/>
              </a:spcAft>
              <a:defRPr sz="1100"/>
            </a:pPr>
            <a:r>
              <a:t>- SEBI has also suggested the recognition of ratings and rankings assigned by a Past Risk and Return Verification Agency (PaRRVA), enabling regulated entities to promote transparency while ensuring adequate safeguards. The final date for public comments on this proposal is July 14, 2026.</a:t>
            </a:r>
          </a:p>
        </p:txBody>
      </p:sp>
      <p:sp>
        <p:nvSpPr>
          <p:cNvPr id="19" name="TextBox 18"/>
          <p:cNvSpPr txBox="1"/>
          <p:nvPr/>
        </p:nvSpPr>
        <p:spPr>
          <a:xfrm>
            <a:off x="457200" y="7059167"/>
            <a:ext cx="6583680" cy="1591056"/>
          </a:xfrm>
          <a:prstGeom prst="rect">
            <a:avLst/>
          </a:prstGeom>
          <a:noFill/>
        </p:spPr>
        <p:txBody>
          <a:bodyPr wrap="square">
            <a:spAutoFit/>
          </a:bodyPr>
          <a:lstStyle/>
          <a:p>
            <a:pPr>
              <a:spcAft>
                <a:spcPts val="600"/>
              </a:spcAft>
            </a:pPr>
            <a:r>
              <a:rPr b="1" sz="1200" u="sng">
                <a:solidFill>
                  <a:srgbClr val="0066CC"/>
                </a:solidFill>
                <a:hlinkClick r:id="rId5"/>
              </a:rPr>
              <a:t>Launch of Securities Market TechSprint at Global Fintech Fest 2026 (GFF ’26)</a:t>
            </a:r>
          </a:p>
          <a:p>
            <a:pPr>
              <a:spcBef>
                <a:spcPts val="0"/>
              </a:spcBef>
              <a:spcAft>
                <a:spcPts val="200"/>
              </a:spcAft>
              <a:defRPr sz="1100"/>
            </a:pPr>
            <a:r>
              <a:t>- The press release issued states that SEBI has launched the Securities Market TechSprint as part of Global Fintech Fest 2026 (GFF'26).</a:t>
            </a:r>
          </a:p>
          <a:p>
            <a:pPr>
              <a:spcBef>
                <a:spcPts val="0"/>
              </a:spcBef>
              <a:spcAft>
                <a:spcPts val="200"/>
              </a:spcAft>
              <a:defRPr sz="1100"/>
            </a:pPr>
            <a:r>
              <a:t>- This initiative invites innovators to develop digital solutions addressing challenges within securities market, focusing on empowering retail investors and enhancing transparency, efficiency, compliance, and accessibility.</a:t>
            </a:r>
          </a:p>
          <a:p>
            <a:pPr>
              <a:spcBef>
                <a:spcPts val="0"/>
              </a:spcBef>
              <a:spcAft>
                <a:spcPts val="200"/>
              </a:spcAft>
              <a:defRPr sz="1100"/>
            </a:pPr>
            <a:r>
              <a:t>- The TechSprint offers participants a chance to showcase groundbreaking solutions at GFF, win cash prizes, and be considered for mentorship through SEBI Innovation Sandbox.</a:t>
            </a:r>
          </a:p>
        </p:txBody>
      </p:sp>
      <p:sp>
        <p:nvSpPr>
          <p:cNvPr id="20" name="TextBox 19"/>
          <p:cNvSpPr txBox="1"/>
          <p:nvPr/>
        </p:nvSpPr>
        <p:spPr>
          <a:xfrm>
            <a:off x="457200" y="8787384"/>
            <a:ext cx="6583680" cy="676656"/>
          </a:xfrm>
          <a:prstGeom prst="rect">
            <a:avLst/>
          </a:prstGeom>
          <a:noFill/>
        </p:spPr>
        <p:txBody>
          <a:bodyPr wrap="square">
            <a:spAutoFit/>
          </a:bodyPr>
          <a:lstStyle/>
          <a:p>
            <a:pPr>
              <a:spcAft>
                <a:spcPts val="600"/>
              </a:spcAft>
            </a:pPr>
            <a:r>
              <a:rPr b="1" sz="1200" u="sng">
                <a:solidFill>
                  <a:srgbClr val="0066CC"/>
                </a:solidFill>
                <a:hlinkClick r:id="rId6"/>
              </a:rPr>
              <a:t>Key decisions taken in the SEBI Board Meeting dated 19th June, 2026</a:t>
            </a:r>
          </a:p>
          <a:p>
            <a:pPr>
              <a:spcBef>
                <a:spcPts val="0"/>
              </a:spcBef>
              <a:spcAft>
                <a:spcPts val="200"/>
              </a:spcAft>
              <a:defRPr sz="1100"/>
            </a:pPr>
            <a:r>
              <a:t>- The press release issued states that SEBI has simplified and standardised the framework for transmission of securities to legal heirs/claimants of deceased investors.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6 of 13</a:t>
            </a:r>
          </a:p>
          <a:p>
            <a:pPr algn="ctr">
              <a:lnSpc>
                <a:spcPts val="1598"/>
              </a:lnSpc>
            </a:pPr>
            <a:endPar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endParaRPr>
          </a:p>
        </p:txBody>
      </p:sp>
      <p:pic>
        <p:nvPicPr>
          <p:cNvPr id="4" name="Picture 3">
            <a:extLst>
              <a:ext uri="{FF2B5EF4-FFF2-40B4-BE49-F238E27FC236}">
                <a16:creationId xmlns:a16="http://schemas.microsoft.com/office/drawing/2014/main" id="{D43C8765-4A25-4F0C-8883-319210D4C8C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928F00D9-4B84-1CFD-773E-5E970E4BAA9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18CEE9C3-8403-637B-A4A3-228433734057}"/>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128401DA-A549-469E-D78C-45EDBF01EDA3}"/>
              </a:ext>
            </a:extLst>
          </p:cNvPr>
          <p:cNvSpPr>
            <a:spLocks noGrp="1"/>
          </p:cNvSpPr>
          <p:nvPr>
            <p:ph type="sldNum" sz="quarter" idx="12"/>
          </p:nvPr>
        </p:nvSpPr>
        <p:spPr/>
        <p:txBody>
          <a:bodyPr/>
          <a:lstStyle/>
          <a:p>
            <a:fld id="{B6F15528-21DE-4FAA-801E-634DDDAF4B2B}" type="slidenum">
              <a:rPr lang="en-US" smtClean="0"/>
              <a:pPr/>
              <a:t>6</a:t>
            </a:fld>
            <a:endParaRPr lang="en-US" dirty="0"/>
          </a:p>
        </p:txBody>
      </p:sp>
      <p:sp>
        <p:nvSpPr>
          <p:cNvPr id="16" name="TextBox 15"/>
          <p:cNvSpPr txBox="1"/>
          <p:nvPr/>
        </p:nvSpPr>
        <p:spPr>
          <a:xfrm>
            <a:off x="457200" y="1828800"/>
            <a:ext cx="6583680" cy="1078992"/>
          </a:xfrm>
          <a:prstGeom prst="rect">
            <a:avLst/>
          </a:prstGeom>
          <a:noFill/>
        </p:spPr>
        <p:txBody>
          <a:bodyPr wrap="square">
            <a:spAutoFit/>
          </a:bodyPr>
          <a:lstStyle/>
          <a:p>
            <a:pPr>
              <a:spcBef>
                <a:spcPts val="0"/>
              </a:spcBef>
              <a:spcAft>
                <a:spcPts val="200"/>
              </a:spcAft>
              <a:defRPr sz="1100"/>
            </a:pPr>
            <a:r>
              <a:t>- Key changes include: introduction of Quick Transmission Processing (QTP) for small-value claims, doubling limits for simplified documentation, removal of PAN requirement, doing away with Probate of Will, allowing combined affidavit-cum-NOC, acceptance of death certificate with QR Code, and addition of modes for verification from overseas banks.</a:t>
            </a:r>
          </a:p>
          <a:p>
            <a:pPr>
              <a:spcBef>
                <a:spcPts val="0"/>
              </a:spcBef>
              <a:spcAft>
                <a:spcPts val="200"/>
              </a:spcAft>
              <a:defRPr sz="1100"/>
            </a:pPr>
            <a:r>
              <a:t>- These measures are expected to facilitate easier and faster transmission of securities and reduce costs and procedural hardship for claimants.</a:t>
            </a:r>
          </a:p>
        </p:txBody>
      </p:sp>
      <p:sp>
        <p:nvSpPr>
          <p:cNvPr id="17" name="TextBox 16"/>
          <p:cNvSpPr txBox="1"/>
          <p:nvPr/>
        </p:nvSpPr>
        <p:spPr>
          <a:xfrm>
            <a:off x="457200" y="3044952"/>
            <a:ext cx="6583680" cy="1755648"/>
          </a:xfrm>
          <a:prstGeom prst="rect">
            <a:avLst/>
          </a:prstGeom>
          <a:noFill/>
        </p:spPr>
        <p:txBody>
          <a:bodyPr wrap="square">
            <a:spAutoFit/>
          </a:bodyPr>
          <a:lstStyle/>
          <a:p>
            <a:pPr>
              <a:spcAft>
                <a:spcPts val="600"/>
              </a:spcAft>
            </a:pPr>
            <a:r>
              <a:rPr b="1" sz="1200" u="sng">
                <a:solidFill>
                  <a:srgbClr val="0066CC"/>
                </a:solidFill>
                <a:hlinkClick r:id="rId3"/>
              </a:rPr>
              <a:t>Transaction in Securities of Unlisted Public Limited Companies on various Platforms</a:t>
            </a:r>
          </a:p>
          <a:p>
            <a:pPr>
              <a:spcBef>
                <a:spcPts val="0"/>
              </a:spcBef>
              <a:spcAft>
                <a:spcPts val="200"/>
              </a:spcAft>
              <a:defRPr sz="1100"/>
            </a:pPr>
            <a:r>
              <a:t>- The press release issued states that SEBI has warned against conducting transactions in unlisted securities on unauthorized electronic platforms or sharing sensitive personal details, as these platforms are neither authorized nor recognized by SEBI.</a:t>
            </a:r>
          </a:p>
          <a:p>
            <a:pPr>
              <a:spcBef>
                <a:spcPts val="0"/>
              </a:spcBef>
              <a:spcAft>
                <a:spcPts val="200"/>
              </a:spcAft>
              <a:defRPr sz="1100"/>
            </a:pPr>
            <a:r>
              <a:t>- SEBI reiterates that only recognized stock exchanges are authorized to provide a platform for fund raising and trading in securities.</a:t>
            </a:r>
          </a:p>
          <a:p>
            <a:pPr>
              <a:spcBef>
                <a:spcPts val="0"/>
              </a:spcBef>
              <a:spcAft>
                <a:spcPts val="200"/>
              </a:spcAft>
              <a:defRPr sz="1100"/>
            </a:pPr>
            <a:r>
              <a:t>- Investors are informed that no investor protection benefits or grievance redressal mechanisms will be available to them in case of disputes related to participation on such unauthorized platforms.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00331DB-FC41-8E43-A0AD-0EE3042BEE5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941BC203-7FE3-B3F1-A9A5-BDB05FD4A67E}"/>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00CDC9E7-FBCF-BCEE-78AB-A35D4053CAB5}"/>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5BEDBFDE-EF5C-A3E8-3B99-74FB7325FBE6}"/>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F90207FD-D8E3-E8CD-A520-E7D55FAE4390}"/>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09CD22DA-38C0-22A5-C521-28E1C36D3119}"/>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AA14FEEA-45F9-3D7A-9822-7B88E8807451}"/>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7 of 13</a:t>
            </a:r>
          </a:p>
        </p:txBody>
      </p:sp>
      <p:pic>
        <p:nvPicPr>
          <p:cNvPr id="4" name="Picture 3">
            <a:extLst>
              <a:ext uri="{FF2B5EF4-FFF2-40B4-BE49-F238E27FC236}">
                <a16:creationId xmlns:a16="http://schemas.microsoft.com/office/drawing/2014/main" id="{8FABCEF1-4FBA-82B8-E33E-AC14F8E91C7B}"/>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C8FE3F0B-030B-2804-CF86-522CEEA5453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AFD2BE0D-9C06-EA0C-71E1-5F2AFE5AC0F3}"/>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B937FC59-7972-B319-1A8C-38CBC1920082}"/>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16" name="TextBox 15"/>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CONSULTATION PAPER</a:t>
            </a:r>
          </a:p>
        </p:txBody>
      </p:sp>
      <p:sp>
        <p:nvSpPr>
          <p:cNvPr id="17" name="TextBox 16"/>
          <p:cNvSpPr txBox="1"/>
          <p:nvPr/>
        </p:nvSpPr>
        <p:spPr>
          <a:xfrm>
            <a:off x="457200" y="2286000"/>
            <a:ext cx="6583680" cy="5513831"/>
          </a:xfrm>
          <a:prstGeom prst="rect">
            <a:avLst/>
          </a:prstGeom>
          <a:noFill/>
        </p:spPr>
        <p:txBody>
          <a:bodyPr wrap="square">
            <a:spAutoFit/>
          </a:bodyPr>
          <a:lstStyle/>
          <a:p>
            <a:pPr>
              <a:spcAft>
                <a:spcPts val="600"/>
              </a:spcAft>
            </a:pPr>
            <a:r>
              <a:rPr b="1" sz="1200" u="sng">
                <a:solidFill>
                  <a:srgbClr val="0066CC"/>
                </a:solidFill>
                <a:hlinkClick r:id="rId3"/>
              </a:rPr>
              <a:t>Consultation Paper on Common Advertisement Code for Specified SEBI Regulated Entities</a:t>
            </a:r>
          </a:p>
          <a:p>
            <a:pPr>
              <a:spcBef>
                <a:spcPts val="400"/>
              </a:spcBef>
              <a:spcAft>
                <a:spcPts val="600"/>
              </a:spcAft>
              <a:defRPr sz="1100"/>
            </a:pPr>
            <a:r>
              <a:t>Title: Proposal for a Unified Advertisement Code for Financial Entities</a:t>
            </a:r>
          </a:p>
          <a:p>
            <a:pPr>
              <a:spcBef>
                <a:spcPts val="400"/>
              </a:spcBef>
              <a:spcAft>
                <a:spcPts val="600"/>
              </a:spcAft>
              <a:defRPr sz="1100"/>
            </a:pPr>
            <a:r>
              <a:t>The Securities and Exchange Board of India (SEBI) is considering a new advertisement code aimed at simplifying regulatory compliance, reducing operational inefficiencies, and promoting investor protection. Here are the key proposals:</a:t>
            </a:r>
          </a:p>
          <a:p>
            <a:pPr>
              <a:spcBef>
                <a:spcPts val="400"/>
              </a:spcBef>
              <a:spcAft>
                <a:spcPts val="600"/>
              </a:spcAft>
              <a:defRPr sz="1100"/>
            </a:pPr>
            <a:r>
              <a:t>1. Celebrity Endorsements: Permitting celebrity endorsement for brand/entity level, subject to certain conditions and appropriate disclaimers. The proposal aims to balance legitimate marketing objectives with investor protection. Celebrities would not be allowed to endorse specific products or services to avoid undue influence on investors' decisions.</a:t>
            </a:r>
          </a:p>
          <a:p>
            <a:pPr>
              <a:spcBef>
                <a:spcPts val="400"/>
              </a:spcBef>
              <a:spcAft>
                <a:spcPts val="600"/>
              </a:spcAft>
              <a:defRPr sz="1100"/>
            </a:pPr>
            <a:r>
              <a:t>2. Removal of Mandatory Prior Approval: Replacing the requirement for prior approval from exchanges and supervisory bodies with a post-issuance reporting model. This change is expected to streamline the advertisement process, reduce potential delays, and promote efficient business operations. However, celebrity endorsements would still require prior approval.</a:t>
            </a:r>
          </a:p>
          <a:p>
            <a:pPr>
              <a:spcBef>
                <a:spcPts val="400"/>
              </a:spcBef>
              <a:spcAft>
                <a:spcPts val="600"/>
              </a:spcAft>
              <a:defRPr sz="1100"/>
            </a:pPr>
            <a:r>
              <a:t>3. Use of Ratings/Rankings in Advertisements: Allowing specified regulated entities to use ratings/rankings assigned by Past Risk and Return Verification Agency (PaRRVA), provided these ratings/rankings meet certain conditions, such as transparency about the methodology used, clear explanations within the advertisement, and a statement that ratings/rankings are one of several factors to consider when deciding on a service.</a:t>
            </a:r>
          </a:p>
          <a:p>
            <a:pPr>
              <a:spcBef>
                <a:spcPts val="400"/>
              </a:spcBef>
              <a:spcAft>
                <a:spcPts val="600"/>
              </a:spcAft>
              <a:defRPr sz="1100"/>
            </a:pPr>
            <a:r>
              <a:t>4. Abbreviated Disclosures for Short-Format Messaging: Allowing abbreviated disclosures in short format messaging such as SMS, pop-ups, push notifications, etc., with a hyperlink to full details and disclaimers available on the official website of the regulated entity. This change recognizes the space/time constraints of these formats and aims to make disclosures more practical and user-friendly.</a:t>
            </a:r>
          </a:p>
          <a:p>
            <a:pPr>
              <a:spcBef>
                <a:spcPts val="400"/>
              </a:spcBef>
              <a:spcAft>
                <a:spcPts val="600"/>
              </a:spcAft>
              <a:defRPr sz="1100"/>
            </a:pPr>
            <a:r>
              <a:t>The proposed changes aim to improve ease of doing business, consolidate existing advertisement codes, enhance investor protection, ensure regulatory consistency, promote accountability through post-issuance reporting, and rationalize compliance requirements. The final decision will be made after considering feedback from stakeholders.</a:t>
            </a:r>
          </a:p>
        </p:txBody>
      </p:sp>
      <p:sp>
        <p:nvSpPr>
          <p:cNvPr id="18" name="TextBox 17"/>
          <p:cNvSpPr txBox="1"/>
          <p:nvPr/>
        </p:nvSpPr>
        <p:spPr>
          <a:xfrm>
            <a:off x="457200" y="7936992"/>
            <a:ext cx="6583680" cy="1627632"/>
          </a:xfrm>
          <a:prstGeom prst="rect">
            <a:avLst/>
          </a:prstGeom>
          <a:noFill/>
        </p:spPr>
        <p:txBody>
          <a:bodyPr wrap="square">
            <a:spAutoFit/>
          </a:bodyPr>
          <a:lstStyle/>
          <a:p>
            <a:pPr>
              <a:spcAft>
                <a:spcPts val="600"/>
              </a:spcAft>
            </a:pPr>
            <a:r>
              <a:rPr b="1" sz="1200" u="sng">
                <a:solidFill>
                  <a:srgbClr val="0066CC"/>
                </a:solidFill>
                <a:hlinkClick r:id="rId4"/>
              </a:rPr>
              <a:t>Consultation Paper on Review of Margin Trading Facility (MTF) Framework</a:t>
            </a:r>
          </a:p>
          <a:p>
            <a:pPr>
              <a:spcBef>
                <a:spcPts val="400"/>
              </a:spcBef>
              <a:spcAft>
                <a:spcPts val="600"/>
              </a:spcAft>
              <a:defRPr sz="1100"/>
            </a:pPr>
            <a:r>
              <a:t>The document provides a proposal to review and modify the Margin Trading Facility (MTF) Framework in India, which is currently limited to Equity Shares and units of Equity ETFs that are classified as 'Group I security'. The changes aim to enhance the functionality, reduce the minimum net-worth threshold for eligibility, and introduce new disclosure requirements.</a:t>
            </a:r>
          </a:p>
          <a:p>
            <a:pPr>
              <a:spcBef>
                <a:spcPts val="1200"/>
              </a:spcBef>
              <a:spcAft>
                <a:spcPts val="400"/>
              </a:spcAft>
              <a:defRPr sz="1100" b="1"/>
            </a:pPr>
            <a:r>
              <a:t>Here's a summary of the proposed changes:</a:t>
            </a:r>
          </a:p>
        </p:txBody>
      </p:sp>
    </p:spTree>
    <p:extLst>
      <p:ext uri="{BB962C8B-B14F-4D97-AF65-F5344CB8AC3E}">
        <p14:creationId xmlns:p14="http://schemas.microsoft.com/office/powerpoint/2010/main" val="617810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CE85FD45-CBC4-91CD-A97A-EC215316B629}"/>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8D4832D1-3BFB-F83A-0D85-E896BF27D9B0}"/>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CCDDFF27-EB23-9DFF-16D1-EC97DEF909E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2D03A656-CBB4-3D92-B767-EBB3CC5B3DE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2B01FD4-0535-ABA6-34D3-20DEDB4FA6A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B3DD2F7B-59E1-E415-ED1D-36FB36128DC8}"/>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B591F0A1-DF14-A910-4E78-D929D62F9ADD}"/>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8 of 13</a:t>
            </a:r>
          </a:p>
        </p:txBody>
      </p:sp>
      <p:pic>
        <p:nvPicPr>
          <p:cNvPr id="4" name="Picture 3">
            <a:extLst>
              <a:ext uri="{FF2B5EF4-FFF2-40B4-BE49-F238E27FC236}">
                <a16:creationId xmlns:a16="http://schemas.microsoft.com/office/drawing/2014/main" id="{41525E64-5DDE-ECDD-1A47-8E8603E40A6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4FF8101C-5D93-4CCF-03F5-9E464DD901CD}"/>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8710A754-D923-F18D-1C2D-FAE4C17AD96F}"/>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24AC8F59-D9A3-A3EE-741C-2FD7FEADD609}"/>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16" name="TextBox 15"/>
          <p:cNvSpPr txBox="1"/>
          <p:nvPr/>
        </p:nvSpPr>
        <p:spPr>
          <a:xfrm>
            <a:off x="457200" y="1828800"/>
            <a:ext cx="6583680" cy="4882896"/>
          </a:xfrm>
          <a:prstGeom prst="rect">
            <a:avLst/>
          </a:prstGeom>
          <a:noFill/>
        </p:spPr>
        <p:txBody>
          <a:bodyPr wrap="square">
            <a:spAutoFit/>
          </a:bodyPr>
          <a:lstStyle/>
          <a:p>
            <a:pPr>
              <a:spcBef>
                <a:spcPts val="400"/>
              </a:spcBef>
              <a:spcAft>
                <a:spcPts val="600"/>
              </a:spcAft>
              <a:defRPr sz="1100"/>
            </a:pPr>
            <a:r>
              <a:t>1. Increase in minimum net worth: Eligibility of Stock Brokers to offer MTF may be increased from Rs. 3.00 crore to Rs. 5 Crore.</a:t>
            </a:r>
          </a:p>
          <a:p>
            <a:pPr>
              <a:spcBef>
                <a:spcPts val="400"/>
              </a:spcBef>
              <a:spcAft>
                <a:spcPts val="600"/>
              </a:spcAft>
              <a:defRPr sz="1100"/>
            </a:pPr>
            <a:r>
              <a:t>2. Allowance for LLPs: Brokers in the form of Limited Liability Partnership (LLP) may also be allowed to offer MTF to their clients.</a:t>
            </a:r>
          </a:p>
          <a:p>
            <a:pPr>
              <a:spcBef>
                <a:spcPts val="400"/>
              </a:spcBef>
              <a:spcAft>
                <a:spcPts val="600"/>
              </a:spcAft>
              <a:defRPr sz="1100"/>
            </a:pPr>
            <a:r>
              <a:t>3. Disclosure requirements: Stock brokers are required to report MTF details on a gross exposure basis to Stock Exchanges on T+1 day, including the name of the client, category of holding, clients' Permanent Account Number (PAN), and the names of lenders and amounts borrowed.</a:t>
            </a:r>
          </a:p>
          <a:p>
            <a:pPr>
              <a:spcBef>
                <a:spcPts val="400"/>
              </a:spcBef>
              <a:spcAft>
                <a:spcPts val="600"/>
              </a:spcAft>
              <a:defRPr sz="1100"/>
            </a:pPr>
            <a:r>
              <a:t>4. Transfer of entries: Stock brokers should maintain separate ledgers for funds and securities of clients availing margin trading facility. Fungibility of unencumbered funds or securities between the normal ledger and the MTF ledger of a client may be permitted.</a:t>
            </a:r>
          </a:p>
          <a:p>
            <a:pPr>
              <a:spcBef>
                <a:spcPts val="400"/>
              </a:spcBef>
              <a:spcAft>
                <a:spcPts val="600"/>
              </a:spcAft>
              <a:defRPr sz="1100"/>
            </a:pPr>
            <a:r>
              <a:t>5. Funded stock as maintenance margin: If the broker has collected cash collateral from the client in form of margin for availing margin trading facility and transferred to the client's demat account for the purpose of MTF, without seeking specific obligation (pay-in) from the client, then the same can be considered as maintenance margin to the extent of securities received from the Clearing Corporation against such cash collateral given to CC.</a:t>
            </a:r>
          </a:p>
          <a:p>
            <a:pPr>
              <a:spcBef>
                <a:spcPts val="400"/>
              </a:spcBef>
              <a:spcAft>
                <a:spcPts val="600"/>
              </a:spcAft>
              <a:defRPr sz="1100"/>
            </a:pPr>
            <a:r>
              <a:t>6. Higher maintenance margin for cash being used as pay-in: In case the funded stock is considered towards maintenance margin to the extent of cash collateral provided by the client, the Trading Member shall ensure that the funded position may be only to the extent of stocks bought through stock brokers with funds. The applicable margin shall be VaR + 5 times of Extreme Loss Margin, irrespective of whether the funded stock is available in F&amp;O segment or not.</a:t>
            </a:r>
          </a:p>
          <a:p>
            <a:pPr>
              <a:spcBef>
                <a:spcPts val="400"/>
              </a:spcBef>
              <a:spcAft>
                <a:spcPts val="600"/>
              </a:spcAft>
              <a:defRPr sz="1100"/>
            </a:pPr>
            <a:r>
              <a:t>Public comments are invited on these proposals, and suggestions can be submitted through SEBI's web-based public comment system by July 09, 2026. The consultation paper also asks for additional safeguards/changes that may be considered in the MTF Framework.</a:t>
            </a:r>
          </a:p>
        </p:txBody>
      </p:sp>
      <p:sp>
        <p:nvSpPr>
          <p:cNvPr id="17" name="TextBox 16"/>
          <p:cNvSpPr txBox="1"/>
          <p:nvPr/>
        </p:nvSpPr>
        <p:spPr>
          <a:xfrm>
            <a:off x="457200" y="6848856"/>
            <a:ext cx="6583680" cy="2606040"/>
          </a:xfrm>
          <a:prstGeom prst="rect">
            <a:avLst/>
          </a:prstGeom>
          <a:noFill/>
        </p:spPr>
        <p:txBody>
          <a:bodyPr wrap="square">
            <a:spAutoFit/>
          </a:bodyPr>
          <a:lstStyle/>
          <a:p>
            <a:pPr>
              <a:spcAft>
                <a:spcPts val="600"/>
              </a:spcAft>
            </a:pPr>
            <a:r>
              <a:rPr b="1" sz="1200" u="sng">
                <a:solidFill>
                  <a:srgbClr val="0066CC"/>
                </a:solidFill>
                <a:hlinkClick r:id="rId3"/>
              </a:rPr>
              <a:t>Consultation paper on review of provisions on disclosure of Executive Remuneration by Asset Management Companies (AMCs).</a:t>
            </a:r>
          </a:p>
          <a:p>
            <a:pPr>
              <a:spcBef>
                <a:spcPts val="400"/>
              </a:spcBef>
              <a:spcAft>
                <a:spcPts val="600"/>
              </a:spcAft>
              <a:defRPr sz="1100"/>
            </a:pPr>
            <a:r>
              <a:t>Title: Proposal for Consolidated Remuneration Disclosure in Mutual Funds</a:t>
            </a:r>
          </a:p>
          <a:p>
            <a:pPr>
              <a:spcBef>
                <a:spcPts val="400"/>
              </a:spcBef>
              <a:spcAft>
                <a:spcPts val="600"/>
              </a:spcAft>
              <a:defRPr sz="1100"/>
            </a:pPr>
            <a:r>
              <a:t>This text discusses a proposal to amend the disclosure of remuneration in mutual funds under the SEBI Master Circular for Mutual Funds dated March 20, 2026. The current practice involves disclosing individual employee remuneration on the website of Asset Management Companies (AMCs). However, an analysis suggests that this approach covers a small proportion of the overall employee base.</a:t>
            </a:r>
          </a:p>
          <a:p>
            <a:pPr>
              <a:spcBef>
                <a:spcPts val="400"/>
              </a:spcBef>
              <a:spcAft>
                <a:spcPts val="600"/>
              </a:spcAft>
              <a:defRPr sz="1100"/>
            </a:pPr>
            <a:r>
              <a:t>The proposal aims to replace individual employee remuneration with consolidated remuneration along with the total number of such employees. This change would provide a holistic and structured view of senior management compensation, enabling unitholders to assess the overall quantum of remuneration at the senior management level, while aligning the level of disclosure with considerations of materiality and proportionality.</a:t>
            </a:r>
          </a:p>
        </p:txBody>
      </p:sp>
    </p:spTree>
    <p:extLst>
      <p:ext uri="{BB962C8B-B14F-4D97-AF65-F5344CB8AC3E}">
        <p14:creationId xmlns:p14="http://schemas.microsoft.com/office/powerpoint/2010/main" val="3150991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B3E4409F-9F7A-63AC-8444-06C28CC9322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C35781B7-6E55-2D0D-8D49-F76A81B1F5FF}"/>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D95D8A5F-1F12-6725-846A-B251AFBBCBED}"/>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A0FD5682-D5CE-F5C5-F36A-C85F98BFD79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A3D4884-3742-EFA0-07DE-33A2AD33E2A8}"/>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62F6FBC1-119D-55DE-4825-E8B1C5B449BE}"/>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62E821D2-B6EA-3E7E-B6AB-9FC27D8C2C28}"/>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9 of 13</a:t>
            </a:r>
          </a:p>
        </p:txBody>
      </p:sp>
      <p:pic>
        <p:nvPicPr>
          <p:cNvPr id="4" name="Picture 3">
            <a:extLst>
              <a:ext uri="{FF2B5EF4-FFF2-40B4-BE49-F238E27FC236}">
                <a16:creationId xmlns:a16="http://schemas.microsoft.com/office/drawing/2014/main" id="{E3B55752-CD9F-A57C-0D72-FA8B5C676ECE}"/>
              </a:ext>
            </a:extLst>
          </p:cNvPr>
          <p:cNvPicPr>
            <a:picLocks noChangeAspect="1"/>
          </p:cNvPicPr>
          <p:nvPr/>
        </p:nvPicPr>
        <p:blipFill>
          <a:blip r:embed="rId3"/>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2E8A12CA-F006-F094-AE02-69FD8279D41C}"/>
              </a:ext>
            </a:extLst>
          </p:cNvPr>
          <p:cNvSpPr>
            <a:spLocks noChangeArrowheads="1"/>
          </p:cNvSpPr>
          <p:nvPr/>
        </p:nvSpPr>
        <p:spPr bwMode="auto">
          <a:xfrm>
            <a:off x="429326" y="5155599"/>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07F384DC-24D4-1C95-DC5A-41D0EECF6AF5}"/>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9CC04957-DFA4-8EA8-989D-B2F9F055C143}"/>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
        <p:nvSpPr>
          <p:cNvPr id="16" name="TextBox 15"/>
          <p:cNvSpPr txBox="1"/>
          <p:nvPr/>
        </p:nvSpPr>
        <p:spPr>
          <a:xfrm>
            <a:off x="457200" y="1828800"/>
            <a:ext cx="6583680" cy="6355080"/>
          </a:xfrm>
          <a:prstGeom prst="rect">
            <a:avLst/>
          </a:prstGeom>
          <a:noFill/>
        </p:spPr>
        <p:txBody>
          <a:bodyPr wrap="square">
            <a:spAutoFit/>
          </a:bodyPr>
          <a:lstStyle/>
          <a:p>
            <a:pPr>
              <a:spcBef>
                <a:spcPts val="1200"/>
              </a:spcBef>
              <a:spcAft>
                <a:spcPts val="400"/>
              </a:spcAft>
              <a:defRPr sz="1100" b="1"/>
            </a:pPr>
            <a:r>
              <a:t>The new illustrative disclosure format includes:</a:t>
            </a:r>
          </a:p>
          <a:p>
            <a:pPr>
              <a:spcBef>
                <a:spcPts val="1200"/>
              </a:spcBef>
              <a:spcAft>
                <a:spcPts val="400"/>
              </a:spcAft>
              <a:defRPr sz="1100" b="1"/>
            </a:pPr>
            <a:r>
              <a:t>1. Annual Remuneration for the period…. for employees of….. (name of the AMC):</a:t>
            </a:r>
          </a:p>
          <a:p>
            <a:pPr>
              <a:spcBef>
                <a:spcPts val="0"/>
              </a:spcBef>
              <a:spcAft>
                <a:spcPts val="200"/>
              </a:spcAft>
              <a:defRPr sz="1100"/>
            </a:pPr>
            <a:r>
              <a:t>- Particulars</a:t>
            </a:r>
          </a:p>
          <a:p>
            <a:pPr>
              <a:spcBef>
                <a:spcPts val="0"/>
              </a:spcBef>
              <a:spcAft>
                <a:spcPts val="200"/>
              </a:spcAft>
              <a:defRPr sz="1100"/>
            </a:pPr>
            <a:r>
              <a:t>- Total number of employees</a:t>
            </a:r>
          </a:p>
          <a:p>
            <a:pPr>
              <a:spcBef>
                <a:spcPts val="0"/>
              </a:spcBef>
              <a:spcAft>
                <a:spcPts val="200"/>
              </a:spcAft>
              <a:defRPr sz="1100"/>
            </a:pPr>
            <a:r>
              <a:t>- Total remuneration (in INR crore)</a:t>
            </a:r>
          </a:p>
          <a:p>
            <a:pPr>
              <a:spcBef>
                <a:spcPts val="0"/>
              </a:spcBef>
              <a:spcAft>
                <a:spcPts val="200"/>
              </a:spcAft>
              <a:defRPr sz="1100"/>
            </a:pPr>
            <a:r>
              <a:t>- Chief Executive Officer (CEO), Chief Investment Officer (CIO), and Chief Operations Officer (COO) or their equivalent by whatever name called.</a:t>
            </a:r>
          </a:p>
          <a:p>
            <a:pPr>
              <a:spcBef>
                <a:spcPts val="1200"/>
              </a:spcBef>
              <a:spcAft>
                <a:spcPts val="400"/>
              </a:spcAft>
              <a:defRPr sz="1100" b="1"/>
            </a:pPr>
            <a:r>
              <a:t>2. Details of top ten employees in terms of remuneration for the period….:</a:t>
            </a:r>
          </a:p>
          <a:p>
            <a:pPr>
              <a:spcBef>
                <a:spcPts val="0"/>
              </a:spcBef>
              <a:spcAft>
                <a:spcPts val="200"/>
              </a:spcAft>
              <a:defRPr sz="1100"/>
            </a:pPr>
            <a:r>
              <a:t>- Particulars</a:t>
            </a:r>
          </a:p>
          <a:p>
            <a:pPr>
              <a:spcBef>
                <a:spcPts val="0"/>
              </a:spcBef>
              <a:spcAft>
                <a:spcPts val="200"/>
              </a:spcAft>
              <a:defRPr sz="1100"/>
            </a:pPr>
            <a:r>
              <a:t>- Total remuneration (in INR crore)</a:t>
            </a:r>
          </a:p>
          <a:p>
            <a:pPr>
              <a:spcBef>
                <a:spcPts val="0"/>
              </a:spcBef>
              <a:spcAft>
                <a:spcPts val="200"/>
              </a:spcAft>
              <a:defRPr sz="1100"/>
            </a:pPr>
            <a:r>
              <a:t>- Top ten employees in terms of remuneration drawn for that financial year</a:t>
            </a:r>
          </a:p>
          <a:p>
            <a:pPr>
              <a:spcBef>
                <a:spcPts val="400"/>
              </a:spcBef>
              <a:spcAft>
                <a:spcPts val="600"/>
              </a:spcAft>
              <a:defRPr sz="1100"/>
            </a:pPr>
            <a:r>
              <a:t>3. Annual Remuneration for the period…. for all employees whose annual remuneration is INR 1.02 crores or more OR monthly remuneration is INR 8.5 lakhs if employed for part of the year:</a:t>
            </a:r>
          </a:p>
          <a:p>
            <a:pPr>
              <a:spcBef>
                <a:spcPts val="0"/>
              </a:spcBef>
              <a:spcAft>
                <a:spcPts val="200"/>
              </a:spcAft>
              <a:defRPr sz="1100"/>
            </a:pPr>
            <a:r>
              <a:t>- Particulars</a:t>
            </a:r>
          </a:p>
          <a:p>
            <a:pPr>
              <a:spcBef>
                <a:spcPts val="0"/>
              </a:spcBef>
              <a:spcAft>
                <a:spcPts val="200"/>
              </a:spcAft>
              <a:defRPr sz="1100"/>
            </a:pPr>
            <a:r>
              <a:t>- Total number of employees</a:t>
            </a:r>
          </a:p>
          <a:p>
            <a:pPr>
              <a:spcBef>
                <a:spcPts val="0"/>
              </a:spcBef>
              <a:spcAft>
                <a:spcPts val="200"/>
              </a:spcAft>
              <a:defRPr sz="1100"/>
            </a:pPr>
            <a:r>
              <a:t>- Total remuneration (in INR crore)</a:t>
            </a:r>
          </a:p>
          <a:p>
            <a:pPr>
              <a:spcBef>
                <a:spcPts val="0"/>
              </a:spcBef>
              <a:spcAft>
                <a:spcPts val="200"/>
              </a:spcAft>
              <a:defRPr sz="1100"/>
            </a:pPr>
            <a:r>
              <a:t>- Employees whose annual remuneration was equal to or above INR 1.02 crore for the financial year or whose monthly remuneration in aggregate was not less than INR 8.5 lakhs per month, if the employee is employed for a part of that financial year.</a:t>
            </a:r>
          </a:p>
          <a:p>
            <a:pPr>
              <a:spcBef>
                <a:spcPts val="400"/>
              </a:spcBef>
              <a:spcAft>
                <a:spcPts val="600"/>
              </a:spcAft>
              <a:defRPr sz="1100"/>
            </a:pPr>
            <a:r>
              <a:t>4. The ratio of CEO’s remuneration to median remuneration of AMC employees (in the current format followed by AMCs).</a:t>
            </a:r>
          </a:p>
          <a:p>
            <a:pPr>
              <a:spcBef>
                <a:spcPts val="400"/>
              </a:spcBef>
              <a:spcAft>
                <a:spcPts val="600"/>
              </a:spcAft>
              <a:defRPr sz="1100"/>
            </a:pPr>
            <a:r>
              <a:t>5. MF’s total AAUM, debt AAUM and equity AAUM and rate of growth over last three years:</a:t>
            </a:r>
          </a:p>
          <a:p>
            <a:pPr>
              <a:spcBef>
                <a:spcPts val="0"/>
              </a:spcBef>
              <a:spcAft>
                <a:spcPts val="200"/>
              </a:spcAft>
              <a:defRPr sz="1100"/>
            </a:pPr>
            <a:r>
              <a:t>- Year</a:t>
            </a:r>
          </a:p>
          <a:p>
            <a:pPr>
              <a:spcBef>
                <a:spcPts val="0"/>
              </a:spcBef>
              <a:spcAft>
                <a:spcPts val="200"/>
              </a:spcAft>
              <a:defRPr sz="1100"/>
            </a:pPr>
            <a:r>
              <a:t>- Total AAUM</a:t>
            </a:r>
          </a:p>
          <a:p>
            <a:pPr>
              <a:spcBef>
                <a:spcPts val="0"/>
              </a:spcBef>
              <a:spcAft>
                <a:spcPts val="200"/>
              </a:spcAft>
              <a:defRPr sz="1100"/>
            </a:pPr>
            <a:r>
              <a:t>- % of Debt AAUM</a:t>
            </a:r>
          </a:p>
          <a:p>
            <a:pPr>
              <a:spcBef>
                <a:spcPts val="0"/>
              </a:spcBef>
              <a:spcAft>
                <a:spcPts val="200"/>
              </a:spcAft>
              <a:defRPr sz="1100"/>
            </a:pPr>
            <a:r>
              <a:t>- % of Equity AAUM</a:t>
            </a:r>
          </a:p>
          <a:p>
            <a:pPr>
              <a:spcBef>
                <a:spcPts val="0"/>
              </a:spcBef>
              <a:spcAft>
                <a:spcPts val="200"/>
              </a:spcAft>
              <a:defRPr sz="1100"/>
            </a:pPr>
            <a:r>
              <a:t>- % of growth (INR in crore over the previous year)</a:t>
            </a:r>
          </a:p>
        </p:txBody>
      </p:sp>
    </p:spTree>
    <p:extLst>
      <p:ext uri="{BB962C8B-B14F-4D97-AF65-F5344CB8AC3E}">
        <p14:creationId xmlns:p14="http://schemas.microsoft.com/office/powerpoint/2010/main" val="182098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E4326579-D67A-1CE5-6308-9E37C1754B68}"/>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10 of 13</a:t>
            </a:r>
          </a:p>
        </p:txBody>
      </p:sp>
      <p:pic>
        <p:nvPicPr>
          <p:cNvPr id="4" name="Picture 3">
            <a:extLst>
              <a:ext uri="{FF2B5EF4-FFF2-40B4-BE49-F238E27FC236}">
                <a16:creationId xmlns:a16="http://schemas.microsoft.com/office/drawing/2014/main" id="{4ED11A61-0C56-09B4-EE85-24320CEA071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6" name="TextBox 15"/>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INFORMAL GUIDANCE</a:t>
            </a:r>
          </a:p>
        </p:txBody>
      </p:sp>
      <p:sp>
        <p:nvSpPr>
          <p:cNvPr id="17" name="TextBox 16"/>
          <p:cNvSpPr txBox="1"/>
          <p:nvPr/>
        </p:nvSpPr>
        <p:spPr>
          <a:xfrm>
            <a:off x="457200" y="2286000"/>
            <a:ext cx="6583680" cy="5431536"/>
          </a:xfrm>
          <a:prstGeom prst="rect">
            <a:avLst/>
          </a:prstGeom>
          <a:noFill/>
        </p:spPr>
        <p:txBody>
          <a:bodyPr wrap="square">
            <a:spAutoFit/>
          </a:bodyPr>
          <a:lstStyle/>
          <a:p>
            <a:pPr>
              <a:spcAft>
                <a:spcPts val="600"/>
              </a:spcAft>
            </a:pPr>
            <a:r>
              <a:rPr b="1" sz="1200" u="sng">
                <a:solidFill>
                  <a:srgbClr val="0066CC"/>
                </a:solidFill>
                <a:hlinkClick r:id="rId3"/>
              </a:rPr>
              <a:t>Request for Informal Guidance by way of an "interpretive letter" under under the Securities and Exchange Board of India (Informal Guidance) Scheme, 2025 received from Maithan Alloys Limited seeking interpretation of the provisions of Regulation 16(1)(b)(iii) of Securities and Exchange Board of India (Listing Obligations and Disclosure Requirements/) Regulations, 2015.</a:t>
            </a:r>
          </a:p>
          <a:p>
            <a:pPr>
              <a:spcBef>
                <a:spcPts val="1200"/>
              </a:spcBef>
              <a:spcAft>
                <a:spcPts val="400"/>
              </a:spcAft>
              <a:defRPr sz="1100" b="1"/>
            </a:pPr>
            <a:r>
              <a:t>Background:</a:t>
            </a:r>
          </a:p>
          <a:p>
            <a:pPr>
              <a:spcBef>
                <a:spcPts val="400"/>
              </a:spcBef>
              <a:spcAft>
                <a:spcPts val="600"/>
              </a:spcAft>
              <a:defRPr sz="1100"/>
            </a:pPr>
            <a:r>
              <a:t>Maithan Alloys Limited is a company engaged in manufacturing ferro alloys and real estate business activities. The promoter of the company is Mr. Subhas Chandra Agarwalla, who is also the Chairman and Managing Director of the company. Several family members are employees of the company and receive remuneration. One of these family members, Mr. Siddhartha Shankar Agarwalla, is a cousin of Mr. Subhas Chandra Agarwalla and is proposed to become an Independent Director on the Board of Directors of Maithan Alloys Limited.</a:t>
            </a:r>
          </a:p>
          <a:p>
            <a:pPr>
              <a:spcBef>
                <a:spcPts val="1200"/>
              </a:spcBef>
              <a:spcAft>
                <a:spcPts val="400"/>
              </a:spcAft>
              <a:defRPr sz="1100" b="1"/>
            </a:pPr>
            <a:r>
              <a:t>Query:</a:t>
            </a:r>
          </a:p>
          <a:p>
            <a:pPr>
              <a:spcBef>
                <a:spcPts val="400"/>
              </a:spcBef>
              <a:spcAft>
                <a:spcPts val="600"/>
              </a:spcAft>
              <a:defRPr sz="1100"/>
            </a:pPr>
            <a:r>
              <a:t>Does the cousin of a director/promoter qualify as a person related to such director/promoter in terms of Regulation 16(1)(b)(iii) of the LODR (Listing Obligations and Disclosure Requirements) Regulations?</a:t>
            </a:r>
          </a:p>
          <a:p>
            <a:pPr>
              <a:spcBef>
                <a:spcPts val="1200"/>
              </a:spcBef>
              <a:spcAft>
                <a:spcPts val="400"/>
              </a:spcAft>
              <a:defRPr sz="1100" b="1"/>
            </a:pPr>
            <a:r>
              <a:t>Response:</a:t>
            </a:r>
          </a:p>
          <a:p>
            <a:pPr>
              <a:spcBef>
                <a:spcPts val="400"/>
              </a:spcBef>
              <a:spcAft>
                <a:spcPts val="600"/>
              </a:spcAft>
              <a:defRPr sz="1100"/>
            </a:pPr>
            <a:r>
              <a:t>The cousin of Mr. Siddhartha Shankar Agarwalla, who is proposed to become an Independent Director, is not identified as a relative under the definition of the term 'relative' in terms of Rule 4 of the Companies (Specification of definitions details) Rules, 2014 read with Section 2(77) of the Companies Act, 2013 and Regulation 2(1)(zd) of the LODR Regulations. Therefore, the cousin may be eligible to be appointed as an 'Independent Director' of the company. However, other criteria for the appointment of a person as an Independent Director should also be met, including holding securities or interest in the listed entity as specified in regulation 16(1)(b)(iv) of the LODR Regulations. The final decision on the question presented would depend on different facts and conditions.</a:t>
            </a:r>
          </a:p>
        </p:txBody>
      </p:sp>
    </p:spTree>
    <p:extLst>
      <p:ext uri="{BB962C8B-B14F-4D97-AF65-F5344CB8AC3E}">
        <p14:creationId xmlns:p14="http://schemas.microsoft.com/office/powerpoint/2010/main" val="172781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grpSp>
        <p:nvGrpSpPr>
          <p:cNvPr id="2" name="Group 2"/>
          <p:cNvGrpSpPr/>
          <p:nvPr/>
        </p:nvGrpSpPr>
        <p:grpSpPr>
          <a:xfrm>
            <a:off x="0" y="6493418"/>
            <a:ext cx="7569820" cy="4620676"/>
            <a:chOff x="0" y="0"/>
            <a:chExt cx="2712853" cy="1655946"/>
          </a:xfrm>
          <a:solidFill>
            <a:srgbClr val="00B0F0"/>
          </a:solidFill>
        </p:grpSpPr>
        <p:sp>
          <p:nvSpPr>
            <p:cNvPr id="3" name="Freeform 3"/>
            <p:cNvSpPr/>
            <p:nvPr/>
          </p:nvSpPr>
          <p:spPr>
            <a:xfrm>
              <a:off x="0" y="0"/>
              <a:ext cx="2712853" cy="1655946"/>
            </a:xfrm>
            <a:custGeom>
              <a:avLst/>
              <a:gdLst/>
              <a:ahLst/>
              <a:cxnLst/>
              <a:rect l="l" t="t" r="r" b="b"/>
              <a:pathLst>
                <a:path w="2712853" h="1655946">
                  <a:moveTo>
                    <a:pt x="0" y="0"/>
                  </a:moveTo>
                  <a:lnTo>
                    <a:pt x="2712853" y="0"/>
                  </a:lnTo>
                  <a:lnTo>
                    <a:pt x="2712853" y="1655946"/>
                  </a:lnTo>
                  <a:lnTo>
                    <a:pt x="0" y="1655946"/>
                  </a:lnTo>
                  <a:close/>
                </a:path>
              </a:pathLst>
            </a:custGeom>
            <a:grpFill/>
          </p:spPr>
          <p:txBody>
            <a:bodyPr/>
            <a:lstStyle/>
            <a:p>
              <a:endParaRPr lang="en-US"/>
            </a:p>
          </p:txBody>
        </p:sp>
        <p:sp>
          <p:nvSpPr>
            <p:cNvPr id="4" name="TextBox 4"/>
            <p:cNvSpPr txBox="1"/>
            <p:nvPr/>
          </p:nvSpPr>
          <p:spPr>
            <a:xfrm>
              <a:off x="0" y="-28575"/>
              <a:ext cx="2712853" cy="1684521"/>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0" y="6502867"/>
            <a:ext cx="7569820" cy="4065232"/>
            <a:chOff x="0" y="0"/>
            <a:chExt cx="2712853" cy="1456888"/>
          </a:xfrm>
          <a:solidFill>
            <a:schemeClr val="tx2"/>
          </a:solidFill>
        </p:grpSpPr>
        <p:sp>
          <p:nvSpPr>
            <p:cNvPr id="6" name="Freeform 6"/>
            <p:cNvSpPr/>
            <p:nvPr/>
          </p:nvSpPr>
          <p:spPr>
            <a:xfrm>
              <a:off x="0" y="0"/>
              <a:ext cx="2712853" cy="1456888"/>
            </a:xfrm>
            <a:custGeom>
              <a:avLst/>
              <a:gdLst/>
              <a:ahLst/>
              <a:cxnLst/>
              <a:rect l="l" t="t" r="r" b="b"/>
              <a:pathLst>
                <a:path w="2712853" h="1456888">
                  <a:moveTo>
                    <a:pt x="0" y="0"/>
                  </a:moveTo>
                  <a:lnTo>
                    <a:pt x="2712853" y="0"/>
                  </a:lnTo>
                  <a:lnTo>
                    <a:pt x="2712853" y="1456888"/>
                  </a:lnTo>
                  <a:lnTo>
                    <a:pt x="0" y="1456888"/>
                  </a:lnTo>
                  <a:close/>
                </a:path>
              </a:pathLst>
            </a:custGeom>
            <a:grpFill/>
            <a:ln>
              <a:solidFill>
                <a:srgbClr val="00B0F0"/>
              </a:solidFill>
            </a:ln>
          </p:spPr>
          <p:txBody>
            <a:bodyPr/>
            <a:lstStyle/>
            <a:p>
              <a:endParaRPr lang="en-US"/>
            </a:p>
          </p:txBody>
        </p:sp>
        <p:sp>
          <p:nvSpPr>
            <p:cNvPr id="7" name="TextBox 7"/>
            <p:cNvSpPr txBox="1"/>
            <p:nvPr/>
          </p:nvSpPr>
          <p:spPr>
            <a:xfrm>
              <a:off x="0" y="-28575"/>
              <a:ext cx="2712853" cy="1485463"/>
            </a:xfrm>
            <a:prstGeom prst="rect">
              <a:avLst/>
            </a:prstGeom>
            <a:grpFill/>
            <a:ln>
              <a:solidFill>
                <a:srgbClr val="00B0F0"/>
              </a:solidFill>
            </a:ln>
          </p:spPr>
          <p:txBody>
            <a:bodyPr lIns="50800" tIns="50800" rIns="50800" bIns="50800" rtlCol="0" anchor="ctr"/>
            <a:lstStyle/>
            <a:p>
              <a:pPr algn="ctr">
                <a:lnSpc>
                  <a:spcPts val="1960"/>
                </a:lnSpc>
                <a:spcBef>
                  <a:spcPct val="0"/>
                </a:spcBef>
              </a:pPr>
              <a:endParaRPr dirty="0"/>
            </a:p>
          </p:txBody>
        </p:sp>
      </p:grpSp>
      <p:grpSp>
        <p:nvGrpSpPr>
          <p:cNvPr id="11" name="Group 11"/>
          <p:cNvGrpSpPr/>
          <p:nvPr/>
        </p:nvGrpSpPr>
        <p:grpSpPr>
          <a:xfrm>
            <a:off x="-29425" y="0"/>
            <a:ext cx="7560000" cy="671389"/>
            <a:chOff x="0" y="0"/>
            <a:chExt cx="2709333" cy="240611"/>
          </a:xfrm>
          <a:solidFill>
            <a:srgbClr val="00B0F0"/>
          </a:solidFill>
        </p:grpSpPr>
        <p:sp>
          <p:nvSpPr>
            <p:cNvPr id="12" name="Freeform 12"/>
            <p:cNvSpPr/>
            <p:nvPr/>
          </p:nvSpPr>
          <p:spPr>
            <a:xfrm>
              <a:off x="0" y="0"/>
              <a:ext cx="2709333" cy="240611"/>
            </a:xfrm>
            <a:custGeom>
              <a:avLst/>
              <a:gdLst/>
              <a:ahLst/>
              <a:cxnLst/>
              <a:rect l="l" t="t" r="r" b="b"/>
              <a:pathLst>
                <a:path w="2709333" h="240611">
                  <a:moveTo>
                    <a:pt x="0" y="0"/>
                  </a:moveTo>
                  <a:lnTo>
                    <a:pt x="2709333" y="0"/>
                  </a:lnTo>
                  <a:lnTo>
                    <a:pt x="2709333" y="240611"/>
                  </a:lnTo>
                  <a:lnTo>
                    <a:pt x="0" y="240611"/>
                  </a:lnTo>
                  <a:close/>
                </a:path>
              </a:pathLst>
            </a:custGeom>
            <a:grpFill/>
          </p:spPr>
          <p:txBody>
            <a:bodyPr/>
            <a:lstStyle/>
            <a:p>
              <a:endParaRPr lang="en-US"/>
            </a:p>
          </p:txBody>
        </p:sp>
        <p:sp>
          <p:nvSpPr>
            <p:cNvPr id="13" name="TextBox 13"/>
            <p:cNvSpPr txBox="1"/>
            <p:nvPr/>
          </p:nvSpPr>
          <p:spPr>
            <a:xfrm>
              <a:off x="0" y="-28575"/>
              <a:ext cx="2709333" cy="269186"/>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a:off x="-29425" y="0"/>
            <a:ext cx="7569820" cy="558063"/>
            <a:chOff x="0" y="0"/>
            <a:chExt cx="2712853" cy="199997"/>
          </a:xfrm>
          <a:solidFill>
            <a:schemeClr val="tx2"/>
          </a:solidFill>
        </p:grpSpPr>
        <p:sp>
          <p:nvSpPr>
            <p:cNvPr id="15" name="Freeform 15"/>
            <p:cNvSpPr/>
            <p:nvPr/>
          </p:nvSpPr>
          <p:spPr>
            <a:xfrm>
              <a:off x="0" y="0"/>
              <a:ext cx="2712853" cy="199997"/>
            </a:xfrm>
            <a:custGeom>
              <a:avLst/>
              <a:gdLst/>
              <a:ahLst/>
              <a:cxnLst/>
              <a:rect l="l" t="t" r="r" b="b"/>
              <a:pathLst>
                <a:path w="2712853" h="199997">
                  <a:moveTo>
                    <a:pt x="0" y="0"/>
                  </a:moveTo>
                  <a:lnTo>
                    <a:pt x="2712853" y="0"/>
                  </a:lnTo>
                  <a:lnTo>
                    <a:pt x="2712853" y="199997"/>
                  </a:lnTo>
                  <a:lnTo>
                    <a:pt x="0" y="199997"/>
                  </a:lnTo>
                  <a:close/>
                </a:path>
              </a:pathLst>
            </a:custGeom>
            <a:grpFill/>
          </p:spPr>
          <p:txBody>
            <a:bodyPr/>
            <a:lstStyle/>
            <a:p>
              <a:endParaRPr lang="en-US"/>
            </a:p>
          </p:txBody>
        </p:sp>
        <p:sp>
          <p:nvSpPr>
            <p:cNvPr id="16" name="TextBox 16"/>
            <p:cNvSpPr txBox="1"/>
            <p:nvPr/>
          </p:nvSpPr>
          <p:spPr>
            <a:xfrm>
              <a:off x="0" y="-28575"/>
              <a:ext cx="2712853" cy="228572"/>
            </a:xfrm>
            <a:prstGeom prst="rect">
              <a:avLst/>
            </a:prstGeom>
            <a:grpFill/>
          </p:spPr>
          <p:txBody>
            <a:bodyPr lIns="50800" tIns="50800" rIns="50800" bIns="50800" rtlCol="0" anchor="ctr"/>
            <a:lstStyle/>
            <a:p>
              <a:pPr algn="ctr">
                <a:lnSpc>
                  <a:spcPts val="1960"/>
                </a:lnSpc>
                <a:spcBef>
                  <a:spcPct val="0"/>
                </a:spcBef>
              </a:pPr>
              <a:endParaRPr/>
            </a:p>
          </p:txBody>
        </p:sp>
      </p:grpSp>
      <p:sp>
        <p:nvSpPr>
          <p:cNvPr id="17" name="Freeform 17"/>
          <p:cNvSpPr/>
          <p:nvPr/>
        </p:nvSpPr>
        <p:spPr>
          <a:xfrm>
            <a:off x="388949" y="8928101"/>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2"/>
                </a:ext>
              </a:extLst>
            </a:blip>
            <a:stretch>
              <a:fillRect/>
            </a:stretch>
          </a:blipFill>
          <a:ln>
            <a:solidFill>
              <a:srgbClr val="00B0F0"/>
            </a:solidFill>
          </a:ln>
        </p:spPr>
        <p:txBody>
          <a:bodyPr/>
          <a:lstStyle/>
          <a:p>
            <a:endParaRPr lang="en-US" dirty="0"/>
          </a:p>
        </p:txBody>
      </p:sp>
      <p:sp>
        <p:nvSpPr>
          <p:cNvPr id="18" name="Freeform 18"/>
          <p:cNvSpPr/>
          <p:nvPr/>
        </p:nvSpPr>
        <p:spPr>
          <a:xfrm>
            <a:off x="414043" y="9605149"/>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4144696" y="8926661"/>
            <a:ext cx="390492" cy="390492"/>
          </a:xfrm>
          <a:custGeom>
            <a:avLst/>
            <a:gdLst/>
            <a:ahLst/>
            <a:cxnLst/>
            <a:rect l="l" t="t" r="r" b="b"/>
            <a:pathLst>
              <a:path w="390492" h="390492">
                <a:moveTo>
                  <a:pt x="0" y="0"/>
                </a:moveTo>
                <a:lnTo>
                  <a:pt x="390492" y="0"/>
                </a:lnTo>
                <a:lnTo>
                  <a:pt x="390492" y="390492"/>
                </a:lnTo>
                <a:lnTo>
                  <a:pt x="0" y="3904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TextBox 21"/>
          <p:cNvSpPr txBox="1"/>
          <p:nvPr/>
        </p:nvSpPr>
        <p:spPr>
          <a:xfrm>
            <a:off x="307304" y="861889"/>
            <a:ext cx="3318546" cy="461665"/>
          </a:xfrm>
          <a:prstGeom prst="rect">
            <a:avLst/>
          </a:prstGeom>
        </p:spPr>
        <p:txBody>
          <a:bodyPr wrap="square" lIns="0" tIns="0" rIns="0" bIns="0" rtlCol="0" anchor="t">
            <a:spAutoFit/>
          </a:bodyPr>
          <a:lstStyle/>
          <a:p>
            <a:pPr algn="l">
              <a:lnSpc>
                <a:spcPts val="3637"/>
              </a:lnSpc>
            </a:pPr>
            <a:r>
              <a:rPr lang="en-US" sz="3277" b="1" dirty="0">
                <a:solidFill>
                  <a:srgbClr val="000000"/>
                </a:solidFill>
                <a:latin typeface="Montserrat Classic Bold"/>
                <a:ea typeface="Montserrat Classic Bold"/>
                <a:cs typeface="Montserrat Classic Bold"/>
                <a:sym typeface="Montserrat Classic Bold"/>
              </a:rPr>
              <a:t>PRAVARTIYA</a:t>
            </a:r>
          </a:p>
        </p:txBody>
      </p:sp>
      <p:sp>
        <p:nvSpPr>
          <p:cNvPr id="23" name="TextBox 23"/>
          <p:cNvSpPr txBox="1"/>
          <p:nvPr/>
        </p:nvSpPr>
        <p:spPr>
          <a:xfrm>
            <a:off x="1038965" y="9609690"/>
            <a:ext cx="2586885" cy="213072"/>
          </a:xfrm>
          <a:prstGeom prst="rect">
            <a:avLst/>
          </a:prstGeom>
        </p:spPr>
        <p:txBody>
          <a:bodyPr wrap="square" lIns="0" tIns="0" rIns="0" bIns="0" rtlCol="0" anchor="t">
            <a:spAutoFit/>
          </a:bodyPr>
          <a:lstStyle/>
          <a:p>
            <a:pPr algn="l">
              <a:lnSpc>
                <a:spcPts val="1766"/>
              </a:lnSpc>
            </a:pPr>
            <a:r>
              <a:rPr lang="en-US" sz="1261" dirty="0">
                <a:solidFill>
                  <a:srgbClr val="FFFFFF"/>
                </a:solidFill>
                <a:latin typeface="Montserrat"/>
                <a:ea typeface="Montserrat"/>
                <a:cs typeface="Montserrat"/>
                <a:sym typeface="Montserrat"/>
              </a:rPr>
              <a:t>www.akshayamcorporate.com</a:t>
            </a:r>
          </a:p>
        </p:txBody>
      </p:sp>
      <p:sp>
        <p:nvSpPr>
          <p:cNvPr id="24" name="TextBox 24"/>
          <p:cNvSpPr txBox="1"/>
          <p:nvPr/>
        </p:nvSpPr>
        <p:spPr>
          <a:xfrm>
            <a:off x="4566659" y="8928101"/>
            <a:ext cx="2825607" cy="1095621"/>
          </a:xfrm>
          <a:prstGeom prst="rect">
            <a:avLst/>
          </a:prstGeom>
        </p:spPr>
        <p:txBody>
          <a:bodyPr lIns="0" tIns="0" rIns="0" bIns="0" rtlCol="0" anchor="t">
            <a:spAutoFit/>
          </a:bodyPr>
          <a:lstStyle/>
          <a:p>
            <a:pPr>
              <a:lnSpc>
                <a:spcPts val="1679"/>
              </a:lnSpc>
            </a:pPr>
            <a:r>
              <a:rPr lang="en-US" sz="1200" dirty="0">
                <a:solidFill>
                  <a:srgbClr val="FFFFFF"/>
                </a:solidFill>
                <a:latin typeface="Montserrat"/>
                <a:ea typeface="Montserrat"/>
                <a:cs typeface="Montserrat"/>
                <a:sym typeface="Montserrat"/>
              </a:rPr>
              <a:t>Head Office: </a:t>
            </a:r>
            <a:r>
              <a:rPr lang="en-US" sz="1200" dirty="0">
                <a:solidFill>
                  <a:srgbClr val="FFFFFF"/>
                </a:solidFill>
                <a:latin typeface="Montserrat"/>
              </a:rPr>
              <a:t>5th Floor – West Wing Old No. 23 &amp; 24, New No. 37 </a:t>
            </a:r>
            <a:r>
              <a:rPr lang="en-US" sz="1200" dirty="0" err="1">
                <a:solidFill>
                  <a:srgbClr val="FFFFFF"/>
                </a:solidFill>
                <a:latin typeface="Montserrat"/>
              </a:rPr>
              <a:t>Chamiers</a:t>
            </a:r>
            <a:r>
              <a:rPr lang="en-US" sz="1200" dirty="0">
                <a:solidFill>
                  <a:srgbClr val="FFFFFF"/>
                </a:solidFill>
                <a:latin typeface="Montserrat"/>
              </a:rPr>
              <a:t> Tower, </a:t>
            </a:r>
            <a:r>
              <a:rPr lang="en-US" sz="1200" dirty="0" err="1">
                <a:solidFill>
                  <a:srgbClr val="FFFFFF"/>
                </a:solidFill>
                <a:latin typeface="Montserrat"/>
              </a:rPr>
              <a:t>Chamiers</a:t>
            </a:r>
            <a:r>
              <a:rPr lang="en-US" sz="1200" dirty="0">
                <a:solidFill>
                  <a:srgbClr val="FFFFFF"/>
                </a:solidFill>
                <a:latin typeface="Montserrat"/>
              </a:rPr>
              <a:t> Road Teynampet,</a:t>
            </a:r>
            <a:br>
              <a:rPr lang="en-US" sz="1200" dirty="0">
                <a:solidFill>
                  <a:srgbClr val="FFFFFF"/>
                </a:solidFill>
                <a:latin typeface="Montserrat"/>
              </a:rPr>
            </a:br>
            <a:r>
              <a:rPr lang="en-US" sz="1200" dirty="0">
                <a:solidFill>
                  <a:srgbClr val="FFFFFF"/>
                </a:solidFill>
                <a:latin typeface="Montserrat"/>
              </a:rPr>
              <a:t>Chennai – 600 018</a:t>
            </a:r>
            <a:endParaRPr lang="en-US" sz="1200" dirty="0">
              <a:solidFill>
                <a:srgbClr val="FFFFFF"/>
              </a:solidFill>
              <a:latin typeface="Montserrat"/>
              <a:sym typeface="Montserrat"/>
            </a:endParaRPr>
          </a:p>
        </p:txBody>
      </p:sp>
      <p:sp>
        <p:nvSpPr>
          <p:cNvPr id="25" name="TextBox 25"/>
          <p:cNvSpPr txBox="1"/>
          <p:nvPr/>
        </p:nvSpPr>
        <p:spPr>
          <a:xfrm>
            <a:off x="958158" y="8896372"/>
            <a:ext cx="3381784" cy="443904"/>
          </a:xfrm>
          <a:prstGeom prst="rect">
            <a:avLst/>
          </a:prstGeom>
        </p:spPr>
        <p:txBody>
          <a:bodyPr wrap="square" lIns="0" tIns="0" rIns="0" bIns="0" rtlCol="0" anchor="t">
            <a:spAutoFit/>
          </a:bodyPr>
          <a:lstStyle/>
          <a:p>
            <a:pPr algn="l">
              <a:lnSpc>
                <a:spcPts val="1766"/>
              </a:lnSpc>
            </a:pP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bhuvana.r@akshayamcorporate.com</a:t>
            </a:r>
          </a:p>
          <a:p>
            <a:pPr algn="l">
              <a:lnSpc>
                <a:spcPts val="1766"/>
              </a:lnSpc>
            </a:pPr>
            <a:r>
              <a:rPr lang="en-US" sz="1261" u="sng" dirty="0" err="1">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Jayanth.v</a:t>
            </a: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 @akshayamcorporate.com</a:t>
            </a:r>
          </a:p>
        </p:txBody>
      </p:sp>
      <p:sp>
        <p:nvSpPr>
          <p:cNvPr id="26" name="TextBox 26"/>
          <p:cNvSpPr txBox="1"/>
          <p:nvPr/>
        </p:nvSpPr>
        <p:spPr>
          <a:xfrm>
            <a:off x="307304" y="1454900"/>
            <a:ext cx="6968361" cy="1073564"/>
          </a:xfrm>
          <a:prstGeom prst="rect">
            <a:avLst/>
          </a:prstGeom>
        </p:spPr>
        <p:txBody>
          <a:bodyPr lIns="0" tIns="0" rIns="0" bIns="0" rtlCol="0" anchor="t">
            <a:spAutoFit/>
          </a:bodyPr>
          <a:lstStyle/>
          <a:p>
            <a:pPr algn="just">
              <a:lnSpc>
                <a:spcPts val="1679"/>
              </a:lnSpc>
              <a:spcBef>
                <a:spcPct val="0"/>
              </a:spcBef>
            </a:pPr>
            <a:r>
              <a:rPr lang="en-US" sz="1200" dirty="0">
                <a:solidFill>
                  <a:srgbClr val="000000"/>
                </a:solidFill>
                <a:latin typeface="Montserrat"/>
                <a:ea typeface="Montserrat"/>
                <a:cs typeface="Montserrat"/>
                <a:sym typeface="Montserrat"/>
              </a:rPr>
              <a:t>This newsletter is only for general informational purposes and shall not be construed to constitute legal advice (which can only be given after being formally engaged and familiarizing ourselves with all the relevant facts). Should you have any queries or require any assistance or clarifications with regard to anything contained in this newsletter, please feel free to contact our email Id given below</a:t>
            </a:r>
          </a:p>
        </p:txBody>
      </p:sp>
      <p:pic>
        <p:nvPicPr>
          <p:cNvPr id="9" name="Picture 8" descr="A person presenting to a group of people&#10;&#10;AI-generated content may be incorrect.">
            <a:extLst>
              <a:ext uri="{FF2B5EF4-FFF2-40B4-BE49-F238E27FC236}">
                <a16:creationId xmlns:a16="http://schemas.microsoft.com/office/drawing/2014/main" id="{48BF356C-FBE1-3DD8-28F9-2C5F581914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20" y="2669867"/>
            <a:ext cx="7569820" cy="3753266"/>
          </a:xfrm>
          <a:prstGeom prst="rect">
            <a:avLst/>
          </a:prstGeom>
        </p:spPr>
      </p:pic>
      <p:pic>
        <p:nvPicPr>
          <p:cNvPr id="8" name="Picture 7">
            <a:extLst>
              <a:ext uri="{FF2B5EF4-FFF2-40B4-BE49-F238E27FC236}">
                <a16:creationId xmlns:a16="http://schemas.microsoft.com/office/drawing/2014/main" id="{77884094-E59E-743C-0481-11960D5D7F7D}"/>
              </a:ext>
            </a:extLst>
          </p:cNvPr>
          <p:cNvPicPr>
            <a:picLocks noChangeAspect="1"/>
          </p:cNvPicPr>
          <p:nvPr/>
        </p:nvPicPr>
        <p:blipFill>
          <a:blip r:embed="rId7"/>
          <a:stretch>
            <a:fillRect/>
          </a:stretch>
        </p:blipFill>
        <p:spPr>
          <a:xfrm>
            <a:off x="2332407" y="6600156"/>
            <a:ext cx="2971801" cy="2059777"/>
          </a:xfrm>
          <a:prstGeom prst="rect">
            <a:avLst/>
          </a:prstGeom>
        </p:spPr>
      </p:pic>
      <p:sp>
        <p:nvSpPr>
          <p:cNvPr id="10" name="Slide Number Placeholder 9">
            <a:extLst>
              <a:ext uri="{FF2B5EF4-FFF2-40B4-BE49-F238E27FC236}">
                <a16:creationId xmlns:a16="http://schemas.microsoft.com/office/drawing/2014/main" id="{A1979B08-17CB-6821-93C3-F472C87A3824}"/>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11 of 13</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CIRCULAR-BSE</a:t>
            </a:r>
          </a:p>
        </p:txBody>
      </p:sp>
      <p:sp>
        <p:nvSpPr>
          <p:cNvPr id="18" name="TextBox 17"/>
          <p:cNvSpPr txBox="1"/>
          <p:nvPr/>
        </p:nvSpPr>
        <p:spPr>
          <a:xfrm>
            <a:off x="457200" y="2286000"/>
            <a:ext cx="6583680" cy="5239512"/>
          </a:xfrm>
          <a:prstGeom prst="rect">
            <a:avLst/>
          </a:prstGeom>
          <a:noFill/>
        </p:spPr>
        <p:txBody>
          <a:bodyPr wrap="square">
            <a:spAutoFit/>
          </a:bodyPr>
          <a:lstStyle/>
          <a:p>
            <a:pPr>
              <a:spcAft>
                <a:spcPts val="600"/>
              </a:spcAft>
            </a:pPr>
            <a:r>
              <a:rPr b="1" sz="1200" u="sng">
                <a:solidFill>
                  <a:srgbClr val="0066CC"/>
                </a:solidFill>
                <a:hlinkClick r:id="rId3"/>
              </a:rPr>
              <a:t>Pre-Packaged Insolvency Resolution Process under Section 54L of the Insolvency and Bankruptcy Code, 2016</a:t>
            </a:r>
          </a:p>
          <a:p>
            <a:pPr>
              <a:spcBef>
                <a:spcPts val="1200"/>
              </a:spcBef>
              <a:spcAft>
                <a:spcPts val="400"/>
              </a:spcAft>
              <a:defRPr sz="1100" b="1"/>
            </a:pPr>
            <a:r>
              <a:t>Date of Circular:</a:t>
            </a:r>
          </a:p>
          <a:p>
            <a:pPr>
              <a:spcBef>
                <a:spcPts val="400"/>
              </a:spcBef>
              <a:spcAft>
                <a:spcPts val="600"/>
              </a:spcAft>
              <a:defRPr sz="1100"/>
            </a:pPr>
            <a:r>
              <a:t>2026-06-01</a:t>
            </a:r>
          </a:p>
          <a:p>
            <a:pPr>
              <a:spcBef>
                <a:spcPts val="1200"/>
              </a:spcBef>
              <a:spcAft>
                <a:spcPts val="400"/>
              </a:spcAft>
              <a:defRPr sz="1100" b="1"/>
            </a:pPr>
            <a:r>
              <a:t>Effective Date:</a:t>
            </a:r>
          </a:p>
          <a:p>
            <a:pPr>
              <a:spcBef>
                <a:spcPts val="400"/>
              </a:spcBef>
              <a:spcAft>
                <a:spcPts val="600"/>
              </a:spcAft>
              <a:defRPr sz="1100"/>
            </a:pPr>
            <a:r>
              <a:t>Not specified</a:t>
            </a:r>
          </a:p>
          <a:p>
            <a:pPr>
              <a:spcBef>
                <a:spcPts val="1200"/>
              </a:spcBef>
              <a:spcAft>
                <a:spcPts val="400"/>
              </a:spcAft>
              <a:defRPr sz="1100" b="1"/>
            </a:pPr>
            <a:r>
              <a:t>Gist of amendment:</a:t>
            </a:r>
          </a:p>
          <a:p>
            <a:pPr>
              <a:spcBef>
                <a:spcPts val="400"/>
              </a:spcBef>
              <a:spcAft>
                <a:spcPts val="600"/>
              </a:spcAft>
              <a:defRPr sz="1100"/>
            </a:pPr>
            <a:r>
              <a:t>BSE has issued this circular and Issued a circular introducing and modifying the application of SEBI regulations for Resolution Plans approved under Section 54L of the Insolvency and Bankruptcy Code, 2016 in Pre-Packaged Insolvency Resolution Process (PPIRP).</a:t>
            </a:r>
          </a:p>
          <a:p>
            <a:pPr>
              <a:spcBef>
                <a:spcPts val="1200"/>
              </a:spcBef>
              <a:spcAft>
                <a:spcPts val="400"/>
              </a:spcAft>
              <a:defRPr sz="1100" b="1"/>
            </a:pPr>
            <a:r>
              <a:t>Submission of disclosures:</a:t>
            </a:r>
          </a:p>
          <a:p>
            <a:pPr>
              <a:spcBef>
                <a:spcPts val="400"/>
              </a:spcBef>
              <a:spcAft>
                <a:spcPts val="600"/>
              </a:spcAft>
              <a:defRPr sz="1100"/>
            </a:pPr>
            <a:r>
              <a:t>Listing Centre - Listing Compliance department at BSE Limited</a:t>
            </a:r>
          </a:p>
          <a:p>
            <a:pPr>
              <a:spcBef>
                <a:spcPts val="400"/>
              </a:spcBef>
              <a:spcAft>
                <a:spcPts val="600"/>
              </a:spcAft>
              <a:defRPr sz="1100"/>
            </a:pPr>
            <a:r>
              <a:t>Resolution Plans approved under Section 54L of the IBC under PPIRP framework will not be eligible for exemptions available under various SEBI Regulations.</a:t>
            </a:r>
          </a:p>
          <a:p>
            <a:pPr>
              <a:spcBef>
                <a:spcPts val="0"/>
              </a:spcBef>
              <a:spcAft>
                <a:spcPts val="200"/>
              </a:spcAft>
              <a:defRPr sz="1100"/>
            </a:pPr>
            <a:r>
              <a:t>- Listed entities undergoing PPIRP shall comply with all applicable procedural and regulatory requirements prescribed under relevant SEBI Regulations.</a:t>
            </a:r>
          </a:p>
          <a:p>
            <a:pPr>
              <a:spcBef>
                <a:spcPts val="0"/>
              </a:spcBef>
              <a:spcAft>
                <a:spcPts val="200"/>
              </a:spcAft>
              <a:defRPr sz="1100"/>
            </a:pPr>
            <a:r>
              <a:t>- Submissions should be made to the Listing Compliance department at BSE Limited.</a:t>
            </a:r>
          </a:p>
          <a:p>
            <a:pPr>
              <a:spcBef>
                <a:spcPts val="0"/>
              </a:spcBef>
              <a:spcAft>
                <a:spcPts val="200"/>
              </a:spcAft>
              <a:defRPr sz="1100"/>
            </a:pPr>
            <a:r>
              <a:t>- No alternative submission routes are specified, please contact the Listing Compliance department for unlisted fiduciaries or alternative paths.</a:t>
            </a:r>
          </a:p>
          <a:p>
            <a:pPr>
              <a:spcBef>
                <a:spcPts val="0"/>
              </a:spcBef>
              <a:spcAft>
                <a:spcPts val="200"/>
              </a:spcAft>
              <a:defRPr sz="1100"/>
            </a:pPr>
            <a:r>
              <a:t>- Previous exemptions for Resolution Plans approved under Section 31 of the IBC no longer apply to PPIRP.</a:t>
            </a:r>
          </a:p>
        </p:txBody>
      </p:sp>
      <p:sp>
        <p:nvSpPr>
          <p:cNvPr id="19" name="TextBox 18"/>
          <p:cNvSpPr txBox="1"/>
          <p:nvPr/>
        </p:nvSpPr>
        <p:spPr>
          <a:xfrm>
            <a:off x="457200" y="7662672"/>
            <a:ext cx="6583680" cy="1801368"/>
          </a:xfrm>
          <a:prstGeom prst="rect">
            <a:avLst/>
          </a:prstGeom>
          <a:noFill/>
        </p:spPr>
        <p:txBody>
          <a:bodyPr wrap="square">
            <a:spAutoFit/>
          </a:bodyPr>
          <a:lstStyle/>
          <a:p>
            <a:pPr>
              <a:spcAft>
                <a:spcPts val="600"/>
              </a:spcAft>
            </a:pPr>
            <a:r>
              <a:rPr b="1" sz="1200" u="sng">
                <a:solidFill>
                  <a:srgbClr val="0066CC"/>
                </a:solidFill>
                <a:hlinkClick r:id="rId4"/>
              </a:rPr>
              <a:t>Frequently Asked Questions (FAQs) on the submission of the Quarterly Integrated Filing – Governance</a:t>
            </a:r>
          </a:p>
          <a:p>
            <a:pPr>
              <a:spcBef>
                <a:spcPts val="1200"/>
              </a:spcBef>
              <a:spcAft>
                <a:spcPts val="400"/>
              </a:spcAft>
              <a:defRPr sz="1100" b="1"/>
            </a:pPr>
            <a:r>
              <a:t>Date of Circular:</a:t>
            </a:r>
          </a:p>
          <a:p>
            <a:pPr>
              <a:spcBef>
                <a:spcPts val="400"/>
              </a:spcBef>
              <a:spcAft>
                <a:spcPts val="600"/>
              </a:spcAft>
              <a:defRPr sz="1100"/>
            </a:pPr>
            <a:r>
              <a:t>2026-06-12</a:t>
            </a:r>
          </a:p>
          <a:p>
            <a:pPr>
              <a:spcBef>
                <a:spcPts val="1200"/>
              </a:spcBef>
              <a:spcAft>
                <a:spcPts val="400"/>
              </a:spcAft>
              <a:defRPr sz="1100" b="1"/>
            </a:pPr>
            <a:r>
              <a:t>Effective Date:</a:t>
            </a:r>
          </a:p>
          <a:p>
            <a:pPr>
              <a:spcBef>
                <a:spcPts val="400"/>
              </a:spcBef>
              <a:spcAft>
                <a:spcPts val="600"/>
              </a:spcAft>
              <a:defRPr sz="1100"/>
            </a:pPr>
            <a:r>
              <a:t>Not specified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12 of 13</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3227832"/>
          </a:xfrm>
          <a:prstGeom prst="rect">
            <a:avLst/>
          </a:prstGeom>
          <a:noFill/>
        </p:spPr>
        <p:txBody>
          <a:bodyPr wrap="square">
            <a:spAutoFit/>
          </a:bodyPr>
          <a:lstStyle/>
          <a:p>
            <a:pPr>
              <a:spcBef>
                <a:spcPts val="1200"/>
              </a:spcBef>
              <a:spcAft>
                <a:spcPts val="400"/>
              </a:spcAft>
              <a:defRPr sz="1100" b="1"/>
            </a:pPr>
            <a:r>
              <a:t>Gist of amendment:</a:t>
            </a:r>
          </a:p>
          <a:p>
            <a:pPr>
              <a:spcBef>
                <a:spcPts val="400"/>
              </a:spcBef>
              <a:spcAft>
                <a:spcPts val="600"/>
              </a:spcAft>
              <a:defRPr sz="1100"/>
            </a:pPr>
            <a:r>
              <a:t>BSE has issued this circular and Issued a circular titled "Frequently Asked Questions (FAQs) on the submission of the Quarterly Integrated Filing  -  Governance." This circular modifies the submission process for the Integrated Filing  -  Governance, formerly known as Corporate Governance Report.</a:t>
            </a:r>
          </a:p>
          <a:p>
            <a:pPr>
              <a:spcBef>
                <a:spcPts val="1200"/>
              </a:spcBef>
              <a:spcAft>
                <a:spcPts val="400"/>
              </a:spcAft>
              <a:defRPr sz="1100" b="1"/>
            </a:pPr>
            <a:r>
              <a:t>Submission of disclosures:</a:t>
            </a:r>
          </a:p>
          <a:p>
            <a:pPr>
              <a:spcBef>
                <a:spcPts val="400"/>
              </a:spcBef>
              <a:spcAft>
                <a:spcPts val="600"/>
              </a:spcAft>
              <a:defRPr sz="1100"/>
            </a:pPr>
            <a:r>
              <a:t>Listing Centre - To submit the Quarterly Integrated Filing  -  Governance, refer to the listed entities' regular filing workflow.</a:t>
            </a:r>
          </a:p>
          <a:p>
            <a:pPr>
              <a:spcBef>
                <a:spcPts val="400"/>
              </a:spcBef>
              <a:spcAft>
                <a:spcPts val="600"/>
              </a:spcAft>
              <a:defRPr sz="1100"/>
            </a:pPr>
            <a:r>
              <a:t>The submissions must be in XBRL mode only. No PDF files are accepted.</a:t>
            </a:r>
          </a:p>
          <a:p>
            <a:pPr>
              <a:spcBef>
                <a:spcPts val="0"/>
              </a:spcBef>
              <a:spcAft>
                <a:spcPts val="200"/>
              </a:spcAft>
              <a:defRPr sz="1100"/>
            </a:pPr>
            <a:r>
              <a:t>- If any unlisted fiduciaries have queries or issues, they can contact Listing Compliance and Operations through email at [email protected]</a:t>
            </a:r>
          </a:p>
          <a:p>
            <a:pPr>
              <a:spcBef>
                <a:spcPts val="0"/>
              </a:spcBef>
              <a:spcAft>
                <a:spcPts val="200"/>
              </a:spcAft>
              <a:defRPr sz="1100"/>
            </a:pPr>
            <a:r>
              <a:t>- The legacy paths for Corporate Governance Report submission are now discontinued.</a:t>
            </a:r>
          </a:p>
          <a:p>
            <a:pPr>
              <a:spcBef>
                <a:spcPts val="0"/>
              </a:spcBef>
              <a:spcAft>
                <a:spcPts val="200"/>
              </a:spcAft>
              <a:defRPr sz="1100"/>
            </a:pPr>
            <a:r>
              <a:t>- Submissions via alternative routes (other than the regular filing workflow) are considered invalid.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1600" b="1" u="sng" kern="100" dirty="0" smtClean="0">
            <a:solidFill>
              <a:srgbClr val="002060"/>
            </a:solidFill>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1216</TotalTime>
  <Words>356</Words>
  <Application>Microsoft Office PowerPoint</Application>
  <PresentationFormat>Custom</PresentationFormat>
  <Paragraphs>89</Paragraphs>
  <Slides>11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Courier New</vt:lpstr>
      <vt:lpstr>Times New Roman</vt:lpstr>
      <vt:lpstr>Montserrat Classic</vt:lpstr>
      <vt:lpstr>Aptos</vt:lpstr>
      <vt:lpstr>Montserrat</vt:lpstr>
      <vt:lpstr>Arial</vt:lpstr>
      <vt:lpstr>Canva Sans Bold Italics</vt:lpstr>
      <vt:lpstr>Montserrat Bold</vt:lpstr>
      <vt:lpstr>Calibri</vt:lpstr>
      <vt:lpstr>Wingdings</vt:lpstr>
      <vt:lpstr>Montserrat Classic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ARTHYA NEWSLETTER</dc:title>
  <dc:creator>Gayathri Akshayam</dc:creator>
  <cp:lastModifiedBy>Vijayashree Akshayam</cp:lastModifiedBy>
  <cp:revision>452</cp:revision>
  <dcterms:created xsi:type="dcterms:W3CDTF">2006-08-16T00:00:00Z</dcterms:created>
  <dcterms:modified xsi:type="dcterms:W3CDTF">2026-05-19T04:24:50Z</dcterms:modified>
  <dc:identifier>DAGjRylsoc0</dc:identifier>
</cp:coreProperties>
</file>