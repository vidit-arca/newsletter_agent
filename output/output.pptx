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handoutMasters/handoutMaster1.xml" ContentType="application/vnd.openxmlformats-officedocument.presentationml.handoutMaster+xml"/>
  <Override PartName="/ppt/media/image4.svg" ContentType="image/svg+xml"/>
  <Override PartName="/ppt/media/image5.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bookmarkIdSeed="2">
  <p:sldMasterIdLst>
    <p:sldMasterId id="2147483648" r:id="rId1"/>
  </p:sldMasterIdLst>
  <p:notesMasterIdLst>
    <p:notesMasterId r:id="rId13"/>
  </p:notesMasterIdLst>
  <p:handoutMasterIdLst>
    <p:handoutMasterId r:id="rId14"/>
  </p:handoutMasterIdLst>
  <p:sldIdLst>
    <p:sldId id="256" r:id="rId2"/>
    <p:sldId id="257" r:id="rId3"/>
    <p:sldId id="281" r:id="rId4"/>
    <p:sldId id="275" r:id="rId5"/>
    <p:sldId id="258" r:id="rId6"/>
    <p:sldId id="259" r:id="rId7"/>
    <p:sldId id="276" r:id="rId8"/>
    <p:sldId id="280" r:id="rId9"/>
    <p:sldId id="282" r:id="rId10"/>
    <p:sldId id="283" r:id="rId11"/>
    <p:sldId id="284" r:id="rId33"/>
    <p:sldId id="285" r:id="rId34"/>
    <p:sldId id="286" r:id="rId35"/>
    <p:sldId id="287" r:id="rId36"/>
    <p:sldId id="288" r:id="rId37"/>
    <p:sldId id="289" r:id="rId38"/>
    <p:sldId id="290" r:id="rId39"/>
    <p:sldId id="291" r:id="rId40"/>
    <p:sldId id="262" r:id="rId12"/>
  </p:sldIdLst>
  <p:sldSz cx="7556500" cy="10693400"/>
  <p:notesSz cx="6858000" cy="9144000"/>
  <p:embeddedFontLst>
    <p:embeddedFont>
      <p:font typeface="Canva Sans Bold Italics" panose="020B0604020202020204" charset="0"/>
      <p:regular r:id="rId15"/>
      <p:bold r:id="rId16"/>
      <p:italic r:id="rId17"/>
      <p:boldItalic r:id="rId18"/>
    </p:embeddedFont>
    <p:embeddedFont>
      <p:font typeface="Montserrat" panose="00000500000000000000" pitchFamily="2" charset="0"/>
      <p:regular r:id="rId19"/>
      <p:bold r:id="rId20"/>
      <p:italic r:id="rId21"/>
      <p:boldItalic r:id="rId22"/>
    </p:embeddedFont>
    <p:embeddedFont>
      <p:font typeface="Montserrat Bold" panose="00000800000000000000" charset="0"/>
      <p:regular r:id="rId23"/>
      <p:bold r:id="rId24"/>
    </p:embeddedFont>
    <p:embeddedFont>
      <p:font typeface="Montserrat Classic" panose="020B0604020202020204" charset="0"/>
      <p:regular r:id="rId25"/>
    </p:embeddedFont>
    <p:embeddedFont>
      <p:font typeface="Montserrat Classic Bold" panose="020B0604020202020204" charset="0"/>
      <p:regular r:id="rId26"/>
      <p:bold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D5B13AD-9D3F-43D7-8C09-EE99CC0E6810}">
          <p14:sldIdLst>
            <p14:sldId id="256"/>
            <p14:sldId id="257"/>
            <p14:sldId id="281"/>
            <p14:sldId id="275"/>
            <p14:sldId id="258"/>
            <p14:sldId id="259"/>
            <p14:sldId id="276"/>
            <p14:sldId id="280"/>
            <p14:sldId id="282"/>
            <p14:sldId id="283"/>
            <p14:sldId id="26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1AFC70B-62F5-A2D5-179E-38CFE34E869D}" name="Akshayam Corporate" initials="AC" userId="4da170d8fe2c9114" providerId="Windows Live"/>
  <p188:author id="{37B40F4F-C4B7-9A17-BD58-D8B6D1E58FBB}" name="Vijayashree Akshayam" initials="VA" userId="Vijayashree Akshayam" providerId="None"/>
  <p188:author id="{FC9427BF-2F46-F632-BD97-6A6E6211112C}" name="Akshayam Vijayashree" initials="AV" userId="c7b6f966c5db89bb" providerId="Windows Live"/>
  <p188:author id="{11512ADE-0601-89BE-5FA3-D4A7240BADA3}" name="Akshayam Gayathri" initials="AG" userId="d6c9e8928e28eb4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DA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039" autoAdjust="0"/>
    <p:restoredTop sz="95033" autoAdjust="0"/>
  </p:normalViewPr>
  <p:slideViewPr>
    <p:cSldViewPr>
      <p:cViewPr>
        <p:scale>
          <a:sx n="66" d="100"/>
          <a:sy n="66" d="100"/>
        </p:scale>
        <p:origin x="2563" y="-2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handoutMaster" Target="handoutMasters/handoutMaster1.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 Id="rId23" Type="http://schemas.openxmlformats.org/officeDocument/2006/relationships/font" Target="fonts/font9.fntdata"/><Relationship Id="rId24" Type="http://schemas.openxmlformats.org/officeDocument/2006/relationships/font" Target="fonts/font10.fntdata"/><Relationship Id="rId25" Type="http://schemas.openxmlformats.org/officeDocument/2006/relationships/font" Target="fonts/font11.fntdata"/><Relationship Id="rId26" Type="http://schemas.openxmlformats.org/officeDocument/2006/relationships/font" Target="fonts/font12.fntdata"/><Relationship Id="rId27" Type="http://schemas.openxmlformats.org/officeDocument/2006/relationships/font" Target="fonts/font13.fntdata"/><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8/10/relationships/authors" Target="authors.xml"/><Relationship Id="rId33" Type="http://schemas.openxmlformats.org/officeDocument/2006/relationships/slide" Target="slides/slide12.xml"/><Relationship Id="rId34" Type="http://schemas.openxmlformats.org/officeDocument/2006/relationships/slide" Target="slides/slide13.xml"/><Relationship Id="rId35" Type="http://schemas.openxmlformats.org/officeDocument/2006/relationships/slide" Target="slides/slide14.xml"/><Relationship Id="rId36" Type="http://schemas.openxmlformats.org/officeDocument/2006/relationships/slide" Target="slides/slide15.xml"/><Relationship Id="rId37" Type="http://schemas.openxmlformats.org/officeDocument/2006/relationships/slide" Target="slides/slide16.xml"/><Relationship Id="rId38" Type="http://schemas.openxmlformats.org/officeDocument/2006/relationships/slide" Target="slides/slide17.xml"/><Relationship Id="rId39" Type="http://schemas.openxmlformats.org/officeDocument/2006/relationships/slide" Target="slides/slide18.xml"/><Relationship Id="rId40" Type="http://schemas.openxmlformats.org/officeDocument/2006/relationships/slide" Target="slides/slide1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E090448-BEA7-13A3-E3BE-E0F629BA59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6563141-DD44-53D6-0ADC-DBD0F49868D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EAC7F4-989E-4E80-AA70-449465F511CB}" type="datetimeFigureOut">
              <a:rPr lang="en-US" smtClean="0"/>
              <a:t>19-May-26</a:t>
            </a:fld>
            <a:endParaRPr lang="en-US"/>
          </a:p>
        </p:txBody>
      </p:sp>
      <p:sp>
        <p:nvSpPr>
          <p:cNvPr id="4" name="Footer Placeholder 3">
            <a:extLst>
              <a:ext uri="{FF2B5EF4-FFF2-40B4-BE49-F238E27FC236}">
                <a16:creationId xmlns:a16="http://schemas.microsoft.com/office/drawing/2014/main" id="{0C2C51CB-7E77-5AF0-5B4C-D6C702DE41E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B22FBA9-A29B-B09C-5BE6-D5FB66F8317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5138348-FB05-4257-A0BD-11356C79A27B}" type="slidenum">
              <a:rPr lang="en-US" smtClean="0"/>
              <a:t>‹#›</a:t>
            </a:fld>
            <a:endParaRPr lang="en-US"/>
          </a:p>
        </p:txBody>
      </p:sp>
    </p:spTree>
    <p:extLst>
      <p:ext uri="{BB962C8B-B14F-4D97-AF65-F5344CB8AC3E}">
        <p14:creationId xmlns:p14="http://schemas.microsoft.com/office/powerpoint/2010/main" val="378339459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90F206-EE2D-408D-9188-EF36162EE9A3}" type="datetimeFigureOut">
              <a:rPr lang="en-US" smtClean="0"/>
              <a:t>19-May-26</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8ED63A-9D04-49DF-9757-7D83F06E14E4}" type="slidenum">
              <a:rPr lang="en-US" smtClean="0"/>
              <a:t>‹#›</a:t>
            </a:fld>
            <a:endParaRPr lang="en-US"/>
          </a:p>
        </p:txBody>
      </p:sp>
    </p:spTree>
    <p:extLst>
      <p:ext uri="{BB962C8B-B14F-4D97-AF65-F5344CB8AC3E}">
        <p14:creationId xmlns:p14="http://schemas.microsoft.com/office/powerpoint/2010/main" val="304129445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8ED63A-9D04-49DF-9757-7D83F06E14E4}" type="slidenum">
              <a:rPr lang="en-US" smtClean="0"/>
              <a:t>9</a:t>
            </a:fld>
            <a:endParaRPr lang="en-US"/>
          </a:p>
        </p:txBody>
      </p:sp>
    </p:spTree>
    <p:extLst>
      <p:ext uri="{BB962C8B-B14F-4D97-AF65-F5344CB8AC3E}">
        <p14:creationId xmlns:p14="http://schemas.microsoft.com/office/powerpoint/2010/main" val="11842251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B4D23EE-C28E-41DC-8BBD-F57A0AD8FACE}"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E1DF6A-5983-4275-9F6C-E198972BE1F2}"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E17121-B280-4071-9A85-E3B9C8C83100}"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857BDFE-9C60-4B7B-8991-612ACA6C157F}" type="datetime1">
              <a:rPr lang="en-US" smtClean="0"/>
              <a:t>19-May-26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FA230DB-6D8B-4397-A447-2E850283409E}" type="datetime1">
              <a:rPr lang="en-US" smtClean="0"/>
              <a:t>19-May-26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0B9369B-338F-4E50-A49A-83ABDED5F3B2}" type="datetime1">
              <a:rPr lang="en-US" smtClean="0"/>
              <a:t>19-May-26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4250EB-D47C-458D-97E7-3139D0BAC1E9}" type="datetime1">
              <a:rPr lang="en-US" smtClean="0"/>
              <a:t>19-May-26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155C71-FA91-43D3-82C5-0E3155B59D11}" type="datetime1">
              <a:rPr lang="en-US" smtClean="0"/>
              <a:t>19-May-26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8264B2-330E-4794-A78E-185438AAB38A}" type="datetime1">
              <a:rPr lang="en-US" smtClean="0"/>
              <a:t>19-May-26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151176-0F27-4BA3-B6F0-F479C7EBC6DD}"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904CF1D-AEE3-40DD-B035-C7A7DE1CAC30}"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98AD87-AA51-4402-A791-38EC1485A591}" type="datetime1">
              <a:rPr lang="en-US" smtClean="0"/>
              <a:t>19-May-26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sebi.gov.in/sebi_data/attachdocs/jul-2026/1784180328047.pdf" TargetMode="External"/><Relationship Id="rId4" Type="http://schemas.openxmlformats.org/officeDocument/2006/relationships/hyperlink" Target="https://www.sebi.gov.in/sebi_data/attachdocs/jul-2026/1783924937941.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sebi.gov.in/sebi_data/attachdocs/jul-2026/1783615648681.pdf" TargetMode="External"/><Relationship Id="rId4" Type="http://schemas.openxmlformats.org/officeDocument/2006/relationships/hyperlink" Target="https://www.sebi.gov.in/sebi_data/attachdocs/jul-2026/1782919901643.pdf"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sebi.gov.in/sebi_data/attachdocs/jul-2026/1784805207495.pdf"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hyperlink" Target="https://www.sebi.gov.in/sebi_data/attachdocs/jul-2026/1784803038906.pdf"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svg"/><Relationship Id="rId3" Type="http://schemas.openxmlformats.org/officeDocument/2006/relationships/image" Target="../media/image5.svg"/><Relationship Id="rId4" Type="http://schemas.openxmlformats.org/officeDocument/2006/relationships/image" Target="../media/image6.svg"/><Relationship Id="rId5" Type="http://schemas.openxmlformats.org/officeDocument/2006/relationships/hyperlink" Target="mailto:Karthik@Peritumpartners.com" TargetMode="External"/><Relationship Id="rId6" Type="http://schemas.openxmlformats.org/officeDocument/2006/relationships/image" Target="../media/image7.jpg"/><Relationship Id="rId7"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sebi.gov.in/sebi_data/attachdocs/jul-2026/1784029390357.pdf"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sebi.gov.in/sebi_data/commondocs/jul-2026/Informal%20Guidance%20Letter%20by%20SEBI%2031.07.26_p.pdf"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sebi.gov.in/sebi_data/commondocs/jul-2026/Informal%20Guidance%20Letter%20by%20SEBI%20-%20SEBI_p.pdf"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sebi.gov.in/sebi_data/commondocs/jul-2026/Informal%20Guidance_p.pdf"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bseindia.com/downloads/UploadDocs/Notices/20260722-7/20260722-7.pdf"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nsearchives.nseindia.com//web/circular/2026-07/FAQs_on_Corporate_Action_20260708204832.pdf"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nsearchives.nseindia.com//web/circular/2026-07/NSE_Circular_20260703192238.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sp>
        <p:nvSpPr>
          <p:cNvPr id="2" name="TextBox 2"/>
          <p:cNvSpPr txBox="1"/>
          <p:nvPr/>
        </p:nvSpPr>
        <p:spPr>
          <a:xfrm>
            <a:off x="273050" y="1452803"/>
            <a:ext cx="7054625" cy="1361078"/>
          </a:xfrm>
          <a:prstGeom prst="rect">
            <a:avLst/>
          </a:prstGeom>
        </p:spPr>
        <p:txBody>
          <a:bodyPr wrap="square" lIns="0" tIns="0" rIns="0" bIns="0" rtlCol="0" anchor="t">
            <a:spAutoFit/>
          </a:bodyPr>
          <a:lstStyle/>
          <a:p>
            <a:pPr algn="ctr"/>
            <a:r>
              <a:rPr sz="4400" b="1">
                <a:solidFill>
                  <a:srgbClr val="0070C0"/>
                </a:solidFill>
                <a:latin typeface="Calibri"/>
              </a:rPr>
              <a:t>July</a:t>
            </a:r>
          </a:p>
          <a:p>
            <a:pPr algn="ctr"/>
            <a:r>
              <a:rPr sz="4400" b="1">
                <a:solidFill>
                  <a:srgbClr val="0070C0"/>
                </a:solidFill>
                <a:latin typeface="Calibri"/>
              </a:rPr>
              <a:t>2026-INSIGHTS</a:t>
            </a:r>
          </a:p>
        </p:txBody>
      </p:sp>
      <p:sp>
        <p:nvSpPr>
          <p:cNvPr id="3" name="Freeform 3"/>
          <p:cNvSpPr/>
          <p:nvPr/>
        </p:nvSpPr>
        <p:spPr>
          <a:xfrm>
            <a:off x="0" y="2623822"/>
            <a:ext cx="7569820" cy="8068178"/>
          </a:xfrm>
          <a:custGeom>
            <a:avLst/>
            <a:gdLst/>
            <a:ahLst/>
            <a:cxnLst/>
            <a:rect l="l" t="t" r="r" b="b"/>
            <a:pathLst>
              <a:path w="7569820" h="8068178">
                <a:moveTo>
                  <a:pt x="0" y="0"/>
                </a:moveTo>
                <a:lnTo>
                  <a:pt x="7569820" y="0"/>
                </a:lnTo>
                <a:lnTo>
                  <a:pt x="7569820" y="8068178"/>
                </a:lnTo>
                <a:lnTo>
                  <a:pt x="0" y="8068178"/>
                </a:lnTo>
                <a:lnTo>
                  <a:pt x="0" y="0"/>
                </a:lnTo>
                <a:close/>
              </a:path>
            </a:pathLst>
          </a:custGeom>
          <a:blipFill>
            <a:blip r:embed="rId2"/>
            <a:stretch>
              <a:fillRect l="-92267" t="-64" r="-25217" b="-14713"/>
            </a:stretch>
          </a:blipFill>
        </p:spPr>
        <p:txBody>
          <a:bodyPr/>
          <a:lstStyle/>
          <a:p>
            <a:endParaRPr lang="en-US"/>
          </a:p>
        </p:txBody>
      </p:sp>
      <p:grpSp>
        <p:nvGrpSpPr>
          <p:cNvPr id="4" name="Group 4"/>
          <p:cNvGrpSpPr/>
          <p:nvPr/>
        </p:nvGrpSpPr>
        <p:grpSpPr>
          <a:xfrm>
            <a:off x="0" y="8757906"/>
            <a:ext cx="7569820" cy="2356188"/>
            <a:chOff x="0" y="0"/>
            <a:chExt cx="2712853" cy="844405"/>
          </a:xfrm>
          <a:solidFill>
            <a:srgbClr val="00B0F0"/>
          </a:solidFill>
        </p:grpSpPr>
        <p:sp>
          <p:nvSpPr>
            <p:cNvPr id="5" name="Freeform 5"/>
            <p:cNvSpPr/>
            <p:nvPr/>
          </p:nvSpPr>
          <p:spPr>
            <a:xfrm>
              <a:off x="0" y="0"/>
              <a:ext cx="2712853" cy="844405"/>
            </a:xfrm>
            <a:custGeom>
              <a:avLst/>
              <a:gdLst/>
              <a:ahLst/>
              <a:cxnLst/>
              <a:rect l="l" t="t" r="r" b="b"/>
              <a:pathLst>
                <a:path w="2712853" h="844405">
                  <a:moveTo>
                    <a:pt x="0" y="0"/>
                  </a:moveTo>
                  <a:lnTo>
                    <a:pt x="2712853" y="0"/>
                  </a:lnTo>
                  <a:lnTo>
                    <a:pt x="2712853" y="844405"/>
                  </a:lnTo>
                  <a:lnTo>
                    <a:pt x="0" y="844405"/>
                  </a:lnTo>
                  <a:close/>
                </a:path>
              </a:pathLst>
            </a:custGeom>
            <a:grpFill/>
          </p:spPr>
          <p:txBody>
            <a:bodyPr/>
            <a:lstStyle/>
            <a:p>
              <a:endParaRPr lang="en-US" dirty="0"/>
            </a:p>
          </p:txBody>
        </p:sp>
        <p:sp>
          <p:nvSpPr>
            <p:cNvPr id="6" name="TextBox 6"/>
            <p:cNvSpPr txBox="1"/>
            <p:nvPr/>
          </p:nvSpPr>
          <p:spPr>
            <a:xfrm>
              <a:off x="0" y="-28575"/>
              <a:ext cx="2712853" cy="872980"/>
            </a:xfrm>
            <a:prstGeom prst="rect">
              <a:avLst/>
            </a:prstGeom>
            <a:grpFill/>
          </p:spPr>
          <p:txBody>
            <a:bodyPr lIns="50800" tIns="50800" rIns="50800" bIns="50800" rtlCol="0" anchor="ctr"/>
            <a:lstStyle/>
            <a:p>
              <a:pPr algn="ctr">
                <a:lnSpc>
                  <a:spcPts val="1960"/>
                </a:lnSpc>
                <a:spcBef>
                  <a:spcPct val="0"/>
                </a:spcBef>
              </a:pPr>
              <a:endParaRPr/>
            </a:p>
          </p:txBody>
        </p:sp>
      </p:grpSp>
      <p:grpSp>
        <p:nvGrpSpPr>
          <p:cNvPr id="7" name="Group 7"/>
          <p:cNvGrpSpPr/>
          <p:nvPr/>
        </p:nvGrpSpPr>
        <p:grpSpPr>
          <a:xfrm>
            <a:off x="0" y="8875518"/>
            <a:ext cx="7569820" cy="1874539"/>
            <a:chOff x="0" y="0"/>
            <a:chExt cx="2712853" cy="671793"/>
          </a:xfrm>
          <a:solidFill>
            <a:schemeClr val="tx2"/>
          </a:solidFill>
        </p:grpSpPr>
        <p:sp>
          <p:nvSpPr>
            <p:cNvPr id="8" name="Freeform 8"/>
            <p:cNvSpPr/>
            <p:nvPr/>
          </p:nvSpPr>
          <p:spPr>
            <a:xfrm>
              <a:off x="0" y="0"/>
              <a:ext cx="2712853" cy="671793"/>
            </a:xfrm>
            <a:custGeom>
              <a:avLst/>
              <a:gdLst/>
              <a:ahLst/>
              <a:cxnLst/>
              <a:rect l="l" t="t" r="r" b="b"/>
              <a:pathLst>
                <a:path w="2712853" h="671793">
                  <a:moveTo>
                    <a:pt x="0" y="0"/>
                  </a:moveTo>
                  <a:lnTo>
                    <a:pt x="2712853" y="0"/>
                  </a:lnTo>
                  <a:lnTo>
                    <a:pt x="2712853" y="671793"/>
                  </a:lnTo>
                  <a:lnTo>
                    <a:pt x="0" y="671793"/>
                  </a:lnTo>
                  <a:close/>
                </a:path>
              </a:pathLst>
            </a:custGeom>
            <a:grpFill/>
          </p:spPr>
          <p:txBody>
            <a:bodyPr lIns="50800" tIns="50800" rIns="50800" bIns="50800" rtlCol="0" anchor="ctr"/>
            <a:lstStyle/>
            <a:p>
              <a:pPr algn="ctr">
                <a:lnSpc>
                  <a:spcPts val="1960"/>
                </a:lnSpc>
                <a:spcBef>
                  <a:spcPct val="0"/>
                </a:spcBef>
              </a:pPr>
              <a:endParaRPr lang="en-US"/>
            </a:p>
          </p:txBody>
        </p:sp>
        <p:sp>
          <p:nvSpPr>
            <p:cNvPr id="9" name="TextBox 9"/>
            <p:cNvSpPr txBox="1"/>
            <p:nvPr/>
          </p:nvSpPr>
          <p:spPr>
            <a:xfrm>
              <a:off x="0" y="-28575"/>
              <a:ext cx="2712853" cy="700368"/>
            </a:xfrm>
            <a:prstGeom prst="rect">
              <a:avLst/>
            </a:prstGeom>
            <a:grpFill/>
          </p:spPr>
          <p:txBody>
            <a:bodyPr lIns="50800" tIns="50800" rIns="50800" bIns="50800" rtlCol="0" anchor="ctr"/>
            <a:lstStyle>
              <a:defPPr>
                <a:defRPr lang="en-US"/>
              </a:defPPr>
              <a:lvl1pPr algn="ctr">
                <a:lnSpc>
                  <a:spcPts val="1960"/>
                </a:lnSpc>
                <a:spcBef>
                  <a:spcPct val="0"/>
                </a:spcBef>
              </a:lvl1pPr>
            </a:lstStyle>
            <a:p>
              <a:endParaRPr/>
            </a:p>
          </p:txBody>
        </p:sp>
      </p:grpSp>
      <p:sp>
        <p:nvSpPr>
          <p:cNvPr id="13" name="TextBox 13"/>
          <p:cNvSpPr txBox="1"/>
          <p:nvPr/>
        </p:nvSpPr>
        <p:spPr>
          <a:xfrm>
            <a:off x="4692650" y="902270"/>
            <a:ext cx="3400750" cy="217560"/>
          </a:xfrm>
          <a:prstGeom prst="rect">
            <a:avLst/>
          </a:prstGeom>
        </p:spPr>
        <p:txBody>
          <a:bodyPr wrap="square" lIns="0" tIns="0" rIns="0" bIns="0" rtlCol="0" anchor="t">
            <a:spAutoFit/>
          </a:bodyPr>
          <a:lstStyle/>
          <a:p>
            <a:r>
              <a:t>Issue July | July 2026</a:t>
            </a:r>
          </a:p>
        </p:txBody>
      </p:sp>
      <p:grpSp>
        <p:nvGrpSpPr>
          <p:cNvPr id="15" name="Group 15"/>
          <p:cNvGrpSpPr/>
          <p:nvPr/>
        </p:nvGrpSpPr>
        <p:grpSpPr>
          <a:xfrm>
            <a:off x="-3500" y="-1332120"/>
            <a:ext cx="7560000" cy="1874539"/>
            <a:chOff x="0" y="0"/>
            <a:chExt cx="2709333" cy="671793"/>
          </a:xfrm>
          <a:solidFill>
            <a:schemeClr val="tx2"/>
          </a:solidFill>
        </p:grpSpPr>
        <p:sp>
          <p:nvSpPr>
            <p:cNvPr id="16" name="Freeform 16"/>
            <p:cNvSpPr/>
            <p:nvPr/>
          </p:nvSpPr>
          <p:spPr>
            <a:xfrm>
              <a:off x="0" y="0"/>
              <a:ext cx="2709333" cy="671793"/>
            </a:xfrm>
            <a:custGeom>
              <a:avLst/>
              <a:gdLst/>
              <a:ahLst/>
              <a:cxnLst/>
              <a:rect l="l" t="t" r="r" b="b"/>
              <a:pathLst>
                <a:path w="2709333" h="671793">
                  <a:moveTo>
                    <a:pt x="0" y="0"/>
                  </a:moveTo>
                  <a:lnTo>
                    <a:pt x="2709333" y="0"/>
                  </a:lnTo>
                  <a:lnTo>
                    <a:pt x="2709333" y="671793"/>
                  </a:lnTo>
                  <a:lnTo>
                    <a:pt x="0" y="671793"/>
                  </a:lnTo>
                  <a:close/>
                </a:path>
              </a:pathLst>
            </a:custGeom>
            <a:grpFill/>
          </p:spPr>
          <p:txBody>
            <a:bodyPr/>
            <a:lstStyle/>
            <a:p>
              <a:endParaRPr lang="en-US" dirty="0"/>
            </a:p>
          </p:txBody>
        </p:sp>
        <p:sp>
          <p:nvSpPr>
            <p:cNvPr id="17" name="TextBox 17"/>
            <p:cNvSpPr txBox="1"/>
            <p:nvPr/>
          </p:nvSpPr>
          <p:spPr>
            <a:xfrm>
              <a:off x="0" y="-28575"/>
              <a:ext cx="2709333" cy="700368"/>
            </a:xfrm>
            <a:prstGeom prst="rect">
              <a:avLst/>
            </a:prstGeom>
            <a:grpFill/>
          </p:spPr>
          <p:txBody>
            <a:bodyPr lIns="50800" tIns="50800" rIns="50800" bIns="50800" rtlCol="0" anchor="ctr"/>
            <a:lstStyle/>
            <a:p>
              <a:pPr algn="ctr">
                <a:lnSpc>
                  <a:spcPts val="1960"/>
                </a:lnSpc>
                <a:spcBef>
                  <a:spcPct val="0"/>
                </a:spcBef>
              </a:pPr>
              <a:endParaRPr/>
            </a:p>
          </p:txBody>
        </p:sp>
      </p:grpSp>
      <p:grpSp>
        <p:nvGrpSpPr>
          <p:cNvPr id="18" name="Group 18"/>
          <p:cNvGrpSpPr/>
          <p:nvPr/>
        </p:nvGrpSpPr>
        <p:grpSpPr>
          <a:xfrm>
            <a:off x="-13539" y="36934"/>
            <a:ext cx="7569820" cy="599044"/>
            <a:chOff x="0" y="0"/>
            <a:chExt cx="2712853" cy="148399"/>
          </a:xfrm>
          <a:solidFill>
            <a:srgbClr val="00B0F0"/>
          </a:solidFill>
        </p:grpSpPr>
        <p:sp>
          <p:nvSpPr>
            <p:cNvPr id="19" name="Freeform 19"/>
            <p:cNvSpPr/>
            <p:nvPr/>
          </p:nvSpPr>
          <p:spPr>
            <a:xfrm>
              <a:off x="0" y="0"/>
              <a:ext cx="2712853" cy="148399"/>
            </a:xfrm>
            <a:custGeom>
              <a:avLst/>
              <a:gdLst/>
              <a:ahLst/>
              <a:cxnLst/>
              <a:rect l="l" t="t" r="r" b="b"/>
              <a:pathLst>
                <a:path w="2712853" h="148399">
                  <a:moveTo>
                    <a:pt x="0" y="0"/>
                  </a:moveTo>
                  <a:lnTo>
                    <a:pt x="2712853" y="0"/>
                  </a:lnTo>
                  <a:lnTo>
                    <a:pt x="2712853" y="148399"/>
                  </a:lnTo>
                  <a:lnTo>
                    <a:pt x="0" y="148399"/>
                  </a:lnTo>
                  <a:close/>
                </a:path>
              </a:pathLst>
            </a:custGeom>
            <a:grpFill/>
          </p:spPr>
          <p:txBody>
            <a:bodyPr/>
            <a:lstStyle/>
            <a:p>
              <a:endParaRPr lang="en-US" sz="4000"/>
            </a:p>
          </p:txBody>
        </p:sp>
        <p:sp>
          <p:nvSpPr>
            <p:cNvPr id="20" name="TextBox 20"/>
            <p:cNvSpPr txBox="1"/>
            <p:nvPr/>
          </p:nvSpPr>
          <p:spPr>
            <a:xfrm>
              <a:off x="0" y="-28575"/>
              <a:ext cx="2712853" cy="176974"/>
            </a:xfrm>
            <a:prstGeom prst="rect">
              <a:avLst/>
            </a:prstGeom>
            <a:grpFill/>
          </p:spPr>
          <p:txBody>
            <a:bodyPr lIns="50800" tIns="50800" rIns="50800" bIns="50800" rtlCol="0" anchor="ctr"/>
            <a:lstStyle/>
            <a:p>
              <a:pPr algn="ctr">
                <a:lnSpc>
                  <a:spcPts val="1960"/>
                </a:lnSpc>
                <a:spcBef>
                  <a:spcPct val="0"/>
                </a:spcBef>
              </a:pPr>
              <a:endParaRPr lang="en-US" sz="4000" b="1" dirty="0">
                <a:solidFill>
                  <a:srgbClr val="000000"/>
                </a:solidFill>
                <a:latin typeface="Montserrat Classic Bold"/>
                <a:ea typeface="Montserrat Classic Bold"/>
                <a:cs typeface="Montserrat Classic Bold"/>
                <a:sym typeface="Montserrat Classic Bold"/>
              </a:endParaRPr>
            </a:p>
            <a:p>
              <a:pPr algn="ctr">
                <a:lnSpc>
                  <a:spcPts val="1960"/>
                </a:lnSpc>
                <a:spcBef>
                  <a:spcPct val="0"/>
                </a:spcBef>
              </a:pPr>
              <a:endParaRPr lang="en-US" sz="4000" b="1" dirty="0">
                <a:solidFill>
                  <a:srgbClr val="000000"/>
                </a:solidFill>
                <a:latin typeface="Montserrat Classic Bold"/>
                <a:ea typeface="Montserrat Classic Bold"/>
                <a:cs typeface="Montserrat Classic Bold"/>
                <a:sym typeface="Montserrat Classic Bold"/>
              </a:endParaRPr>
            </a:p>
            <a:p>
              <a:pPr algn="ctr">
                <a:lnSpc>
                  <a:spcPts val="1960"/>
                </a:lnSpc>
                <a:spcBef>
                  <a:spcPct val="0"/>
                </a:spcBef>
              </a:pPr>
              <a:r>
                <a:rPr lang="en-US" sz="4000" b="1" dirty="0">
                  <a:solidFill>
                    <a:srgbClr val="000000"/>
                  </a:solidFill>
                  <a:latin typeface="Montserrat Classic Bold"/>
                  <a:ea typeface="Montserrat Classic Bold"/>
                  <a:cs typeface="Montserrat Classic Bold"/>
                  <a:sym typeface="Montserrat Classic Bold"/>
                </a:rPr>
                <a:t>PRAVARTIYA</a:t>
              </a:r>
            </a:p>
            <a:p>
              <a:pPr algn="ctr">
                <a:lnSpc>
                  <a:spcPts val="1960"/>
                </a:lnSpc>
                <a:spcBef>
                  <a:spcPct val="0"/>
                </a:spcBef>
              </a:pPr>
              <a:endParaRPr sz="4000" dirty="0"/>
            </a:p>
          </p:txBody>
        </p:sp>
      </p:grpSp>
      <p:grpSp>
        <p:nvGrpSpPr>
          <p:cNvPr id="21" name="Group 21"/>
          <p:cNvGrpSpPr/>
          <p:nvPr/>
        </p:nvGrpSpPr>
        <p:grpSpPr>
          <a:xfrm>
            <a:off x="-44006" y="7502328"/>
            <a:ext cx="7569820" cy="1082285"/>
            <a:chOff x="0" y="0"/>
            <a:chExt cx="2712853" cy="387866"/>
          </a:xfrm>
        </p:grpSpPr>
        <p:sp>
          <p:nvSpPr>
            <p:cNvPr id="22" name="Freeform 22"/>
            <p:cNvSpPr/>
            <p:nvPr/>
          </p:nvSpPr>
          <p:spPr>
            <a:xfrm>
              <a:off x="0" y="0"/>
              <a:ext cx="2712853" cy="387866"/>
            </a:xfrm>
            <a:custGeom>
              <a:avLst/>
              <a:gdLst/>
              <a:ahLst/>
              <a:cxnLst/>
              <a:rect l="l" t="t" r="r" b="b"/>
              <a:pathLst>
                <a:path w="2712853" h="387866">
                  <a:moveTo>
                    <a:pt x="0" y="0"/>
                  </a:moveTo>
                  <a:lnTo>
                    <a:pt x="2712853" y="0"/>
                  </a:lnTo>
                  <a:lnTo>
                    <a:pt x="2712853" y="387866"/>
                  </a:lnTo>
                  <a:lnTo>
                    <a:pt x="0" y="387866"/>
                  </a:lnTo>
                  <a:close/>
                </a:path>
              </a:pathLst>
            </a:custGeom>
            <a:solidFill>
              <a:srgbClr val="02062C">
                <a:alpha val="61961"/>
              </a:srgbClr>
            </a:solidFill>
          </p:spPr>
          <p:txBody>
            <a:bodyPr/>
            <a:lstStyle/>
            <a:p>
              <a:endParaRPr lang="en-US"/>
            </a:p>
          </p:txBody>
        </p:sp>
        <p:sp>
          <p:nvSpPr>
            <p:cNvPr id="23" name="TextBox 23"/>
            <p:cNvSpPr txBox="1"/>
            <p:nvPr/>
          </p:nvSpPr>
          <p:spPr>
            <a:xfrm>
              <a:off x="0" y="-28575"/>
              <a:ext cx="2712853" cy="416441"/>
            </a:xfrm>
            <a:prstGeom prst="rect">
              <a:avLst/>
            </a:prstGeom>
          </p:spPr>
          <p:txBody>
            <a:bodyPr lIns="50800" tIns="50800" rIns="50800" bIns="50800" rtlCol="0" anchor="ctr"/>
            <a:lstStyle/>
            <a:p>
              <a:pPr algn="ctr">
                <a:lnSpc>
                  <a:spcPts val="1960"/>
                </a:lnSpc>
                <a:spcBef>
                  <a:spcPct val="0"/>
                </a:spcBef>
              </a:pPr>
              <a:endParaRPr/>
            </a:p>
          </p:txBody>
        </p:sp>
      </p:grpSp>
      <p:sp>
        <p:nvSpPr>
          <p:cNvPr id="24" name="TextBox 24"/>
          <p:cNvSpPr txBox="1"/>
          <p:nvPr/>
        </p:nvSpPr>
        <p:spPr>
          <a:xfrm>
            <a:off x="501650" y="7691797"/>
            <a:ext cx="6306891" cy="586379"/>
          </a:xfrm>
          <a:prstGeom prst="rect">
            <a:avLst/>
          </a:prstGeom>
        </p:spPr>
        <p:txBody>
          <a:bodyPr lIns="0" tIns="0" rIns="0" bIns="0" rtlCol="0" anchor="t">
            <a:spAutoFit/>
          </a:bodyPr>
          <a:lstStyle/>
          <a:p>
            <a:pPr algn="ctr">
              <a:lnSpc>
                <a:spcPts val="2362"/>
              </a:lnSpc>
            </a:pPr>
            <a:r>
              <a:rPr lang="en-US" sz="1920" spc="5" dirty="0">
                <a:solidFill>
                  <a:srgbClr val="FFFFFF"/>
                </a:solidFill>
                <a:latin typeface="Montserrat Classic"/>
                <a:ea typeface="Montserrat Classic"/>
                <a:cs typeface="Montserrat Classic"/>
                <a:sym typeface="Montserrat Classic"/>
              </a:rPr>
              <a:t>A Monthly newsletter from Akshayam  focusing on Listed Companies</a:t>
            </a:r>
          </a:p>
        </p:txBody>
      </p:sp>
      <p:sp>
        <p:nvSpPr>
          <p:cNvPr id="25" name="TextBox 25"/>
          <p:cNvSpPr txBox="1"/>
          <p:nvPr/>
        </p:nvSpPr>
        <p:spPr>
          <a:xfrm>
            <a:off x="2635250" y="9146316"/>
            <a:ext cx="4890564" cy="1604029"/>
          </a:xfrm>
          <a:prstGeom prst="rect">
            <a:avLst/>
          </a:prstGeom>
        </p:spPr>
        <p:txBody>
          <a:bodyPr wrap="square" lIns="0" tIns="0" rIns="0" bIns="0" rtlCol="0" anchor="t">
            <a:spAutoFit/>
          </a:bodyPr>
          <a:lstStyle/>
          <a:p>
            <a:pPr algn="just">
              <a:lnSpc>
                <a:spcPts val="1400"/>
              </a:lnSpc>
              <a:spcBef>
                <a:spcPct val="0"/>
              </a:spcBef>
            </a:pPr>
            <a:r>
              <a:rPr lang="en-US" sz="1000" b="1" i="1" dirty="0" err="1">
                <a:solidFill>
                  <a:srgbClr val="FFFFFF"/>
                </a:solidFill>
                <a:latin typeface="Canva Sans Bold Italics"/>
                <a:ea typeface="Canva Sans Bold Italics"/>
                <a:cs typeface="Canva Sans Bold Italics"/>
                <a:sym typeface="Canva Sans Bold Italics"/>
              </a:rPr>
              <a:t>Pravartiya</a:t>
            </a:r>
            <a:r>
              <a:rPr lang="en-US" sz="1000" b="1" i="1" dirty="0">
                <a:solidFill>
                  <a:srgbClr val="FFFFFF"/>
                </a:solidFill>
                <a:latin typeface="Canva Sans Bold Italics"/>
                <a:ea typeface="Canva Sans Bold Italics"/>
                <a:cs typeface="Canva Sans Bold Italics"/>
                <a:sym typeface="Canva Sans Bold Italics"/>
              </a:rPr>
              <a:t> is derived from Sanskrit term  "</a:t>
            </a:r>
            <a:r>
              <a:rPr lang="en-US" sz="1000" b="1" i="1" dirty="0" err="1">
                <a:solidFill>
                  <a:srgbClr val="FFFFFF"/>
                </a:solidFill>
                <a:latin typeface="Canva Sans Bold Italics"/>
                <a:ea typeface="Canva Sans Bold Italics"/>
                <a:cs typeface="Canva Sans Bold Italics"/>
                <a:sym typeface="Canva Sans Bold Italics"/>
              </a:rPr>
              <a:t>Pravritti</a:t>
            </a:r>
            <a:r>
              <a:rPr lang="en-US" sz="1000" b="1" i="1" dirty="0">
                <a:solidFill>
                  <a:srgbClr val="FFFFFF"/>
                </a:solidFill>
                <a:latin typeface="Canva Sans Bold Italics"/>
                <a:ea typeface="Canva Sans Bold Italics"/>
                <a:cs typeface="Canva Sans Bold Italics"/>
                <a:sym typeface="Canva Sans Bold Italics"/>
              </a:rPr>
              <a:t>" (activity or commencement), symbolizing the dissemination of crucial updates particularly in the domain of compliance and regulatory matters. The term suggests not only the initiation of action but also the ongoing flow of information and engagement with the necessary changes or updates.</a:t>
            </a:r>
          </a:p>
          <a:p>
            <a:pPr algn="just">
              <a:lnSpc>
                <a:spcPts val="1400"/>
              </a:lnSpc>
              <a:spcBef>
                <a:spcPct val="0"/>
              </a:spcBef>
            </a:pPr>
            <a:endParaRPr lang="en-US" sz="1000" b="1" i="1" dirty="0">
              <a:solidFill>
                <a:srgbClr val="FFFFFF"/>
              </a:solidFill>
              <a:latin typeface="Canva Sans Bold Italics"/>
              <a:ea typeface="Canva Sans Bold Italics"/>
              <a:cs typeface="Canva Sans Bold Italics"/>
              <a:sym typeface="Canva Sans Bold Italics"/>
            </a:endParaRPr>
          </a:p>
          <a:p>
            <a:pPr algn="just">
              <a:lnSpc>
                <a:spcPts val="1400"/>
              </a:lnSpc>
              <a:spcBef>
                <a:spcPct val="0"/>
              </a:spcBef>
            </a:pPr>
            <a:r>
              <a:rPr lang="en-US" sz="1000" b="1" i="1" dirty="0">
                <a:solidFill>
                  <a:srgbClr val="FFFFFF"/>
                </a:solidFill>
                <a:latin typeface="Canva Sans Bold Italics"/>
                <a:ea typeface="Canva Sans Bold Italics"/>
                <a:cs typeface="Canva Sans Bold Italics"/>
                <a:sym typeface="Canva Sans Bold Italics"/>
              </a:rPr>
              <a:t>In this spirit, Akshayam presents this newsletter to aid listed entities with timely, actionable insights for navigating compliance with clarity. </a:t>
            </a:r>
          </a:p>
          <a:p>
            <a:pPr algn="just">
              <a:lnSpc>
                <a:spcPts val="1400"/>
              </a:lnSpc>
              <a:spcBef>
                <a:spcPct val="0"/>
              </a:spcBef>
            </a:pPr>
            <a:endParaRPr lang="en-US" sz="1000" b="1" i="1" dirty="0">
              <a:solidFill>
                <a:srgbClr val="FFFFFF"/>
              </a:solidFill>
              <a:latin typeface="Canva Sans Bold Italics"/>
              <a:ea typeface="Canva Sans Bold Italics"/>
              <a:cs typeface="Canva Sans Bold Italics"/>
              <a:sym typeface="Canva Sans Bold Italics"/>
            </a:endParaRPr>
          </a:p>
        </p:txBody>
      </p:sp>
      <p:pic>
        <p:nvPicPr>
          <p:cNvPr id="11" name="Picture 10">
            <a:extLst>
              <a:ext uri="{FF2B5EF4-FFF2-40B4-BE49-F238E27FC236}">
                <a16:creationId xmlns:a16="http://schemas.microsoft.com/office/drawing/2014/main" id="{AA59AB90-DA7C-A834-2A22-09AFA21701F8}"/>
              </a:ext>
            </a:extLst>
          </p:cNvPr>
          <p:cNvPicPr>
            <a:picLocks noChangeAspect="1"/>
          </p:cNvPicPr>
          <p:nvPr/>
        </p:nvPicPr>
        <p:blipFill>
          <a:blip r:embed="rId3"/>
          <a:stretch>
            <a:fillRect/>
          </a:stretch>
        </p:blipFill>
        <p:spPr>
          <a:xfrm>
            <a:off x="273050" y="9130990"/>
            <a:ext cx="2057400" cy="1441467"/>
          </a:xfrm>
          <a:prstGeom prst="rect">
            <a:avLst/>
          </a:prstGeom>
        </p:spPr>
      </p:pic>
      <p:sp>
        <p:nvSpPr>
          <p:cNvPr id="10" name="Slide Number Placeholder 9">
            <a:extLst>
              <a:ext uri="{FF2B5EF4-FFF2-40B4-BE49-F238E27FC236}">
                <a16:creationId xmlns:a16="http://schemas.microsoft.com/office/drawing/2014/main" id="{13E56074-7C45-D2EC-2319-7B980B3CCECE}"/>
              </a:ext>
            </a:extLst>
          </p:cNvPr>
          <p:cNvSpPr>
            <a:spLocks noGrp="1"/>
          </p:cNvSpPr>
          <p:nvPr>
            <p:ph type="sldNum" sz="quarter" idx="12"/>
          </p:nvPr>
        </p:nvSpPr>
        <p:spPr/>
        <p:txBody>
          <a:bodyPr/>
          <a:lstStyle/>
          <a:p>
            <a:fld id="{B6F15528-21DE-4FAA-801E-634DDDAF4B2B}"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sp>
        <p:nvSpPr>
          <p:cNvPr id="9" name="Freeform 9"/>
          <p:cNvSpPr/>
          <p:nvPr/>
        </p:nvSpPr>
        <p:spPr>
          <a:xfrm>
            <a:off x="0" y="91896"/>
            <a:ext cx="7569820" cy="1308974"/>
          </a:xfrm>
          <a:custGeom>
            <a:avLst/>
            <a:gdLst/>
            <a:ahLst/>
            <a:cxnLst/>
            <a:rect l="l" t="t" r="r" b="b"/>
            <a:pathLst>
              <a:path w="2712853" h="505216">
                <a:moveTo>
                  <a:pt x="0" y="0"/>
                </a:moveTo>
                <a:lnTo>
                  <a:pt x="2712853" y="0"/>
                </a:lnTo>
                <a:lnTo>
                  <a:pt x="2712853" y="505216"/>
                </a:lnTo>
                <a:lnTo>
                  <a:pt x="0" y="505216"/>
                </a:lnTo>
                <a:close/>
              </a:path>
            </a:pathLst>
          </a:custGeom>
          <a:solidFill>
            <a:schemeClr val="tx2"/>
          </a:solidFill>
        </p:spPr>
        <p:txBody>
          <a:bodyPr/>
          <a:lstStyle/>
          <a:p>
            <a:endParaRPr lang="en-US" dirty="0"/>
          </a:p>
        </p:txBody>
      </p:sp>
      <p:grpSp>
        <p:nvGrpSpPr>
          <p:cNvPr id="11" name="Group 11"/>
          <p:cNvGrpSpPr/>
          <p:nvPr/>
        </p:nvGrpSpPr>
        <p:grpSpPr>
          <a:xfrm>
            <a:off x="0" y="0"/>
            <a:ext cx="7560000" cy="91895"/>
            <a:chOff x="0" y="0"/>
            <a:chExt cx="2709333" cy="32933"/>
          </a:xfrm>
          <a:solidFill>
            <a:srgbClr val="00B0F0"/>
          </a:solidFill>
        </p:grpSpPr>
        <p:sp>
          <p:nvSpPr>
            <p:cNvPr id="12" name="Freeform 12"/>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p:cNvSpPr txBox="1"/>
          <p:nvPr/>
        </p:nvSpPr>
        <p:spPr>
          <a:xfrm>
            <a:off x="230983" y="1537364"/>
            <a:ext cx="7081214" cy="246221"/>
          </a:xfrm>
          <a:prstGeom prst="rect">
            <a:avLst/>
          </a:prstGeom>
        </p:spPr>
        <p:txBody>
          <a:bodyPr lIns="0" tIns="0" rIns="0" bIns="0" rtlCol="0" anchor="t">
            <a:spAutoFit/>
          </a:bodyPr>
          <a:lstStyle/>
          <a:p>
            <a:pPr algn="just">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1200" b="1" spc="3" dirty="0">
              <a:solidFill>
                <a:srgbClr val="000000"/>
              </a:solidFill>
              <a:latin typeface="Montserrat Classic Bold"/>
              <a:ea typeface="Montserrat Classic Bold"/>
              <a:cs typeface="Montserrat Classic Bold"/>
              <a:sym typeface="Montserrat Classic Bold"/>
            </a:endParaRPr>
          </a:p>
        </p:txBody>
      </p:sp>
      <p:sp>
        <p:nvSpPr>
          <p:cNvPr id="15" name="TextBox 15"/>
          <p:cNvSpPr txBox="1"/>
          <p:nvPr/>
        </p:nvSpPr>
        <p:spPr>
          <a:xfrm>
            <a:off x="371997" y="10119945"/>
            <a:ext cx="7081214" cy="391389"/>
          </a:xfrm>
          <a:prstGeom prst="rect">
            <a:avLst/>
          </a:prstGeom>
        </p:spPr>
        <p:txBody>
          <a:bodyPr lIns="0" tIns="0" rIns="0" bIns="0" rtlCol="0" anchor="t">
            <a:spAutoFit/>
          </a:bodyPr>
          <a:lstStyle/>
          <a:p>
            <a:pPr algn="ctr">
              <a:lnSpc>
                <a:spcPts val="1598"/>
              </a:lnSpc>
            </a:pPr>
            <a:r>
              <a:rPr lang="en-US" sz="1299" b="1" spc="3" dirty="0">
                <a:solidFill>
                  <a:srgbClr val="FFFFFF">
                    <a:alpha val="60000"/>
                  </a:srgbClr>
                </a:solidFill>
                <a:latin typeface="Montserrat Classic Bold"/>
                <a:ea typeface="Montserrat Classic Bold"/>
                <a:cs typeface="Montserrat Classic Bold"/>
                <a:sym typeface="Montserrat Classic Bold"/>
              </a:rPr>
              <a:t> </a:t>
            </a: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2 of 19</a:t>
            </a:r>
          </a:p>
          <a:p>
            <a:pPr algn="ctr">
              <a:lnSpc>
                <a:spcPts val="1598"/>
              </a:lnSpc>
            </a:pPr>
            <a:endParaRPr lang="en-US" sz="1299" b="1" spc="3" dirty="0">
              <a:solidFill>
                <a:srgbClr val="FFFFFF">
                  <a:alpha val="60000"/>
                </a:srgbClr>
              </a:solidFill>
              <a:latin typeface="Montserrat Classic Bold"/>
              <a:ea typeface="Montserrat Classic Bold"/>
              <a:cs typeface="Montserrat Classic Bold"/>
              <a:sym typeface="Montserrat Classic Bold"/>
            </a:endParaRPr>
          </a:p>
        </p:txBody>
      </p:sp>
      <p:sp>
        <p:nvSpPr>
          <p:cNvPr id="31" name="TextBox 30">
            <a:extLst>
              <a:ext uri="{FF2B5EF4-FFF2-40B4-BE49-F238E27FC236}">
                <a16:creationId xmlns:a16="http://schemas.microsoft.com/office/drawing/2014/main" id="{E65D1568-0A2F-4CE9-74DF-DCE53D681004}"/>
              </a:ext>
            </a:extLst>
          </p:cNvPr>
          <p:cNvSpPr txBox="1"/>
          <p:nvPr/>
        </p:nvSpPr>
        <p:spPr>
          <a:xfrm>
            <a:off x="109949" y="1725927"/>
            <a:ext cx="7349922" cy="3583289"/>
          </a:xfrm>
          <a:prstGeom prst="rect">
            <a:avLst/>
          </a:prstGeom>
          <a:noFill/>
        </p:spPr>
        <p:txBody>
          <a:bodyPr wrap="square">
            <a:spAutoFit/>
          </a:bodyPr>
          <a:lstStyle/>
          <a:p>
            <a:r>
              <a:t>This edition captures key updates from SEBI and Listed Companies issued during July, grouped by relevance to ensure actionable insights. Our aim is to support your governance journey and reinforce transparency across your operations.</a:t>
            </a:r>
          </a:p>
          <a:p>
            <a:r>
              <a:t>Let divine blessings illuminate our path as we foster integrity, accountability, and principled action in every endeavour</a:t>
            </a:r>
          </a:p>
          <a:p>
            <a:r>
              <a:t>FOR LISTED ENTITIES </a:t>
            </a:r>
          </a:p>
          <a:p/>
          <a:p>
            <a:r>
              <a:t>  </a:t>
            </a:r>
          </a:p>
          <a:p/>
        </p:txBody>
      </p:sp>
      <p:sp>
        <p:nvSpPr>
          <p:cNvPr id="33" name="TextBox 32">
            <a:extLst>
              <a:ext uri="{FF2B5EF4-FFF2-40B4-BE49-F238E27FC236}">
                <a16:creationId xmlns:a16="http://schemas.microsoft.com/office/drawing/2014/main" id="{5B2CAF88-C710-FBDB-FCE0-EB1A648302E7}"/>
              </a:ext>
            </a:extLst>
          </p:cNvPr>
          <p:cNvSpPr txBox="1"/>
          <p:nvPr/>
        </p:nvSpPr>
        <p:spPr>
          <a:xfrm>
            <a:off x="230982" y="2700827"/>
            <a:ext cx="6629400" cy="358816"/>
          </a:xfrm>
          <a:prstGeom prst="rect">
            <a:avLst/>
          </a:prstGeom>
          <a:noFill/>
        </p:spPr>
        <p:txBody>
          <a:bodyPr wrap="square">
            <a:spAutoFit/>
          </a:bodyPr>
          <a:lstStyle/>
          <a:p>
            <a:pPr lvl="0" algn="just">
              <a:lnSpc>
                <a:spcPct val="115000"/>
              </a:lnSpc>
            </a:pPr>
            <a:endParaRPr lang="en-IN" sz="1600" kern="100" dirty="0">
              <a:effectLst/>
              <a:ea typeface="Aptos" panose="020B0004020202020204" pitchFamily="34" charset="0"/>
              <a:cs typeface="Times New Roman" panose="02020603050405020304" pitchFamily="18" charset="0"/>
            </a:endParaRPr>
          </a:p>
        </p:txBody>
      </p:sp>
      <p:sp>
        <p:nvSpPr>
          <p:cNvPr id="18" name="TextBox 10"/>
          <p:cNvSpPr txBox="1"/>
          <p:nvPr/>
        </p:nvSpPr>
        <p:spPr>
          <a:xfrm>
            <a:off x="0" y="17860"/>
            <a:ext cx="7569820" cy="1383010"/>
          </a:xfrm>
          <a:prstGeom prst="rect">
            <a:avLst/>
          </a:prstGeom>
          <a:solidFill>
            <a:schemeClr val="tx2"/>
          </a:solidFill>
        </p:spPr>
        <p:txBody>
          <a:bodyPr lIns="50800" tIns="50800" rIns="50800" bIns="50800" rtlCol="0" anchor="ctr"/>
          <a:lstStyle/>
          <a:p>
            <a:pPr algn="ctr">
              <a:lnSpc>
                <a:spcPts val="1960"/>
              </a:lnSpc>
            </a:pPr>
            <a:r>
              <a:rPr lang="en-IN" sz="2800" b="1" u="sng" kern="100">
                <a:solidFill>
                  <a:schemeClr val="bg1"/>
                </a:solidFill>
                <a:latin typeface="Calibri" panose="020F0502020204030204" pitchFamily="34" charset="0"/>
                <a:ea typeface="Aptos" panose="020B0004020202020204" pitchFamily="34" charset="0"/>
                <a:cs typeface="Times New Roman" panose="02020603050405020304" pitchFamily="18" charset="0"/>
              </a:rPr>
              <a:t>INDEX</a:t>
            </a:r>
            <a:endParaRPr lang="en-IN"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882E317A-E6C8-1577-3225-8FB2BDDB6093}"/>
              </a:ext>
            </a:extLst>
          </p:cNvPr>
          <p:cNvPicPr>
            <a:picLocks noChangeAspect="1"/>
          </p:cNvPicPr>
          <p:nvPr/>
        </p:nvPicPr>
        <p:blipFill>
          <a:blip r:embed="rId2"/>
          <a:stretch>
            <a:fillRect/>
          </a:stretch>
        </p:blipFill>
        <p:spPr>
          <a:xfrm>
            <a:off x="5605461" y="124648"/>
            <a:ext cx="1706736" cy="1159053"/>
          </a:xfrm>
          <a:prstGeom prst="rect">
            <a:avLst/>
          </a:prstGeom>
        </p:spPr>
      </p:pic>
      <p:sp>
        <p:nvSpPr>
          <p:cNvPr id="2" name="Slide Number Placeholder 1">
            <a:extLst>
              <a:ext uri="{FF2B5EF4-FFF2-40B4-BE49-F238E27FC236}">
                <a16:creationId xmlns:a16="http://schemas.microsoft.com/office/drawing/2014/main" id="{B04C6D90-66FE-6977-FA89-0863A744C7CE}"/>
              </a:ext>
            </a:extLst>
          </p:cNvPr>
          <p:cNvSpPr>
            <a:spLocks noGrp="1"/>
          </p:cNvSpPr>
          <p:nvPr>
            <p:ph type="sldNum" sz="quarter" idx="12"/>
          </p:nvPr>
        </p:nvSpPr>
        <p:spPr/>
        <p:txBody>
          <a:bodyPr/>
          <a:lstStyle/>
          <a:p>
            <a:fld id="{B6F15528-21DE-4FAA-801E-634DDDAF4B2B}" type="slidenum">
              <a:rPr lang="en-US" smtClean="0"/>
              <a:pPr/>
              <a:t>2</a:t>
            </a:fld>
            <a:endParaRPr lang="en-US" dirty="0"/>
          </a:p>
        </p:txBody>
      </p:sp>
      <p:sp>
        <p:nvSpPr>
          <p:cNvPr id="34" name="TextBox 33"/>
          <p:cNvSpPr txBox="1"/>
          <p:nvPr/>
        </p:nvSpPr>
        <p:spPr>
          <a:xfrm>
            <a:off x="457200" y="4114800"/>
            <a:ext cx="6583680" cy="4572000"/>
          </a:xfrm>
          <a:prstGeom prst="rect">
            <a:avLst/>
          </a:prstGeom>
          <a:noFill/>
        </p:spPr>
        <p:txBody>
          <a:bodyPr wrap="square">
            <a:spAutoFit/>
          </a:bodyPr>
          <a:lstStyle/>
          <a:p>
            <a:br/>
            <a:pPr>
              <a:defRPr b="1" u="sng" sz="1600">
                <a:solidFill>
                  <a:srgbClr val="002060"/>
                </a:solidFill>
              </a:defRPr>
            </a:pPr>
            <a:r>
              <a:t>REGULATIONS:</a:t>
            </a:r>
          </a:p>
          <a:p>
            <a:pPr>
              <a:spcAft>
                <a:spcPts val="600"/>
              </a:spcAft>
              <a:defRPr sz="1200"/>
            </a:pPr>
            <a:r>
              <a:t>➢ Securities and Exchange Board of India (Listing Obligations and Disclosure Requirements) (Second Amendment) Regulations, 2026</a:t>
            </a:r>
          </a:p>
          <a:p>
            <a:pPr>
              <a:spcAft>
                <a:spcPts val="600"/>
              </a:spcAft>
              <a:defRPr sz="1200"/>
            </a:pPr>
            <a:r>
              <a:t>➢ Securities and Exchange Board of India (Employees' Service) (Amendment) Regulations, 2026</a:t>
            </a:r>
          </a:p>
          <a:p>
            <a:br/>
            <a:pPr>
              <a:defRPr b="1" u="sng" sz="1600">
                <a:solidFill>
                  <a:srgbClr val="002060"/>
                </a:solidFill>
              </a:defRPr>
            </a:pPr>
            <a:r>
              <a:t>PRESS RELEASE:</a:t>
            </a:r>
          </a:p>
          <a:p>
            <a:pPr>
              <a:spcAft>
                <a:spcPts val="600"/>
              </a:spcAft>
              <a:defRPr sz="1200"/>
            </a:pPr>
            <a:r>
              <a:t>➢ SEBI Launches Two New Investor Awareness Videos to Promote Corporate Bond Market Awareness</a:t>
            </a:r>
          </a:p>
          <a:p>
            <a:pPr>
              <a:spcAft>
                <a:spcPts val="600"/>
              </a:spcAft>
              <a:defRPr sz="1200"/>
            </a:pPr>
            <a:r>
              <a:t>➢ SETTLEMENT HELPDESK FACILITY</a:t>
            </a:r>
          </a:p>
          <a:p>
            <a:br/>
            <a:pPr>
              <a:defRPr b="1" u="sng" sz="1600">
                <a:solidFill>
                  <a:srgbClr val="002060"/>
                </a:solidFill>
              </a:defRPr>
            </a:pPr>
            <a:r>
              <a:t>CONSULTATION PAPER:</a:t>
            </a:r>
          </a:p>
          <a:p>
            <a:pPr>
              <a:spcAft>
                <a:spcPts val="600"/>
              </a:spcAft>
              <a:defRPr sz="1200"/>
            </a:pPr>
            <a:r>
              <a:t>➢ Consultation Paper on Streamlining the Online Dispute Resolution Framework in Indian Securities Market</a:t>
            </a:r>
          </a:p>
          <a:p>
            <a:pPr>
              <a:spcAft>
                <a:spcPts val="600"/>
              </a:spcAft>
              <a:defRPr sz="1200"/>
            </a:pPr>
            <a:r>
              <a:t>➢ Consultation Paper on Comprehensive Review of SEBI (Portfolio Managers) Regulations, 2020</a:t>
            </a:r>
          </a:p>
          <a:p>
            <a:br/>
            <a:pPr>
              <a:defRPr b="1" u="sng" sz="1600">
                <a:solidFill>
                  <a:srgbClr val="002060"/>
                </a:solidFill>
              </a:defRPr>
            </a:pPr>
            <a:r>
              <a:t>MASTER CIRCULAR:</a:t>
            </a:r>
          </a:p>
          <a:p>
            <a:pPr>
              <a:spcAft>
                <a:spcPts val="600"/>
              </a:spcAft>
              <a:defRPr sz="1200"/>
            </a:pPr>
            <a:r>
              <a:t>➢ Master Circular for Merchant Bankers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5D43D0FC-F3AA-A652-2C27-523F9E41EE54}"/>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4F55D29A-E1DB-4EF3-DCB8-3A28EC2D5110}"/>
              </a:ext>
            </a:extLst>
          </p:cNvPr>
          <p:cNvSpPr/>
          <p:nvPr/>
        </p:nvSpPr>
        <p:spPr>
          <a:xfrm>
            <a:off x="0" y="91896"/>
            <a:ext cx="7569820" cy="1308974"/>
          </a:xfrm>
          <a:custGeom>
            <a:avLst/>
            <a:gdLst/>
            <a:ahLst/>
            <a:cxnLst/>
            <a:rect l="l" t="t" r="r" b="b"/>
            <a:pathLst>
              <a:path w="2712853" h="505216">
                <a:moveTo>
                  <a:pt x="0" y="0"/>
                </a:moveTo>
                <a:lnTo>
                  <a:pt x="2712853" y="0"/>
                </a:lnTo>
                <a:lnTo>
                  <a:pt x="2712853" y="505216"/>
                </a:lnTo>
                <a:lnTo>
                  <a:pt x="0" y="505216"/>
                </a:lnTo>
                <a:close/>
              </a:path>
            </a:pathLst>
          </a:custGeom>
          <a:solidFill>
            <a:schemeClr val="tx2"/>
          </a:solidFill>
        </p:spPr>
        <p:txBody>
          <a:bodyPr/>
          <a:lstStyle/>
          <a:p>
            <a:endParaRPr lang="en-US" dirty="0"/>
          </a:p>
        </p:txBody>
      </p:sp>
      <p:grpSp>
        <p:nvGrpSpPr>
          <p:cNvPr id="11" name="Group 11">
            <a:extLst>
              <a:ext uri="{FF2B5EF4-FFF2-40B4-BE49-F238E27FC236}">
                <a16:creationId xmlns:a16="http://schemas.microsoft.com/office/drawing/2014/main" id="{2274EB0C-1F3D-71D2-F728-1CCC1D3A27CE}"/>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D3F63C58-5958-944B-AA73-10A32D56B0C2}"/>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9BA410C3-41CA-CF9C-6E62-0D9BE4754D0F}"/>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418F693A-0569-085E-CF03-72FC21E8DC9D}"/>
              </a:ext>
            </a:extLst>
          </p:cNvPr>
          <p:cNvSpPr txBox="1"/>
          <p:nvPr/>
        </p:nvSpPr>
        <p:spPr>
          <a:xfrm>
            <a:off x="230983" y="1537364"/>
            <a:ext cx="7081214" cy="246221"/>
          </a:xfrm>
          <a:prstGeom prst="rect">
            <a:avLst/>
          </a:prstGeom>
        </p:spPr>
        <p:txBody>
          <a:bodyPr lIns="0" tIns="0" rIns="0" bIns="0" rtlCol="0" anchor="t">
            <a:spAutoFit/>
          </a:bodyPr>
          <a:lstStyle/>
          <a:p>
            <a:pPr algn="just">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1200" b="1" spc="3" dirty="0">
              <a:solidFill>
                <a:srgbClr val="000000"/>
              </a:solidFill>
              <a:latin typeface="Montserrat Classic Bold"/>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75FB7D13-610D-E741-80D8-B67D6D7EF22F}"/>
              </a:ext>
            </a:extLst>
          </p:cNvPr>
          <p:cNvSpPr txBox="1"/>
          <p:nvPr/>
        </p:nvSpPr>
        <p:spPr>
          <a:xfrm>
            <a:off x="371997" y="10119945"/>
            <a:ext cx="7081214" cy="391389"/>
          </a:xfrm>
          <a:prstGeom prst="rect">
            <a:avLst/>
          </a:prstGeom>
        </p:spPr>
        <p:txBody>
          <a:bodyPr lIns="0" tIns="0" rIns="0" bIns="0" rtlCol="0" anchor="t">
            <a:spAutoFit/>
          </a:bodyPr>
          <a:lstStyle/>
          <a:p>
            <a:pPr algn="ctr">
              <a:lnSpc>
                <a:spcPts val="1598"/>
              </a:lnSpc>
            </a:pPr>
            <a:r>
              <a:rPr lang="en-US" sz="1299" b="1" spc="3" dirty="0">
                <a:solidFill>
                  <a:srgbClr val="FFFFFF">
                    <a:alpha val="60000"/>
                  </a:srgbClr>
                </a:solidFill>
                <a:latin typeface="Montserrat Classic Bold"/>
                <a:ea typeface="Montserrat Classic Bold"/>
                <a:cs typeface="Montserrat Classic Bold"/>
                <a:sym typeface="Montserrat Classic Bold"/>
              </a:rPr>
              <a:t> </a:t>
            </a: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3 of 19 </a:t>
            </a:r>
          </a:p>
          <a:p>
            <a:pPr algn="ctr">
              <a:lnSpc>
                <a:spcPts val="1598"/>
              </a:lnSpc>
            </a:pPr>
            <a:endParaRPr lang="en-US" sz="1299" b="1" spc="3" dirty="0">
              <a:solidFill>
                <a:srgbClr val="FFFFFF">
                  <a:alpha val="60000"/>
                </a:srgbClr>
              </a:solidFill>
              <a:latin typeface="Montserrat Classic Bold"/>
              <a:ea typeface="Montserrat Classic Bold"/>
              <a:cs typeface="Montserrat Classic Bold"/>
              <a:sym typeface="Montserrat Classic Bold"/>
            </a:endParaRPr>
          </a:p>
        </p:txBody>
      </p:sp>
      <p:sp>
        <p:nvSpPr>
          <p:cNvPr id="31" name="TextBox 30">
            <a:extLst>
              <a:ext uri="{FF2B5EF4-FFF2-40B4-BE49-F238E27FC236}">
                <a16:creationId xmlns:a16="http://schemas.microsoft.com/office/drawing/2014/main" id="{CE210C6A-462C-991F-2D45-EB1BDDD8828B}"/>
              </a:ext>
            </a:extLst>
          </p:cNvPr>
          <p:cNvSpPr txBox="1"/>
          <p:nvPr/>
        </p:nvSpPr>
        <p:spPr>
          <a:xfrm>
            <a:off x="206578" y="1604977"/>
            <a:ext cx="7081214" cy="895373"/>
          </a:xfrm>
          <a:prstGeom prst="rect">
            <a:avLst/>
          </a:prstGeom>
          <a:noFill/>
        </p:spPr>
        <p:txBody>
          <a:bodyPr wrap="square">
            <a:spAutoFit/>
          </a:bodyPr>
          <a:lstStyle/>
          <a:p>
            <a:pPr marL="285750" indent="-285750">
              <a:lnSpc>
                <a:spcPct val="150000"/>
              </a:lnSpc>
              <a:spcAft>
                <a:spcPts val="800"/>
              </a:spcAft>
              <a:buFont typeface="Arial" panose="020B0604020202020204" pitchFamily="34" charset="0"/>
              <a:buChar char="•"/>
            </a:pPr>
            <a:endParaRPr lang="en-US" sz="1600" b="1" u="sng" kern="100" dirty="0">
              <a:solidFill>
                <a:srgbClr val="002060"/>
              </a:solidFill>
              <a:cs typeface="Times New Roman" panose="02020603050405020304" pitchFamily="18" charset="0"/>
            </a:endParaRPr>
          </a:p>
          <a:p>
            <a:pPr algn="just">
              <a:lnSpc>
                <a:spcPct val="150000"/>
              </a:lnSpc>
              <a:spcAft>
                <a:spcPts val="800"/>
              </a:spcAft>
            </a:pPr>
            <a:endParaRPr lang="en-US" sz="1600" kern="100" dirty="0">
              <a:solidFill>
                <a:srgbClr val="002060"/>
              </a:solidFill>
              <a:cs typeface="Times New Roman" panose="02020603050405020304" pitchFamily="18" charset="0"/>
            </a:endParaRPr>
          </a:p>
        </p:txBody>
      </p:sp>
      <p:sp>
        <p:nvSpPr>
          <p:cNvPr id="33" name="TextBox 32">
            <a:extLst>
              <a:ext uri="{FF2B5EF4-FFF2-40B4-BE49-F238E27FC236}">
                <a16:creationId xmlns:a16="http://schemas.microsoft.com/office/drawing/2014/main" id="{8EDDEE75-E309-5599-8007-F4AEE4BD1515}"/>
              </a:ext>
            </a:extLst>
          </p:cNvPr>
          <p:cNvSpPr txBox="1"/>
          <p:nvPr/>
        </p:nvSpPr>
        <p:spPr>
          <a:xfrm>
            <a:off x="682797" y="4371308"/>
            <a:ext cx="6629400" cy="358816"/>
          </a:xfrm>
          <a:prstGeom prst="rect">
            <a:avLst/>
          </a:prstGeom>
          <a:noFill/>
        </p:spPr>
        <p:txBody>
          <a:bodyPr wrap="square">
            <a:spAutoFit/>
          </a:bodyPr>
          <a:lstStyle/>
          <a:p>
            <a:pPr lvl="0" algn="just">
              <a:lnSpc>
                <a:spcPct val="115000"/>
              </a:lnSpc>
            </a:pPr>
            <a:endParaRPr lang="en-IN" sz="1600" kern="100" dirty="0">
              <a:effectLst/>
              <a:ea typeface="Aptos" panose="020B0004020202020204" pitchFamily="34" charset="0"/>
              <a:cs typeface="Times New Roman" panose="02020603050405020304" pitchFamily="18" charset="0"/>
            </a:endParaRPr>
          </a:p>
        </p:txBody>
      </p:sp>
      <p:sp>
        <p:nvSpPr>
          <p:cNvPr id="18" name="TextBox 10">
            <a:extLst>
              <a:ext uri="{FF2B5EF4-FFF2-40B4-BE49-F238E27FC236}">
                <a16:creationId xmlns:a16="http://schemas.microsoft.com/office/drawing/2014/main" id="{6F0588AA-CE31-502D-E515-FC56E7D1567E}"/>
              </a:ext>
            </a:extLst>
          </p:cNvPr>
          <p:cNvSpPr txBox="1"/>
          <p:nvPr/>
        </p:nvSpPr>
        <p:spPr>
          <a:xfrm>
            <a:off x="0" y="17860"/>
            <a:ext cx="7569820" cy="1383010"/>
          </a:xfrm>
          <a:prstGeom prst="rect">
            <a:avLst/>
          </a:prstGeom>
          <a:solidFill>
            <a:schemeClr val="tx2"/>
          </a:solidFill>
        </p:spPr>
        <p:txBody>
          <a:bodyPr lIns="50800" tIns="50800" rIns="50800" bIns="50800" rtlCol="0" anchor="ctr"/>
          <a:lstStyle/>
          <a:p>
            <a:pPr algn="ctr">
              <a:lnSpc>
                <a:spcPts val="1960"/>
              </a:lnSpc>
            </a:pPr>
            <a:r>
              <a:rPr lang="en-IN" sz="2800" b="1" u="sng" kern="100">
                <a:solidFill>
                  <a:schemeClr val="bg1"/>
                </a:solidFill>
                <a:latin typeface="Calibri" panose="020F0502020204030204" pitchFamily="34" charset="0"/>
                <a:ea typeface="Aptos" panose="020B0004020202020204" pitchFamily="34" charset="0"/>
                <a:cs typeface="Times New Roman" panose="02020603050405020304" pitchFamily="18" charset="0"/>
              </a:rPr>
              <a:t>INDEX</a:t>
            </a:r>
            <a:endParaRPr lang="en-IN"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27E29C8F-7CEE-AF9A-01C7-39334E220BDA}"/>
              </a:ext>
            </a:extLst>
          </p:cNvPr>
          <p:cNvPicPr>
            <a:picLocks noChangeAspect="1"/>
          </p:cNvPicPr>
          <p:nvPr/>
        </p:nvPicPr>
        <p:blipFill>
          <a:blip r:embed="rId2"/>
          <a:stretch>
            <a:fillRect/>
          </a:stretch>
        </p:blipFill>
        <p:spPr>
          <a:xfrm>
            <a:off x="5605461" y="124648"/>
            <a:ext cx="1706736" cy="1159053"/>
          </a:xfrm>
          <a:prstGeom prst="rect">
            <a:avLst/>
          </a:prstGeom>
        </p:spPr>
      </p:pic>
      <p:sp>
        <p:nvSpPr>
          <p:cNvPr id="2" name="Slide Number Placeholder 1">
            <a:extLst>
              <a:ext uri="{FF2B5EF4-FFF2-40B4-BE49-F238E27FC236}">
                <a16:creationId xmlns:a16="http://schemas.microsoft.com/office/drawing/2014/main" id="{24D13AA5-AB8B-2868-E8A4-87CAAC05F09A}"/>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34" name="TextBox 33"/>
          <p:cNvSpPr txBox="1"/>
          <p:nvPr/>
        </p:nvSpPr>
        <p:spPr>
          <a:xfrm>
            <a:off x="457200" y="1828800"/>
            <a:ext cx="6583680" cy="7315200"/>
          </a:xfrm>
          <a:prstGeom prst="rect">
            <a:avLst/>
          </a:prstGeom>
          <a:noFill/>
        </p:spPr>
        <p:txBody>
          <a:bodyPr wrap="square">
            <a:spAutoFit/>
          </a:bodyPr>
          <a:lstStyle/>
          <a:p>
            <a:br/>
            <a:pPr>
              <a:defRPr b="1" u="sng" sz="1600">
                <a:solidFill>
                  <a:srgbClr val="002060"/>
                </a:solidFill>
              </a:defRPr>
            </a:pPr>
            <a:r>
              <a:t>INFORMAL GUIDANCE:</a:t>
            </a:r>
          </a:p>
          <a:p>
            <a:pPr>
              <a:spcAft>
                <a:spcPts val="600"/>
              </a:spcAft>
              <a:defRPr sz="1200"/>
            </a:pPr>
            <a:r>
              <a:t>➢ Request for Informal Guidance under the Securities and Exchange Board of India (Informal Guidance) Scheme, 2025 received from IDBI Bank Limited in relation to sale of equity shares of various unlisted companies held by IDBI Bank Limited to non-QIB investors</a:t>
            </a:r>
          </a:p>
          <a:p>
            <a:pPr>
              <a:spcAft>
                <a:spcPts val="600"/>
              </a:spcAft>
              <a:defRPr sz="1200"/>
            </a:pPr>
            <a:r>
              <a:t>➢ Request for Informal Guidance under the Securities and Exchange Board of India (Informal Guidance) Scheme, 2025 received from Ananya Finance for Inclusive Growth Private Limited in relation to Regulation 62A of the Securities and Exchange Board of India (Listing Obligations and Disclosure Requirements) Regulations, 2015</a:t>
            </a:r>
          </a:p>
          <a:p>
            <a:pPr>
              <a:spcAft>
                <a:spcPts val="600"/>
              </a:spcAft>
              <a:defRPr sz="1200"/>
            </a:pPr>
            <a:r>
              <a:t>➢ Request for Informal Guidance under the Securities and Exchange Board of India (Informal Guidance) Scheme, 2025 received from Sundaram Alternate Assets Limited in relation to Regulation 24(3A) of the Securities and Exchange Board of India (Portfolio Managers) Regulations, 2020 read with paragraph 3.4 of the Master Circular for Portfolio Managers dated July 16, 2025</a:t>
            </a:r>
          </a:p>
          <a:p>
            <a:br/>
            <a:pPr>
              <a:defRPr b="1" u="sng" sz="1600">
                <a:solidFill>
                  <a:srgbClr val="002060"/>
                </a:solidFill>
              </a:defRPr>
            </a:pPr>
            <a:r>
              <a:t>CIRCULAR-BSE:</a:t>
            </a:r>
          </a:p>
          <a:p>
            <a:pPr>
              <a:spcAft>
                <a:spcPts val="600"/>
              </a:spcAft>
              <a:defRPr sz="1200"/>
            </a:pPr>
            <a:r>
              <a:t>➢ SEBI (Listing Obligations and Disclosure Requirements) (Second Amendment) Regulations, 2026</a:t>
            </a:r>
          </a:p>
          <a:p>
            <a:br/>
            <a:pPr>
              <a:defRPr b="1" u="sng" sz="1600">
                <a:solidFill>
                  <a:srgbClr val="002060"/>
                </a:solidFill>
              </a:defRPr>
            </a:pPr>
            <a:r>
              <a:t>CIRCULAR-NSE:</a:t>
            </a:r>
          </a:p>
          <a:p>
            <a:pPr>
              <a:spcAft>
                <a:spcPts val="600"/>
              </a:spcAft>
              <a:defRPr sz="1200"/>
            </a:pPr>
            <a:r>
              <a:t>➢ FAQs on Filing of Corporate Action as per SEBI (LODR) Regulations, 2015</a:t>
            </a:r>
          </a:p>
          <a:p>
            <a:pPr>
              <a:spcAft>
                <a:spcPts val="600"/>
              </a:spcAft>
              <a:defRPr sz="1200"/>
            </a:pPr>
            <a:r>
              <a:t>➢ Norms for Base Price, Price Bands, Call Auction in pre-open session and Close-out procedure for Exchange Traded Funds (ETFs)</a:t>
            </a:r>
          </a:p>
        </p:txBody>
      </p:sp>
    </p:spTree>
    <p:extLst>
      <p:ext uri="{BB962C8B-B14F-4D97-AF65-F5344CB8AC3E}">
        <p14:creationId xmlns:p14="http://schemas.microsoft.com/office/powerpoint/2010/main" val="3263285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AA94FDAB-C0E1-AA34-7E9E-D884927F19DF}"/>
            </a:ext>
          </a:extLst>
        </p:cNvPr>
        <p:cNvGrpSpPr/>
        <p:nvPr/>
      </p:nvGrpSpPr>
      <p:grpSpPr>
        <a:xfrm>
          <a:off x="0" y="0"/>
          <a:ext cx="0" cy="0"/>
          <a:chOff x="0" y="0"/>
          <a:chExt cx="0" cy="0"/>
        </a:xfrm>
      </p:grpSpPr>
      <p:grpSp>
        <p:nvGrpSpPr>
          <p:cNvPr id="8" name="Group 8">
            <a:extLst>
              <a:ext uri="{FF2B5EF4-FFF2-40B4-BE49-F238E27FC236}">
                <a16:creationId xmlns:a16="http://schemas.microsoft.com/office/drawing/2014/main" id="{26C9E441-C00F-1D83-DA36-608BD11F64CB}"/>
              </a:ext>
            </a:extLst>
          </p:cNvPr>
          <p:cNvGrpSpPr/>
          <p:nvPr/>
        </p:nvGrpSpPr>
        <p:grpSpPr>
          <a:xfrm>
            <a:off x="0" y="17860"/>
            <a:ext cx="7569820" cy="1383010"/>
            <a:chOff x="0" y="-28575"/>
            <a:chExt cx="2712853" cy="533791"/>
          </a:xfrm>
          <a:solidFill>
            <a:schemeClr val="tx2"/>
          </a:solidFill>
        </p:grpSpPr>
        <p:sp>
          <p:nvSpPr>
            <p:cNvPr id="9" name="Freeform 9">
              <a:extLst>
                <a:ext uri="{FF2B5EF4-FFF2-40B4-BE49-F238E27FC236}">
                  <a16:creationId xmlns:a16="http://schemas.microsoft.com/office/drawing/2014/main" id="{C5B81A88-6DC2-84FE-28FD-B8D2B0043052}"/>
                </a:ext>
              </a:extLst>
            </p:cNvPr>
            <p:cNvSpPr/>
            <p:nvPr/>
          </p:nvSpPr>
          <p:spPr>
            <a:xfrm>
              <a:off x="0" y="0"/>
              <a:ext cx="2712853" cy="505216"/>
            </a:xfrm>
            <a:custGeom>
              <a:avLst/>
              <a:gdLst/>
              <a:ahLst/>
              <a:cxnLst/>
              <a:rect l="l" t="t" r="r" b="b"/>
              <a:pathLst>
                <a:path w="2712853" h="505216">
                  <a:moveTo>
                    <a:pt x="0" y="0"/>
                  </a:moveTo>
                  <a:lnTo>
                    <a:pt x="2712853" y="0"/>
                  </a:lnTo>
                  <a:lnTo>
                    <a:pt x="2712853" y="505216"/>
                  </a:lnTo>
                  <a:lnTo>
                    <a:pt x="0" y="505216"/>
                  </a:lnTo>
                  <a:close/>
                </a:path>
              </a:pathLst>
            </a:custGeom>
            <a:grpFill/>
          </p:spPr>
          <p:txBody>
            <a:bodyPr/>
            <a:lstStyle/>
            <a:p>
              <a:endParaRPr lang="en-US" dirty="0"/>
            </a:p>
          </p:txBody>
        </p:sp>
        <p:sp>
          <p:nvSpPr>
            <p:cNvPr id="10" name="TextBox 10">
              <a:extLst>
                <a:ext uri="{FF2B5EF4-FFF2-40B4-BE49-F238E27FC236}">
                  <a16:creationId xmlns:a16="http://schemas.microsoft.com/office/drawing/2014/main" id="{B3DAB8DC-01A1-1233-08A7-4619C609844C}"/>
                </a:ext>
              </a:extLst>
            </p:cNvPr>
            <p:cNvSpPr txBox="1"/>
            <p:nvPr/>
          </p:nvSpPr>
          <p:spPr>
            <a:xfrm>
              <a:off x="0" y="-28575"/>
              <a:ext cx="2712853" cy="533791"/>
            </a:xfrm>
            <a:prstGeom prst="rect">
              <a:avLst/>
            </a:prstGeom>
            <a:grpFill/>
          </p:spPr>
          <p:txBody>
            <a:bodyPr lIns="50800" tIns="50800" rIns="50800" bIns="50800" rtlCol="0" anchor="ctr"/>
            <a:lstStyle/>
            <a:p>
              <a:pPr algn="ctr">
                <a:lnSpc>
                  <a:spcPts val="1960"/>
                </a:lnSpc>
              </a:pPr>
              <a:endParaRPr lang="en-US" sz="2800" b="1" dirty="0">
                <a:solidFill>
                  <a:schemeClr val="bg1"/>
                </a:solidFill>
              </a:endParaRPr>
            </a:p>
            <a:p>
              <a:pPr algn="ctr">
                <a:lnSpc>
                  <a:spcPct val="107000"/>
                </a:lnSpc>
                <a:spcAft>
                  <a:spcPts val="800"/>
                </a:spcAft>
              </a:pPr>
              <a:r>
                <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rPr>
                <a:t>FOR LISTED ENTITIES </a:t>
              </a:r>
              <a:endParaRPr lang="en-IN"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grpSp>
      <p:grpSp>
        <p:nvGrpSpPr>
          <p:cNvPr id="11" name="Group 11">
            <a:extLst>
              <a:ext uri="{FF2B5EF4-FFF2-40B4-BE49-F238E27FC236}">
                <a16:creationId xmlns:a16="http://schemas.microsoft.com/office/drawing/2014/main" id="{1FF50D35-BAAE-6197-8187-5F91658FD012}"/>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06C8B191-5E84-4C09-64D8-4B3CE0F1978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2C0F79C2-2F34-5F91-0CA7-34E594BDC055}"/>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35E48552-9BE8-E739-74C4-99C4DD8321C8}"/>
              </a:ext>
            </a:extLst>
          </p:cNvPr>
          <p:cNvSpPr txBox="1"/>
          <p:nvPr/>
        </p:nvSpPr>
        <p:spPr>
          <a:xfrm>
            <a:off x="230983" y="1537364"/>
            <a:ext cx="7081214" cy="246221"/>
          </a:xfrm>
          <a:prstGeom prst="rect">
            <a:avLst/>
          </a:prstGeom>
        </p:spPr>
        <p:txBody>
          <a:bodyPr lIns="0" tIns="0" rIns="0" bIns="0" rtlCol="0" anchor="t">
            <a:spAutoFit/>
          </a:bodyPr>
          <a:lstStyle/>
          <a:p>
            <a:pPr algn="just">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1200" b="1" spc="3" dirty="0">
              <a:solidFill>
                <a:srgbClr val="000000"/>
              </a:solidFill>
              <a:latin typeface="Montserrat Classic Bold"/>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C8316834-8554-4B2B-2EFE-00570FFA6C34}"/>
              </a:ext>
            </a:extLst>
          </p:cNvPr>
          <p:cNvSpPr txBox="1"/>
          <p:nvPr/>
        </p:nvSpPr>
        <p:spPr>
          <a:xfrm>
            <a:off x="371997"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4 of 19</a:t>
            </a:r>
          </a:p>
        </p:txBody>
      </p:sp>
      <p:pic>
        <p:nvPicPr>
          <p:cNvPr id="2" name="Picture 1">
            <a:extLst>
              <a:ext uri="{FF2B5EF4-FFF2-40B4-BE49-F238E27FC236}">
                <a16:creationId xmlns:a16="http://schemas.microsoft.com/office/drawing/2014/main" id="{09F93F5B-4AF9-3A39-AA8E-62583C8F1846}"/>
              </a:ext>
            </a:extLst>
          </p:cNvPr>
          <p:cNvPicPr>
            <a:picLocks noChangeAspect="1"/>
          </p:cNvPicPr>
          <p:nvPr/>
        </p:nvPicPr>
        <p:blipFill>
          <a:blip r:embed="rId2"/>
          <a:stretch>
            <a:fillRect/>
          </a:stretch>
        </p:blipFill>
        <p:spPr>
          <a:xfrm>
            <a:off x="5527989" y="139757"/>
            <a:ext cx="1677526" cy="1139216"/>
          </a:xfrm>
          <a:prstGeom prst="rect">
            <a:avLst/>
          </a:prstGeom>
        </p:spPr>
      </p:pic>
      <p:sp>
        <p:nvSpPr>
          <p:cNvPr id="3" name="Slide Number Placeholder 2">
            <a:extLst>
              <a:ext uri="{FF2B5EF4-FFF2-40B4-BE49-F238E27FC236}">
                <a16:creationId xmlns:a16="http://schemas.microsoft.com/office/drawing/2014/main" id="{97EB0DCA-14FB-C75F-0683-C98EFA7583BF}"/>
              </a:ext>
            </a:extLst>
          </p:cNvPr>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2334259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sp>
        <p:nvSpPr>
          <p:cNvPr id="9" name="Freeform 9"/>
          <p:cNvSpPr/>
          <p:nvPr/>
        </p:nvSpPr>
        <p:spPr>
          <a:xfrm>
            <a:off x="0" y="91895"/>
            <a:ext cx="7569820" cy="1409732"/>
          </a:xfrm>
          <a:custGeom>
            <a:avLst/>
            <a:gdLst/>
            <a:ahLst/>
            <a:cxnLst/>
            <a:rect l="l" t="t" r="r" b="b"/>
            <a:pathLst>
              <a:path w="2712853" h="505216">
                <a:moveTo>
                  <a:pt x="0" y="0"/>
                </a:moveTo>
                <a:lnTo>
                  <a:pt x="2712853" y="0"/>
                </a:lnTo>
                <a:lnTo>
                  <a:pt x="2712853" y="505216"/>
                </a:lnTo>
                <a:lnTo>
                  <a:pt x="0" y="505216"/>
                </a:lnTo>
                <a:close/>
              </a:path>
            </a:pathLst>
          </a:custGeom>
          <a:solidFill>
            <a:schemeClr val="tx2"/>
          </a:solidFill>
        </p:spPr>
        <p:txBody>
          <a:bodyPr/>
          <a:lstStyle/>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p:cNvGrpSpPr/>
          <p:nvPr/>
        </p:nvGrpSpPr>
        <p:grpSpPr>
          <a:xfrm>
            <a:off x="-3500" y="72585"/>
            <a:ext cx="7560000" cy="91895"/>
            <a:chOff x="0" y="0"/>
            <a:chExt cx="2709333" cy="32933"/>
          </a:xfrm>
          <a:solidFill>
            <a:srgbClr val="00B0F0"/>
          </a:solidFill>
        </p:grpSpPr>
        <p:sp>
          <p:nvSpPr>
            <p:cNvPr id="12" name="Freeform 12"/>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5" name="TextBox 15"/>
          <p:cNvSpPr txBox="1"/>
          <p:nvPr/>
        </p:nvSpPr>
        <p:spPr>
          <a:xfrm>
            <a:off x="507036" y="10147300"/>
            <a:ext cx="7081214" cy="391389"/>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5 of 19</a:t>
            </a:r>
          </a:p>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 </a:t>
            </a:r>
          </a:p>
        </p:txBody>
      </p:sp>
      <p:pic>
        <p:nvPicPr>
          <p:cNvPr id="2" name="Picture 1">
            <a:extLst>
              <a:ext uri="{FF2B5EF4-FFF2-40B4-BE49-F238E27FC236}">
                <a16:creationId xmlns:a16="http://schemas.microsoft.com/office/drawing/2014/main" id="{2305DE8E-8631-C5DA-AC40-551EBD981F71}"/>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10" name="Rectangle 4">
            <a:extLst>
              <a:ext uri="{FF2B5EF4-FFF2-40B4-BE49-F238E27FC236}">
                <a16:creationId xmlns:a16="http://schemas.microsoft.com/office/drawing/2014/main" id="{86AFBC7B-8BCD-4C58-2C61-D97B192CA3B5}"/>
              </a:ext>
            </a:extLst>
          </p:cNvPr>
          <p:cNvSpPr>
            <a:spLocks noChangeArrowheads="1"/>
          </p:cNvSpPr>
          <p:nvPr/>
        </p:nvSpPr>
        <p:spPr bwMode="auto">
          <a:xfrm>
            <a:off x="430167" y="5086787"/>
            <a:ext cx="669228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tabLst>
                <a:tab pos="457200" algn="l"/>
              </a:tabLst>
            </a:pPr>
            <a:r>
              <a:rPr lang="en-US" altLang="en-US" sz="1100" dirty="0">
                <a:solidFill>
                  <a:srgbClr val="002060"/>
                </a:solidFill>
                <a:latin typeface="Calibri" panose="020F0502020204030204" pitchFamily="34" charset="0"/>
                <a:ea typeface="Times New Roman" panose="02020603050405020304" pitchFamily="18" charset="0"/>
                <a:cs typeface="Calibri" panose="020F0502020204030204" pitchFamily="34" charset="0"/>
              </a:rPr>
              <a:t>\</a:t>
            </a:r>
          </a:p>
          <a:p>
            <a:pPr marL="0" marR="0" lvl="0" indent="0" algn="just" defTabSz="914400" rtl="0" eaLnBrk="0" fontAlgn="base" latinLnBrk="0" hangingPunct="0">
              <a:lnSpc>
                <a:spcPct val="100000"/>
              </a:lnSpc>
              <a:spcBef>
                <a:spcPct val="0"/>
              </a:spcBef>
              <a:spcAft>
                <a:spcPct val="0"/>
              </a:spcAft>
              <a:buClrTx/>
              <a:buSzTx/>
              <a:tabLst>
                <a:tab pos="457200" algn="l"/>
              </a:tabLst>
            </a:pPr>
            <a:endParaRPr kumimoji="0" lang="en-US" altLang="en-US" sz="1100" b="0" i="0" u="none" strike="noStrike" cap="none" normalizeH="0" baseline="0" dirty="0">
              <a:ln>
                <a:noFill/>
              </a:ln>
              <a:solidFill>
                <a:srgbClr val="002060"/>
              </a:solidFill>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3" name="Slide Number Placeholder 2">
            <a:extLst>
              <a:ext uri="{FF2B5EF4-FFF2-40B4-BE49-F238E27FC236}">
                <a16:creationId xmlns:a16="http://schemas.microsoft.com/office/drawing/2014/main" id="{7A255718-BBE4-711D-1EE2-7852EAA9EDEA}"/>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16" name="TextBox 15"/>
          <p:cNvSpPr txBox="1"/>
          <p:nvPr/>
        </p:nvSpPr>
        <p:spPr>
          <a:xfrm>
            <a:off x="457200" y="1828800"/>
            <a:ext cx="6583680" cy="457200"/>
          </a:xfrm>
          <a:prstGeom prst="rect">
            <a:avLst/>
          </a:prstGeom>
          <a:noFill/>
        </p:spPr>
        <p:txBody>
          <a:bodyPr wrap="none">
            <a:spAutoFit/>
          </a:bodyPr>
          <a:lstStyle/>
          <a:p>
            <a:pPr>
              <a:defRPr b="1" sz="1600">
                <a:solidFill>
                  <a:srgbClr val="003399"/>
                </a:solidFill>
              </a:defRPr>
            </a:pPr>
            <a:r>
              <a:t>➤ REGULATIONS</a:t>
            </a:r>
          </a:p>
        </p:txBody>
      </p:sp>
      <p:sp>
        <p:nvSpPr>
          <p:cNvPr id="17" name="TextBox 16"/>
          <p:cNvSpPr txBox="1"/>
          <p:nvPr/>
        </p:nvSpPr>
        <p:spPr>
          <a:xfrm>
            <a:off x="457200" y="2286000"/>
            <a:ext cx="6583680" cy="274320"/>
          </a:xfrm>
          <a:prstGeom prst="rect">
            <a:avLst/>
          </a:prstGeom>
          <a:noFill/>
        </p:spPr>
        <p:txBody>
          <a:bodyPr wrap="square">
            <a:spAutoFit/>
          </a:bodyPr>
          <a:lstStyle/>
          <a:p>
            <a:pPr>
              <a:spcAft>
                <a:spcPts val="600"/>
              </a:spcAft>
            </a:pPr>
            <a:r>
              <a:rPr b="1" sz="1200" u="sng">
                <a:solidFill>
                  <a:srgbClr val="0066CC"/>
                </a:solidFill>
                <a:hlinkClick r:id="rId3"/>
              </a:rPr>
              <a:t>Securities and Exchange Board of India (Listing Obligations and Disclosure Requirements) (Second Amendment) Regulations, 2026</a:t>
            </a:r>
          </a:p>
        </p:txBody>
      </p:sp>
      <p:graphicFrame>
        <p:nvGraphicFramePr>
          <p:cNvPr id="18" name="Table 17"/>
          <p:cNvGraphicFramePr>
            <a:graphicFrameLocks noGrp="1"/>
          </p:cNvGraphicFramePr>
          <p:nvPr/>
        </p:nvGraphicFramePr>
        <p:xfrm>
          <a:off x="457200" y="2697480"/>
          <a:ext cx="6583680" cy="2103118"/>
        </p:xfrm>
        <a:graphic>
          <a:graphicData uri="http://schemas.openxmlformats.org/drawingml/2006/table">
            <a:tbl>
              <a:tblPr firstRow="1" bandRow="1">
                <a:tableStyleId>{5C22544A-7EE6-4342-B048-85BDC9FD1C3A}</a:tableStyleId>
              </a:tblPr>
              <a:tblGrid>
                <a:gridCol w="1280160"/>
                <a:gridCol w="5303520"/>
              </a:tblGrid>
              <a:tr h="274320">
                <a:tc>
                  <a:txBody>
                    <a:bodyPr/>
                    <a:lstStyle/>
                    <a:p>
                      <a:pPr algn="ctr">
                        <a:defRPr b="1" sz="1000">
                          <a:solidFill>
                            <a:srgbClr val="FFFFFF"/>
                          </a:solidFill>
                        </a:defRPr>
                      </a:pPr>
                      <a:r>
                        <a:t>Regulation Number</a:t>
                      </a:r>
                    </a:p>
                  </a:txBody>
                  <a:tcPr>
                    <a:solidFill>
                      <a:srgbClr val="003399"/>
                    </a:solidFill>
                  </a:tcPr>
                </a:tc>
                <a:tc>
                  <a:txBody>
                    <a:bodyPr/>
                    <a:lstStyle/>
                    <a:p>
                      <a:pPr algn="ctr">
                        <a:defRPr b="1" sz="1000">
                          <a:solidFill>
                            <a:srgbClr val="FFFFFF"/>
                          </a:solidFill>
                        </a:defRPr>
                      </a:pPr>
                      <a:r>
                        <a:t>Amendment</a:t>
                      </a:r>
                    </a:p>
                  </a:txBody>
                  <a:tcPr>
                    <a:solidFill>
                      <a:srgbClr val="003399"/>
                    </a:solidFill>
                  </a:tcPr>
                </a:tc>
              </a:tr>
              <a:tr h="914399">
                <a:tc>
                  <a:txBody>
                    <a:bodyPr/>
                    <a:lstStyle/>
                    <a:p>
                      <a:pPr algn="ctr">
                        <a:defRPr sz="900" b="1">
                          <a:solidFill>
                            <a:srgbClr val="1E1E1E"/>
                          </a:solidFill>
                        </a:defRPr>
                      </a:pPr>
                      <a:r>
                        <a:t>40</a:t>
                      </a:r>
                    </a:p>
                  </a:txBody>
                  <a:tcPr>
                    <a:solidFill>
                      <a:srgbClr val="FFFFFF"/>
                    </a:solidFill>
                  </a:tcPr>
                </a:tc>
                <a:tc>
                  <a:txBody>
                    <a:bodyPr/>
                    <a:lstStyle/>
                    <a:p>
                      <a:pPr>
                        <a:defRPr sz="900">
                          <a:solidFill>
                            <a:srgbClr val="1E1E1E"/>
                          </a:solidFill>
                        </a:defRPr>
                      </a:pPr>
                      <a:r>
                        <a:t>Substituted: The procedural requirements with respect to transfer and transmission of securities have been substituted. Prior to its substitution, the listed entity was required to comply with all procedural requirements as specified in Schedule VII. The current requirement is that the listed entity shall comply with all procedural requirements with respect to transfer and transmission of securities as specified by the Board from time to time.</a:t>
                      </a:r>
                    </a:p>
                  </a:txBody>
                  <a:tcPr>
                    <a:solidFill>
                      <a:srgbClr val="FFFFFF"/>
                    </a:solidFill>
                  </a:tcPr>
                </a:tc>
              </a:tr>
              <a:tr h="914399">
                <a:tc>
                  <a:txBody>
                    <a:bodyPr/>
                    <a:lstStyle/>
                    <a:p>
                      <a:pPr algn="ctr">
                        <a:defRPr sz="900" b="1">
                          <a:solidFill>
                            <a:srgbClr val="1E1E1E"/>
                          </a:solidFill>
                        </a:defRPr>
                      </a:pPr>
                      <a:r>
                        <a:t>B</a:t>
                      </a:r>
                    </a:p>
                  </a:txBody>
                  <a:tcPr>
                    <a:solidFill>
                      <a:srgbClr val="EBF1FF"/>
                    </a:solidFill>
                  </a:tcPr>
                </a:tc>
                <a:tc>
                  <a:txBody>
                    <a:bodyPr/>
                    <a:lstStyle/>
                    <a:p>
                      <a:pPr>
                        <a:defRPr sz="900">
                          <a:solidFill>
                            <a:srgbClr val="1E1E1E"/>
                          </a:solidFill>
                        </a:defRPr>
                      </a:pPr>
                      <a:r>
                        <a:t>Omitted: The provision related to the objection memo and additional documents required for effecting the transfer of securities has been omitted. Prior to its omission, the listed entity was required to send an Objection Memo along with certain documents in original to both the transferor(s) and transferee(s), and also state the requirement of additional documents of transferor(s).</a:t>
                      </a:r>
                    </a:p>
                  </a:txBody>
                  <a:tcPr>
                    <a:solidFill>
                      <a:srgbClr val="EBF1FF"/>
                    </a:solidFill>
                  </a:tcPr>
                </a:tc>
              </a:tr>
            </a:tbl>
          </a:graphicData>
        </a:graphic>
      </p:graphicFrame>
      <p:sp>
        <p:nvSpPr>
          <p:cNvPr id="19" name="TextBox 18"/>
          <p:cNvSpPr txBox="1"/>
          <p:nvPr/>
        </p:nvSpPr>
        <p:spPr>
          <a:xfrm>
            <a:off x="457200" y="5120640"/>
            <a:ext cx="6583680" cy="274320"/>
          </a:xfrm>
          <a:prstGeom prst="rect">
            <a:avLst/>
          </a:prstGeom>
          <a:noFill/>
        </p:spPr>
        <p:txBody>
          <a:bodyPr wrap="square">
            <a:spAutoFit/>
          </a:bodyPr>
          <a:lstStyle/>
          <a:p>
            <a:pPr>
              <a:spcAft>
                <a:spcPts val="600"/>
              </a:spcAft>
            </a:pPr>
            <a:r>
              <a:rPr b="1" sz="1200" u="sng">
                <a:solidFill>
                  <a:srgbClr val="0066CC"/>
                </a:solidFill>
                <a:hlinkClick r:id="rId4"/>
              </a:rPr>
              <a:t>Securities and Exchange Board of India (Employees' Service) (Amendment) Regulations, 2026</a:t>
            </a:r>
          </a:p>
        </p:txBody>
      </p:sp>
      <p:graphicFrame>
        <p:nvGraphicFramePr>
          <p:cNvPr id="20" name="Table 19"/>
          <p:cNvGraphicFramePr>
            <a:graphicFrameLocks noGrp="1"/>
          </p:cNvGraphicFramePr>
          <p:nvPr/>
        </p:nvGraphicFramePr>
        <p:xfrm>
          <a:off x="457200" y="5532120"/>
          <a:ext cx="6583680" cy="3529582"/>
        </p:xfrm>
        <a:graphic>
          <a:graphicData uri="http://schemas.openxmlformats.org/drawingml/2006/table">
            <a:tbl>
              <a:tblPr firstRow="1" bandRow="1">
                <a:tableStyleId>{5C22544A-7EE6-4342-B048-85BDC9FD1C3A}</a:tableStyleId>
              </a:tblPr>
              <a:tblGrid>
                <a:gridCol w="1280160"/>
                <a:gridCol w="5303520"/>
              </a:tblGrid>
              <a:tr h="274320">
                <a:tc>
                  <a:txBody>
                    <a:bodyPr/>
                    <a:lstStyle/>
                    <a:p>
                      <a:pPr algn="ctr">
                        <a:defRPr b="1" sz="1000">
                          <a:solidFill>
                            <a:srgbClr val="FFFFFF"/>
                          </a:solidFill>
                        </a:defRPr>
                      </a:pPr>
                      <a:r>
                        <a:t>Regulation Number</a:t>
                      </a:r>
                    </a:p>
                  </a:txBody>
                  <a:tcPr>
                    <a:solidFill>
                      <a:srgbClr val="003399"/>
                    </a:solidFill>
                  </a:tcPr>
                </a:tc>
                <a:tc>
                  <a:txBody>
                    <a:bodyPr/>
                    <a:lstStyle/>
                    <a:p>
                      <a:pPr algn="ctr">
                        <a:defRPr b="1" sz="1000">
                          <a:solidFill>
                            <a:srgbClr val="FFFFFF"/>
                          </a:solidFill>
                        </a:defRPr>
                      </a:pPr>
                      <a:r>
                        <a:t>Amendment</a:t>
                      </a:r>
                    </a:p>
                  </a:txBody>
                  <a:tcPr>
                    <a:solidFill>
                      <a:srgbClr val="003399"/>
                    </a:solidFill>
                  </a:tcPr>
                </a:tc>
              </a:tr>
              <a:tr h="1243584">
                <a:tc>
                  <a:txBody>
                    <a:bodyPr/>
                    <a:lstStyle/>
                    <a:p>
                      <a:pPr algn="ctr">
                        <a:defRPr sz="900" b="1">
                          <a:solidFill>
                            <a:srgbClr val="1E1E1E"/>
                          </a:solidFill>
                        </a:defRPr>
                      </a:pPr>
                      <a:r>
                        <a:t>3</a:t>
                      </a:r>
                    </a:p>
                  </a:txBody>
                  <a:tcPr>
                    <a:solidFill>
                      <a:srgbClr val="FFFFFF"/>
                    </a:solidFill>
                  </a:tcPr>
                </a:tc>
                <a:tc>
                  <a:txBody>
                    <a:bodyPr/>
                    <a:lstStyle/>
                    <a:p>
                      <a:pPr>
                        <a:defRPr sz="900">
                          <a:solidFill>
                            <a:srgbClr val="1E1E1E"/>
                          </a:solidFill>
                        </a:defRPr>
                      </a:pPr>
                      <a:r>
                        <a:t>Substituted: The definition of "Dependent" has been substituted. The prior provision defined a dependent as a person who is wholly dependent upon the employee and whose monthly income doesn't exceed the limits as may be specified by the Chairman, from time to time. The amended provision includes "Dependent children" which means children of an employee who are eligible for receiving medical or Leave Fare Concession benefit from SEBI; and "Substantially dependent" which means a person who is included in family of the employee for receiving medical or Leave Fare Concession benefit from SEBI.</a:t>
                      </a:r>
                    </a:p>
                  </a:txBody>
                  <a:tcPr>
                    <a:solidFill>
                      <a:srgbClr val="FFFFFF"/>
                    </a:solidFill>
                  </a:tcPr>
                </a:tc>
              </a:tr>
              <a:tr h="420623">
                <a:tc>
                  <a:txBody>
                    <a:bodyPr/>
                    <a:lstStyle/>
                    <a:p>
                      <a:pPr algn="ctr">
                        <a:defRPr sz="900" b="1">
                          <a:solidFill>
                            <a:srgbClr val="1E1E1E"/>
                          </a:solidFill>
                        </a:defRPr>
                      </a:pPr>
                      <a:r>
                        <a:t>3</a:t>
                      </a:r>
                    </a:p>
                  </a:txBody>
                  <a:tcPr>
                    <a:solidFill>
                      <a:srgbClr val="EBF1FF"/>
                    </a:solidFill>
                  </a:tcPr>
                </a:tc>
                <a:tc>
                  <a:txBody>
                    <a:bodyPr/>
                    <a:lstStyle/>
                    <a:p>
                      <a:pPr>
                        <a:defRPr sz="900">
                          <a:solidFill>
                            <a:srgbClr val="1E1E1E"/>
                          </a:solidFill>
                        </a:defRPr>
                      </a:pPr>
                      <a:r>
                        <a:t>Substituted: The term "family" has been substituted with "family members". The prior provision defined family as "means", while the amended provision defines family members as "means 3".</a:t>
                      </a:r>
                    </a:p>
                  </a:txBody>
                  <a:tcPr>
                    <a:solidFill>
                      <a:srgbClr val="EBF1FF"/>
                    </a:solidFill>
                  </a:tcPr>
                </a:tc>
              </a:tr>
              <a:tr h="420623">
                <a:tc>
                  <a:txBody>
                    <a:bodyPr/>
                    <a:lstStyle/>
                    <a:p>
                      <a:pPr algn="ctr">
                        <a:defRPr sz="900" b="1">
                          <a:solidFill>
                            <a:srgbClr val="1E1E1E"/>
                          </a:solidFill>
                        </a:defRPr>
                      </a:pPr>
                      <a:r>
                        <a:t>3</a:t>
                      </a:r>
                    </a:p>
                  </a:txBody>
                  <a:tcPr>
                    <a:solidFill>
                      <a:srgbClr val="FFFFFF"/>
                    </a:solidFill>
                  </a:tcPr>
                </a:tc>
                <a:tc>
                  <a:txBody>
                    <a:bodyPr/>
                    <a:lstStyle/>
                    <a:p>
                      <a:pPr>
                        <a:defRPr sz="900">
                          <a:solidFill>
                            <a:srgbClr val="1E1E1E"/>
                          </a:solidFill>
                        </a:defRPr>
                      </a:pPr>
                      <a:r>
                        <a:t>Inserted: Inserted a new definition for "Financial investment". The previous definition was not explicitly mentioned.</a:t>
                      </a:r>
                    </a:p>
                  </a:txBody>
                  <a:tcPr>
                    <a:solidFill>
                      <a:srgbClr val="FFFFFF"/>
                    </a:solidFill>
                  </a:tcPr>
                </a:tc>
              </a:tr>
              <a:tr h="585216">
                <a:tc>
                  <a:txBody>
                    <a:bodyPr/>
                    <a:lstStyle/>
                    <a:p>
                      <a:pPr algn="ctr">
                        <a:defRPr sz="900" b="1">
                          <a:solidFill>
                            <a:srgbClr val="1E1E1E"/>
                          </a:solidFill>
                        </a:defRPr>
                      </a:pPr>
                      <a:r>
                        <a:t>Not provided</a:t>
                      </a:r>
                    </a:p>
                  </a:txBody>
                  <a:tcPr>
                    <a:solidFill>
                      <a:srgbClr val="EBF1FF"/>
                    </a:solidFill>
                  </a:tcPr>
                </a:tc>
                <a:tc>
                  <a:txBody>
                    <a:bodyPr/>
                    <a:lstStyle/>
                    <a:p>
                      <a:pPr>
                        <a:defRPr sz="900">
                          <a:solidFill>
                            <a:srgbClr val="1E1E1E"/>
                          </a:solidFill>
                        </a:defRPr>
                      </a:pPr>
                      <a:r>
                        <a:t>Inserted: Renumbered by the SEBI (Employees' Service) (Amendment) Regulations, 2026. The regulation number 80 has been substituted with a new number (not explicitly mentioned in provided contexts).</a:t>
                      </a:r>
                    </a:p>
                  </a:txBody>
                  <a:tcPr>
                    <a:solidFill>
                      <a:srgbClr val="EBF1FF"/>
                    </a:solidFill>
                  </a:tcPr>
                </a:tc>
              </a:tr>
              <a:tr h="585216">
                <a:tc>
                  <a:txBody>
                    <a:bodyPr/>
                    <a:lstStyle/>
                    <a:p>
                      <a:pPr algn="ctr">
                        <a:defRPr sz="900" b="1">
                          <a:solidFill>
                            <a:srgbClr val="1E1E1E"/>
                          </a:solidFill>
                        </a:defRPr>
                      </a:pPr>
                      <a:r>
                        <a:t>Not provided</a:t>
                      </a:r>
                    </a:p>
                  </a:txBody>
                  <a:tcPr>
                    <a:solidFill>
                      <a:srgbClr val="FFFFFF"/>
                    </a:solidFill>
                  </a:tcPr>
                </a:tc>
                <a:tc>
                  <a:txBody>
                    <a:bodyPr/>
                    <a:lstStyle/>
                    <a:p>
                      <a:pPr>
                        <a:defRPr sz="900">
                          <a:solidFill>
                            <a:srgbClr val="1E1E1E"/>
                          </a:solidFill>
                        </a:defRPr>
                      </a:pPr>
                      <a:r>
                        <a:t>Inserted: Inserted a new provision regarding the SEBI (Employees' Service) by the SEBI (Employees' Service) (Amendment) Regulations, 2026. The specifics of the inserted provision are not explicitly mentioned in the context provided.</a:t>
                      </a: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sp>
        <p:nvSpPr>
          <p:cNvPr id="9" name="Freeform 9"/>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p:cNvGrpSpPr/>
          <p:nvPr/>
        </p:nvGrpSpPr>
        <p:grpSpPr>
          <a:xfrm>
            <a:off x="0" y="0"/>
            <a:ext cx="7560000" cy="91895"/>
            <a:chOff x="0" y="0"/>
            <a:chExt cx="2709333" cy="32933"/>
          </a:xfrm>
          <a:solidFill>
            <a:srgbClr val="00B0F0"/>
          </a:solidFill>
        </p:grpSpPr>
        <p:sp>
          <p:nvSpPr>
            <p:cNvPr id="12" name="Freeform 12"/>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p:cNvSpPr txBox="1"/>
          <p:nvPr/>
        </p:nvSpPr>
        <p:spPr>
          <a:xfrm>
            <a:off x="371997" y="10119945"/>
            <a:ext cx="7081214" cy="391389"/>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6 of 19</a:t>
            </a:r>
          </a:p>
          <a:p>
            <a:pPr algn="ctr">
              <a:lnSpc>
                <a:spcPts val="1598"/>
              </a:lnSpc>
            </a:pPr>
            <a:endPar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endParaRPr>
          </a:p>
        </p:txBody>
      </p:sp>
      <p:pic>
        <p:nvPicPr>
          <p:cNvPr id="4" name="Picture 3">
            <a:extLst>
              <a:ext uri="{FF2B5EF4-FFF2-40B4-BE49-F238E27FC236}">
                <a16:creationId xmlns:a16="http://schemas.microsoft.com/office/drawing/2014/main" id="{D43C8765-4A25-4F0C-8883-319210D4C8C6}"/>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928F00D9-4B84-1CFD-773E-5E970E4BAA90}"/>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18CEE9C3-8403-637B-A4A3-228433734057}"/>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128401DA-A549-469E-D78C-45EDBF01EDA3}"/>
              </a:ext>
            </a:extLst>
          </p:cNvPr>
          <p:cNvSpPr>
            <a:spLocks noGrp="1"/>
          </p:cNvSpPr>
          <p:nvPr>
            <p:ph type="sldNum" sz="quarter" idx="12"/>
          </p:nvPr>
        </p:nvSpPr>
        <p:spPr/>
        <p:txBody>
          <a:bodyPr/>
          <a:lstStyle/>
          <a:p>
            <a:fld id="{B6F15528-21DE-4FAA-801E-634DDDAF4B2B}" type="slidenum">
              <a:rPr lang="en-US" smtClean="0"/>
              <a:pPr/>
              <a:t>6</a:t>
            </a:fld>
            <a:endParaRPr lang="en-US" dirty="0"/>
          </a:p>
        </p:txBody>
      </p:sp>
      <p:graphicFrame>
        <p:nvGraphicFramePr>
          <p:cNvPr id="16" name="Table 15"/>
          <p:cNvGraphicFramePr>
            <a:graphicFrameLocks noGrp="1"/>
          </p:cNvGraphicFramePr>
          <p:nvPr/>
        </p:nvGraphicFramePr>
        <p:xfrm>
          <a:off x="457200" y="1828800"/>
          <a:ext cx="6583680" cy="4370828"/>
        </p:xfrm>
        <a:graphic>
          <a:graphicData uri="http://schemas.openxmlformats.org/drawingml/2006/table">
            <a:tbl>
              <a:tblPr firstRow="1" bandRow="1">
                <a:tableStyleId>{5C22544A-7EE6-4342-B048-85BDC9FD1C3A}</a:tableStyleId>
              </a:tblPr>
              <a:tblGrid>
                <a:gridCol w="1280160"/>
                <a:gridCol w="5303520"/>
              </a:tblGrid>
              <a:tr h="274320">
                <a:tc>
                  <a:txBody>
                    <a:bodyPr/>
                    <a:lstStyle/>
                    <a:p>
                      <a:pPr algn="ctr">
                        <a:defRPr b="1" sz="1000">
                          <a:solidFill>
                            <a:srgbClr val="FFFFFF"/>
                          </a:solidFill>
                        </a:defRPr>
                      </a:pPr>
                      <a:r>
                        <a:t>Regulation Number</a:t>
                      </a:r>
                    </a:p>
                  </a:txBody>
                  <a:tcPr>
                    <a:solidFill>
                      <a:srgbClr val="003399"/>
                    </a:solidFill>
                  </a:tcPr>
                </a:tc>
                <a:tc>
                  <a:txBody>
                    <a:bodyPr/>
                    <a:lstStyle/>
                    <a:p>
                      <a:pPr algn="ctr">
                        <a:defRPr b="1" sz="1000">
                          <a:solidFill>
                            <a:srgbClr val="FFFFFF"/>
                          </a:solidFill>
                        </a:defRPr>
                      </a:pPr>
                      <a:r>
                        <a:t>Amendment</a:t>
                      </a:r>
                    </a:p>
                  </a:txBody>
                  <a:tcPr>
                    <a:solidFill>
                      <a:srgbClr val="003399"/>
                    </a:solidFill>
                  </a:tcPr>
                </a:tc>
              </a:tr>
              <a:tr h="420623">
                <a:tc>
                  <a:txBody>
                    <a:bodyPr/>
                    <a:lstStyle/>
                    <a:p>
                      <a:pPr algn="ctr">
                        <a:defRPr sz="900" b="1">
                          <a:solidFill>
                            <a:srgbClr val="1E1E1E"/>
                          </a:solidFill>
                        </a:defRPr>
                      </a:pPr>
                      <a:r>
                        <a:t>54</a:t>
                      </a:r>
                    </a:p>
                  </a:txBody>
                  <a:tcPr>
                    <a:solidFill>
                      <a:srgbClr val="EBF1FF"/>
                    </a:solidFill>
                  </a:tcPr>
                </a:tc>
                <a:tc>
                  <a:txBody>
                    <a:bodyPr/>
                    <a:lstStyle/>
                    <a:p>
                      <a:pPr>
                        <a:defRPr sz="900">
                          <a:solidFill>
                            <a:srgbClr val="1E1E1E"/>
                          </a:solidFill>
                        </a:defRPr>
                      </a:pPr>
                      <a:r>
                        <a:t>Inserted: The term "the press" has been substituted with an employee in Clause 77. No substantive regulatory change is introduced for other provisions.</a:t>
                      </a:r>
                    </a:p>
                  </a:txBody>
                  <a:tcPr>
                    <a:solidFill>
                      <a:srgbClr val="EBF1FF"/>
                    </a:solidFill>
                  </a:tcPr>
                </a:tc>
              </a:tr>
              <a:tr h="749808">
                <a:tc>
                  <a:txBody>
                    <a:bodyPr/>
                    <a:lstStyle/>
                    <a:p>
                      <a:pPr algn="ctr">
                        <a:defRPr sz="900" b="1">
                          <a:solidFill>
                            <a:srgbClr val="1E1E1E"/>
                          </a:solidFill>
                        </a:defRPr>
                      </a:pPr>
                      <a:r>
                        <a:t>55</a:t>
                      </a:r>
                    </a:p>
                  </a:txBody>
                  <a:tcPr>
                    <a:solidFill>
                      <a:srgbClr val="FFFFFF"/>
                    </a:solidFill>
                  </a:tcPr>
                </a:tc>
                <a:tc>
                  <a:txBody>
                    <a:bodyPr/>
                    <a:lstStyle/>
                    <a:p>
                      <a:pPr>
                        <a:defRPr sz="900">
                          <a:solidFill>
                            <a:srgbClr val="1E1E1E"/>
                          </a:solidFill>
                        </a:defRPr>
                      </a:pPr>
                      <a:r>
                        <a:t>Inserted: An obligation has been inserted that an employee leaving the service on account of retirement or resignation or otherwise shall not appear before or against the Board on behalf of any other person in any matter or quasi-judicial proceeding (including adjudication) or settlement or approval matter for a period of two years from the date of being relieved from service.</a:t>
                      </a:r>
                    </a:p>
                  </a:txBody>
                  <a:tcPr>
                    <a:solidFill>
                      <a:srgbClr val="FFFFFF"/>
                    </a:solidFill>
                  </a:tcPr>
                </a:tc>
              </a:tr>
              <a:tr h="420623">
                <a:tc>
                  <a:txBody>
                    <a:bodyPr/>
                    <a:lstStyle/>
                    <a:p>
                      <a:pPr algn="ctr">
                        <a:defRPr sz="900" b="1">
                          <a:solidFill>
                            <a:srgbClr val="1E1E1E"/>
                          </a:solidFill>
                        </a:defRPr>
                      </a:pPr>
                      <a:r>
                        <a:t>62</a:t>
                      </a:r>
                    </a:p>
                  </a:txBody>
                  <a:tcPr>
                    <a:solidFill>
                      <a:srgbClr val="EBF1FF"/>
                    </a:solidFill>
                  </a:tcPr>
                </a:tc>
                <a:tc>
                  <a:txBody>
                    <a:bodyPr/>
                    <a:lstStyle/>
                    <a:p>
                      <a:pPr>
                        <a:defRPr sz="900">
                          <a:solidFill>
                            <a:srgbClr val="1E1E1E"/>
                          </a:solidFill>
                        </a:defRPr>
                      </a:pPr>
                      <a:r>
                        <a:t>Inserted: Inserted a new provision regarding trivial gifts like mementos, souvenirs, bouquets. The prior provision was not explicitly mentioned.</a:t>
                      </a:r>
                    </a:p>
                  </a:txBody>
                  <a:tcPr>
                    <a:solidFill>
                      <a:srgbClr val="EBF1FF"/>
                    </a:solidFill>
                  </a:tcPr>
                </a:tc>
              </a:tr>
              <a:tr h="585216">
                <a:tc>
                  <a:txBody>
                    <a:bodyPr/>
                    <a:lstStyle/>
                    <a:p>
                      <a:pPr algn="ctr">
                        <a:defRPr sz="900" b="1">
                          <a:solidFill>
                            <a:srgbClr val="1E1E1E"/>
                          </a:solidFill>
                        </a:defRPr>
                      </a:pPr>
                      <a:r>
                        <a:t>62</a:t>
                      </a:r>
                    </a:p>
                  </a:txBody>
                  <a:tcPr>
                    <a:solidFill>
                      <a:srgbClr val="FFFFFF"/>
                    </a:solidFill>
                  </a:tcPr>
                </a:tc>
                <a:tc>
                  <a:txBody>
                    <a:bodyPr/>
                    <a:lstStyle/>
                    <a:p>
                      <a:pPr>
                        <a:defRPr sz="900">
                          <a:solidFill>
                            <a:srgbClr val="1E1E1E"/>
                          </a:solidFill>
                        </a:defRPr>
                      </a:pPr>
                      <a:r>
                        <a:t>Inserted: Inserted a provision allowing an employee to accept gifts on certain occasions from personal friends, provided the value of such gifts exceeds a specified threshold. The prior provision did not explicitly mention this allowance.</a:t>
                      </a:r>
                    </a:p>
                  </a:txBody>
                  <a:tcPr>
                    <a:solidFill>
                      <a:srgbClr val="FFFFFF"/>
                    </a:solidFill>
                  </a:tcPr>
                </a:tc>
              </a:tr>
              <a:tr h="420623">
                <a:tc>
                  <a:txBody>
                    <a:bodyPr/>
                    <a:lstStyle/>
                    <a:p>
                      <a:pPr algn="ctr">
                        <a:defRPr sz="900" b="1">
                          <a:solidFill>
                            <a:srgbClr val="1E1E1E"/>
                          </a:solidFill>
                        </a:defRPr>
                      </a:pPr>
                      <a:r>
                        <a:t>63</a:t>
                      </a:r>
                    </a:p>
                  </a:txBody>
                  <a:tcPr>
                    <a:solidFill>
                      <a:srgbClr val="EBF1FF"/>
                    </a:solidFill>
                  </a:tcPr>
                </a:tc>
                <a:tc>
                  <a:txBody>
                    <a:bodyPr/>
                    <a:lstStyle/>
                    <a:p>
                      <a:pPr>
                        <a:defRPr sz="900">
                          <a:solidFill>
                            <a:srgbClr val="1E1E1E"/>
                          </a:solidFill>
                        </a:defRPr>
                      </a:pPr>
                      <a:r>
                        <a:t>Substituted: The restriction on investments "on the occasion of Diwali and New Year" has been omitted. Prior to its omission, these words were present in regulation 96.</a:t>
                      </a:r>
                    </a:p>
                  </a:txBody>
                  <a:tcPr>
                    <a:solidFill>
                      <a:srgbClr val="EBF1FF"/>
                    </a:solidFill>
                  </a:tcPr>
                </a:tc>
              </a:tr>
              <a:tr h="585216">
                <a:tc>
                  <a:txBody>
                    <a:bodyPr/>
                    <a:lstStyle/>
                    <a:p>
                      <a:pPr algn="ctr">
                        <a:defRPr sz="900" b="1">
                          <a:solidFill>
                            <a:srgbClr val="1E1E1E"/>
                          </a:solidFill>
                        </a:defRPr>
                      </a:pPr>
                      <a:r>
                        <a:t>64</a:t>
                      </a:r>
                    </a:p>
                  </a:txBody>
                  <a:tcPr>
                    <a:solidFill>
                      <a:srgbClr val="FFFFFF"/>
                    </a:solidFill>
                  </a:tcPr>
                </a:tc>
                <a:tc>
                  <a:txBody>
                    <a:bodyPr/>
                    <a:lstStyle/>
                    <a:p>
                      <a:pPr>
                        <a:defRPr sz="900">
                          <a:solidFill>
                            <a:srgbClr val="1E1E1E"/>
                          </a:solidFill>
                        </a:defRPr>
                      </a:pPr>
                      <a:r>
                        <a:t>Inserted: Relaxation from restriction on investment by family during the period of service has been inserted. The prior provision did not explicitly mention any relaxation for family investments during service.</a:t>
                      </a:r>
                    </a:p>
                  </a:txBody>
                  <a:tcPr>
                    <a:solidFill>
                      <a:srgbClr val="FFFFFF"/>
                    </a:solidFill>
                  </a:tcPr>
                </a:tc>
              </a:tr>
              <a:tr h="914399">
                <a:tc>
                  <a:txBody>
                    <a:bodyPr/>
                    <a:lstStyle/>
                    <a:p>
                      <a:pPr algn="ctr">
                        <a:defRPr sz="900" b="1">
                          <a:solidFill>
                            <a:srgbClr val="1E1E1E"/>
                          </a:solidFill>
                        </a:defRPr>
                      </a:pPr>
                      <a:r>
                        <a:t>65</a:t>
                      </a:r>
                    </a:p>
                  </a:txBody>
                  <a:tcPr>
                    <a:solidFill>
                      <a:srgbClr val="EBF1FF"/>
                    </a:solidFill>
                  </a:tcPr>
                </a:tc>
                <a:tc>
                  <a:txBody>
                    <a:bodyPr/>
                    <a:lstStyle/>
                    <a:p>
                      <a:pPr>
                        <a:defRPr sz="900">
                          <a:solidFill>
                            <a:srgbClr val="1E1E1E"/>
                          </a:solidFill>
                        </a:defRPr>
                      </a:pPr>
                      <a:r>
                        <a:t>Substituted: The provision related to disclosure of interests under the Securities and Exchange Board of India (Insider Trading) Regulations, 1992 has been substituted. The previous provision referred to sub-section (e) of Section 2 and the provisions of the Securities and Exchange Board of India (Insider Trading) Regulations, 1992. The amended provision does not explicitly mention a replacement.</a:t>
                      </a:r>
                    </a:p>
                  </a:txBody>
                  <a:tcPr>
                    <a:solidFill>
                      <a:srgbClr val="EBF1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500331DB-FC41-8E43-A0AD-0EE3042BEE52}"/>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941BC203-7FE3-B3F1-A9A5-BDB05FD4A67E}"/>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00CDC9E7-FBCF-BCEE-78AB-A35D4053CAB5}"/>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5BEDBFDE-EF5C-A3E8-3B99-74FB7325FBE6}"/>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F90207FD-D8E3-E8CD-A520-E7D55FAE4390}"/>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09CD22DA-38C0-22A5-C521-28E1C36D3119}"/>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AA14FEEA-45F9-3D7A-9822-7B88E8807451}"/>
              </a:ext>
            </a:extLst>
          </p:cNvPr>
          <p:cNvSpPr txBox="1"/>
          <p:nvPr/>
        </p:nvSpPr>
        <p:spPr>
          <a:xfrm>
            <a:off x="371997"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7 of 19</a:t>
            </a:r>
          </a:p>
        </p:txBody>
      </p:sp>
      <p:pic>
        <p:nvPicPr>
          <p:cNvPr id="4" name="Picture 3">
            <a:extLst>
              <a:ext uri="{FF2B5EF4-FFF2-40B4-BE49-F238E27FC236}">
                <a16:creationId xmlns:a16="http://schemas.microsoft.com/office/drawing/2014/main" id="{8FABCEF1-4FBA-82B8-E33E-AC14F8E91C7B}"/>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C8FE3F0B-030B-2804-CF86-522CEEA54530}"/>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AFD2BE0D-9C06-EA0C-71E1-5F2AFE5AC0F3}"/>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B937FC59-7972-B319-1A8C-38CBC1920082}"/>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16" name="TextBox 15"/>
          <p:cNvSpPr txBox="1"/>
          <p:nvPr/>
        </p:nvSpPr>
        <p:spPr>
          <a:xfrm>
            <a:off x="457200" y="1828800"/>
            <a:ext cx="6583680" cy="457200"/>
          </a:xfrm>
          <a:prstGeom prst="rect">
            <a:avLst/>
          </a:prstGeom>
          <a:noFill/>
        </p:spPr>
        <p:txBody>
          <a:bodyPr wrap="none">
            <a:spAutoFit/>
          </a:bodyPr>
          <a:lstStyle/>
          <a:p>
            <a:pPr>
              <a:defRPr b="1" sz="1600">
                <a:solidFill>
                  <a:srgbClr val="003399"/>
                </a:solidFill>
              </a:defRPr>
            </a:pPr>
            <a:r>
              <a:t>➤ PRESS RELEASE</a:t>
            </a:r>
          </a:p>
        </p:txBody>
      </p:sp>
      <p:sp>
        <p:nvSpPr>
          <p:cNvPr id="17" name="TextBox 16"/>
          <p:cNvSpPr txBox="1"/>
          <p:nvPr/>
        </p:nvSpPr>
        <p:spPr>
          <a:xfrm>
            <a:off x="457200" y="2286000"/>
            <a:ext cx="6583680" cy="1591055"/>
          </a:xfrm>
          <a:prstGeom prst="rect">
            <a:avLst/>
          </a:prstGeom>
          <a:noFill/>
        </p:spPr>
        <p:txBody>
          <a:bodyPr wrap="square">
            <a:spAutoFit/>
          </a:bodyPr>
          <a:lstStyle/>
          <a:p>
            <a:pPr>
              <a:spcAft>
                <a:spcPts val="600"/>
              </a:spcAft>
            </a:pPr>
            <a:r>
              <a:rPr b="1" sz="1200" u="sng">
                <a:solidFill>
                  <a:srgbClr val="0066CC"/>
                </a:solidFill>
                <a:hlinkClick r:id="rId3"/>
              </a:rPr>
              <a:t>SEBI Launches Two New Investor Awareness Videos to Promote Corporate Bond Market Awareness</a:t>
            </a:r>
          </a:p>
          <a:p>
            <a:pPr>
              <a:spcBef>
                <a:spcPts val="0"/>
              </a:spcBef>
              <a:spcAft>
                <a:spcPts val="200"/>
              </a:spcAft>
              <a:defRPr sz="1100"/>
            </a:pPr>
            <a:r>
              <a:t>- The press release issued states that SEBI has launched two new investor awareness videos to promote understanding of the corporate bond market.</a:t>
            </a:r>
          </a:p>
          <a:p>
            <a:pPr>
              <a:spcBef>
                <a:spcPts val="0"/>
              </a:spcBef>
              <a:spcAft>
                <a:spcPts val="200"/>
              </a:spcAft>
              <a:defRPr sz="1100"/>
            </a:pPr>
            <a:r>
              <a:t>- The videos explain the importance of credit rating and clarify the concept of 'dirty price' versus 'clean price' in corporate bonds.</a:t>
            </a:r>
          </a:p>
          <a:p>
            <a:pPr>
              <a:spcBef>
                <a:spcPts val="0"/>
              </a:spcBef>
              <a:spcAft>
                <a:spcPts val="200"/>
              </a:spcAft>
              <a:defRPr sz="1100"/>
            </a:pPr>
            <a:r>
              <a:t>- This initiative now comprises eight videos dedicated to the corporate bond market, available on SEBI's Investor website.</a:t>
            </a:r>
          </a:p>
        </p:txBody>
      </p:sp>
      <p:sp>
        <p:nvSpPr>
          <p:cNvPr id="18" name="TextBox 17"/>
          <p:cNvSpPr txBox="1"/>
          <p:nvPr/>
        </p:nvSpPr>
        <p:spPr>
          <a:xfrm>
            <a:off x="457200" y="4014215"/>
            <a:ext cx="6583680" cy="1755648"/>
          </a:xfrm>
          <a:prstGeom prst="rect">
            <a:avLst/>
          </a:prstGeom>
          <a:noFill/>
        </p:spPr>
        <p:txBody>
          <a:bodyPr wrap="square">
            <a:spAutoFit/>
          </a:bodyPr>
          <a:lstStyle/>
          <a:p>
            <a:pPr>
              <a:spcAft>
                <a:spcPts val="600"/>
              </a:spcAft>
            </a:pPr>
            <a:r>
              <a:rPr b="1" sz="1200" u="sng">
                <a:solidFill>
                  <a:srgbClr val="0066CC"/>
                </a:solidFill>
                <a:hlinkClick r:id="rId4"/>
              </a:rPr>
              <a:t>SETTLEMENT HELPDESK FACILITY</a:t>
            </a:r>
          </a:p>
          <a:p>
            <a:pPr>
              <a:spcBef>
                <a:spcPts val="0"/>
              </a:spcBef>
              <a:spcAft>
                <a:spcPts val="200"/>
              </a:spcAft>
              <a:defRPr sz="1100"/>
            </a:pPr>
            <a:r>
              <a:t>- The press release issued states that SEBI has established a Settlement Helpdesk Facility to assist applicants in understanding and complying with settlement application procedures.</a:t>
            </a:r>
          </a:p>
          <a:p>
            <a:pPr>
              <a:spcBef>
                <a:spcPts val="0"/>
              </a:spcBef>
              <a:spcAft>
                <a:spcPts val="200"/>
              </a:spcAft>
              <a:defRPr sz="1100"/>
            </a:pPr>
            <a:r>
              <a:t>- This facility addresses queries related to the settlement process and guides applicants on procedural steps involved, including filing applications, computing Indicative Amount as per SEBI regulations, and checking status of pending applications.</a:t>
            </a:r>
          </a:p>
          <a:p>
            <a:pPr>
              <a:spcBef>
                <a:spcPts val="0"/>
              </a:spcBef>
              <a:spcAft>
                <a:spcPts val="200"/>
              </a:spcAft>
              <a:defRPr sz="1100"/>
            </a:pPr>
            <a:r>
              <a:t>- The initiative aims to simplify the process of settling specified proceedings, offering ease to regulated entities and investors.</a:t>
            </a:r>
          </a:p>
        </p:txBody>
      </p:sp>
    </p:spTree>
    <p:extLst>
      <p:ext uri="{BB962C8B-B14F-4D97-AF65-F5344CB8AC3E}">
        <p14:creationId xmlns:p14="http://schemas.microsoft.com/office/powerpoint/2010/main" val="617810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CE85FD45-CBC4-91CD-A97A-EC215316B629}"/>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8D4832D1-3BFB-F83A-0D85-E896BF27D9B0}"/>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CCDDFF27-EB23-9DFF-16D1-EC97DEF909EB}"/>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2D03A656-CBB4-3D92-B767-EBB3CC5B3DE2}"/>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52B01FD4-0535-ABA6-34D3-20DEDB4FA6AF}"/>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B3DD2F7B-59E1-E415-ED1D-36FB36128DC8}"/>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B591F0A1-DF14-A910-4E78-D929D62F9ADD}"/>
              </a:ext>
            </a:extLst>
          </p:cNvPr>
          <p:cNvSpPr txBox="1"/>
          <p:nvPr/>
        </p:nvSpPr>
        <p:spPr>
          <a:xfrm>
            <a:off x="371997"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8 of 19</a:t>
            </a:r>
          </a:p>
        </p:txBody>
      </p:sp>
      <p:pic>
        <p:nvPicPr>
          <p:cNvPr id="4" name="Picture 3">
            <a:extLst>
              <a:ext uri="{FF2B5EF4-FFF2-40B4-BE49-F238E27FC236}">
                <a16:creationId xmlns:a16="http://schemas.microsoft.com/office/drawing/2014/main" id="{41525E64-5DDE-ECDD-1A47-8E8603E40A61}"/>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4FF8101C-5D93-4CCF-03F5-9E464DD901CD}"/>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8710A754-D923-F18D-1C2D-FAE4C17AD96F}"/>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24AC8F59-D9A3-A3EE-741C-2FD7FEADD609}"/>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16" name="TextBox 15"/>
          <p:cNvSpPr txBox="1"/>
          <p:nvPr/>
        </p:nvSpPr>
        <p:spPr>
          <a:xfrm>
            <a:off x="457200" y="1828800"/>
            <a:ext cx="6583680" cy="457200"/>
          </a:xfrm>
          <a:prstGeom prst="rect">
            <a:avLst/>
          </a:prstGeom>
          <a:noFill/>
        </p:spPr>
        <p:txBody>
          <a:bodyPr wrap="none">
            <a:spAutoFit/>
          </a:bodyPr>
          <a:lstStyle/>
          <a:p>
            <a:pPr>
              <a:defRPr b="1" sz="1600">
                <a:solidFill>
                  <a:srgbClr val="003399"/>
                </a:solidFill>
              </a:defRPr>
            </a:pPr>
            <a:r>
              <a:t>➤ CONSULTATION PAPER</a:t>
            </a:r>
          </a:p>
        </p:txBody>
      </p:sp>
      <p:sp>
        <p:nvSpPr>
          <p:cNvPr id="17" name="TextBox 16"/>
          <p:cNvSpPr txBox="1"/>
          <p:nvPr/>
        </p:nvSpPr>
        <p:spPr>
          <a:xfrm>
            <a:off x="457200" y="2286000"/>
            <a:ext cx="6583680" cy="7114032"/>
          </a:xfrm>
          <a:prstGeom prst="rect">
            <a:avLst/>
          </a:prstGeom>
          <a:noFill/>
        </p:spPr>
        <p:txBody>
          <a:bodyPr wrap="square">
            <a:spAutoFit/>
          </a:bodyPr>
          <a:lstStyle/>
          <a:p>
            <a:pPr>
              <a:spcAft>
                <a:spcPts val="600"/>
              </a:spcAft>
            </a:pPr>
            <a:r>
              <a:rPr b="1" sz="1200" u="sng">
                <a:solidFill>
                  <a:srgbClr val="0066CC"/>
                </a:solidFill>
                <a:hlinkClick r:id="rId3"/>
              </a:rPr>
              <a:t>Consultation Paper on Streamlining the Online Dispute Resolution Framework in Indian Securities Market</a:t>
            </a:r>
          </a:p>
          <a:p>
            <a:pPr>
              <a:spcBef>
                <a:spcPts val="400"/>
              </a:spcBef>
              <a:spcAft>
                <a:spcPts val="600"/>
              </a:spcAft>
              <a:defRPr sz="1100"/>
            </a:pPr>
            <a:r>
              <a:t>Streamlining the Online Dispute Resolution Framework in Indian Securities Market</a:t>
            </a:r>
          </a:p>
          <a:p>
            <a:pPr>
              <a:spcBef>
                <a:spcPts val="1200"/>
              </a:spcBef>
              <a:spcAft>
                <a:spcPts val="400"/>
              </a:spcAft>
              <a:defRPr sz="1100" b="1"/>
            </a:pPr>
            <a:r>
              <a:t>1. Objective and Background:</a:t>
            </a:r>
          </a:p>
          <a:p>
            <a:pPr>
              <a:spcBef>
                <a:spcPts val="0"/>
              </a:spcBef>
              <a:spcAft>
                <a:spcPts val="200"/>
              </a:spcAft>
              <a:defRPr sz="1100"/>
            </a:pPr>
            <a:r>
              <a:t>- SEBI had issued Circular on ‘Online Resolution of Disputes in the Indian Securities Market’ on July 31, 2023, and subsequently, it was amended on few occasions. These amendments are consolidated in the Master Circular updated on December 28, 2023.</a:t>
            </a:r>
          </a:p>
          <a:p>
            <a:pPr>
              <a:spcBef>
                <a:spcPts val="0"/>
              </a:spcBef>
              <a:spcAft>
                <a:spcPts val="200"/>
              </a:spcAft>
              <a:defRPr sz="1100"/>
            </a:pPr>
            <a:r>
              <a:t>- Under the existing framework of Grievance Redressal and Online Dispute Resolution (‘ODR’) Framework in Indian Securities Market, investor first files his/her grievance on the SEBI Complaints Redressal System (‘SCORES’) platform. In cases where the grievance remains unresolved through the SCORES mechanism, the same can be escalated in the ODR platform.</a:t>
            </a:r>
          </a:p>
          <a:p>
            <a:pPr>
              <a:spcBef>
                <a:spcPts val="0"/>
              </a:spcBef>
              <a:spcAft>
                <a:spcPts val="200"/>
              </a:spcAft>
              <a:defRPr sz="1100"/>
            </a:pPr>
            <a:r>
              <a:t>- Based on the feedback received from the market participants and for the ease of doing business, it has been decided to reduce the layers of intermediation within the investor grievance and dispute redressal mechanisms and make some changes to bring more clarity in the process. The entire process will remain fully digital and shall be conducted exclusively through online modes.</a:t>
            </a:r>
          </a:p>
          <a:p>
            <a:pPr>
              <a:spcBef>
                <a:spcPts val="1200"/>
              </a:spcBef>
              <a:spcAft>
                <a:spcPts val="400"/>
              </a:spcAft>
              <a:defRPr sz="1100" b="1"/>
            </a:pPr>
            <a:r>
              <a:t>2. Investor Grievance Redressal at SCORES:</a:t>
            </a:r>
          </a:p>
          <a:p>
            <a:pPr>
              <a:spcBef>
                <a:spcPts val="1200"/>
              </a:spcBef>
              <a:spcAft>
                <a:spcPts val="400"/>
              </a:spcAft>
              <a:defRPr sz="1100" b="1"/>
            </a:pPr>
            <a:r>
              <a:t>- Initial Filing:</a:t>
            </a:r>
          </a:p>
          <a:p>
            <a:pPr>
              <a:spcBef>
                <a:spcPts val="400"/>
              </a:spcBef>
              <a:spcAft>
                <a:spcPts val="600"/>
              </a:spcAft>
              <a:defRPr sz="1100"/>
            </a:pPr>
            <a:r>
              <a:t>a) The investor shall first take up his/her grievance against the Registered Intermediary or Listed Company or Market Infrastructure Institutions through the SCORES platform.</a:t>
            </a:r>
          </a:p>
          <a:p>
            <a:pPr>
              <a:spcBef>
                <a:spcPts val="400"/>
              </a:spcBef>
              <a:spcAft>
                <a:spcPts val="600"/>
              </a:spcAft>
              <a:defRPr sz="1100"/>
            </a:pPr>
            <a:r>
              <a:t>b) All Entities, including registered Market Intermediaries and Listed Companies, upon receipt of an investor complaint through SCORES, shall resolve the complaint and submit the Action Taken Report (‘ATR’) on SCORES within 21 calendar days from the date of receipt of such Complaint.</a:t>
            </a:r>
          </a:p>
          <a:p>
            <a:pPr>
              <a:spcBef>
                <a:spcPts val="400"/>
              </a:spcBef>
              <a:spcAft>
                <a:spcPts val="600"/>
              </a:spcAft>
              <a:defRPr sz="1100"/>
            </a:pPr>
            <a:r>
              <a:t>c) The Complaint against the Entity shall be simultaneously forwarded through SCORES to the relevant Designated Body (‘DB’) as mentioned in Paragraph No. 8.</a:t>
            </a:r>
          </a:p>
          <a:p>
            <a:pPr>
              <a:spcBef>
                <a:spcPts val="400"/>
              </a:spcBef>
              <a:spcAft>
                <a:spcPts val="600"/>
              </a:spcAft>
              <a:defRPr sz="1100"/>
            </a:pPr>
            <a:r>
              <a:t>d) The relevant DB shall oversee and ensure timely submission of the ATRs by the concerned Entities within the prescribed time limit of 21 calendar days.</a:t>
            </a:r>
          </a:p>
          <a:p>
            <a:pPr>
              <a:spcBef>
                <a:spcPts val="400"/>
              </a:spcBef>
              <a:spcAft>
                <a:spcPts val="600"/>
              </a:spcAft>
              <a:defRPr sz="1100"/>
            </a:pPr>
            <a:r>
              <a:t>e) The DB shall monitor the ATRs submitted by the Entities falling within its jurisdiction and, wherever necessary, inform and provide guidance to the concerned Entity for improving the quality and effectiveness of redressal of investor grievances.</a:t>
            </a:r>
          </a:p>
          <a:p>
            <a:pPr>
              <a:spcBef>
                <a:spcPts val="1200"/>
              </a:spcBef>
              <a:spcAft>
                <a:spcPts val="400"/>
              </a:spcAft>
              <a:defRPr sz="1100" b="1"/>
            </a:pPr>
            <a:r>
              <a:t>- Escalation to Designated Bodies:</a:t>
            </a:r>
          </a:p>
        </p:txBody>
      </p:sp>
    </p:spTree>
    <p:extLst>
      <p:ext uri="{BB962C8B-B14F-4D97-AF65-F5344CB8AC3E}">
        <p14:creationId xmlns:p14="http://schemas.microsoft.com/office/powerpoint/2010/main" val="3150991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B3E4409F-9F7A-63AC-8444-06C28CC93222}"/>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C35781B7-6E55-2D0D-8D49-F76A81B1F5FF}"/>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D95D8A5F-1F12-6725-846A-B251AFBBCBED}"/>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A0FD5682-D5CE-F5C5-F36A-C85F98BFD79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5A3D4884-3742-EFA0-07DE-33A2AD33E2A8}"/>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62F6FBC1-119D-55DE-4825-E8B1C5B449BE}"/>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62E821D2-B6EA-3E7E-B6AB-9FC27D8C2C28}"/>
              </a:ext>
            </a:extLst>
          </p:cNvPr>
          <p:cNvSpPr txBox="1"/>
          <p:nvPr/>
        </p:nvSpPr>
        <p:spPr>
          <a:xfrm>
            <a:off x="371997"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9 of 19</a:t>
            </a:r>
          </a:p>
        </p:txBody>
      </p:sp>
      <p:pic>
        <p:nvPicPr>
          <p:cNvPr id="4" name="Picture 3">
            <a:extLst>
              <a:ext uri="{FF2B5EF4-FFF2-40B4-BE49-F238E27FC236}">
                <a16:creationId xmlns:a16="http://schemas.microsoft.com/office/drawing/2014/main" id="{E3B55752-CD9F-A57C-0D72-FA8B5C676ECE}"/>
              </a:ext>
            </a:extLst>
          </p:cNvPr>
          <p:cNvPicPr>
            <a:picLocks noChangeAspect="1"/>
          </p:cNvPicPr>
          <p:nvPr/>
        </p:nvPicPr>
        <p:blipFill>
          <a:blip r:embed="rId3"/>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2E8A12CA-F006-F094-AE02-69FD8279D41C}"/>
              </a:ext>
            </a:extLst>
          </p:cNvPr>
          <p:cNvSpPr>
            <a:spLocks noChangeArrowheads="1"/>
          </p:cNvSpPr>
          <p:nvPr/>
        </p:nvSpPr>
        <p:spPr bwMode="auto">
          <a:xfrm>
            <a:off x="429326" y="5155599"/>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07F384DC-24D4-1C95-DC5A-41D0EECF6AF5}"/>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9CC04957-DFA4-8EA8-989D-B2F9F055C143}"/>
              </a:ext>
            </a:extLst>
          </p:cNvPr>
          <p:cNvSpPr>
            <a:spLocks noGrp="1"/>
          </p:cNvSpPr>
          <p:nvPr>
            <p:ph type="sldNum" sz="quarter" idx="12"/>
          </p:nvPr>
        </p:nvSpPr>
        <p:spPr/>
        <p:txBody>
          <a:bodyPr/>
          <a:lstStyle/>
          <a:p>
            <a:fld id="{B6F15528-21DE-4FAA-801E-634DDDAF4B2B}" type="slidenum">
              <a:rPr lang="en-US" smtClean="0"/>
              <a:pPr/>
              <a:t>9</a:t>
            </a:fld>
            <a:endParaRPr lang="en-US" dirty="0"/>
          </a:p>
        </p:txBody>
      </p:sp>
      <p:sp>
        <p:nvSpPr>
          <p:cNvPr id="16" name="TextBox 15"/>
          <p:cNvSpPr txBox="1"/>
          <p:nvPr/>
        </p:nvSpPr>
        <p:spPr>
          <a:xfrm>
            <a:off x="457200" y="1828800"/>
            <a:ext cx="6583680" cy="5980176"/>
          </a:xfrm>
          <a:prstGeom prst="rect">
            <a:avLst/>
          </a:prstGeom>
          <a:noFill/>
        </p:spPr>
        <p:txBody>
          <a:bodyPr wrap="square">
            <a:spAutoFit/>
          </a:bodyPr>
          <a:lstStyle/>
          <a:p>
            <a:pPr>
              <a:spcBef>
                <a:spcPts val="400"/>
              </a:spcBef>
              <a:spcAft>
                <a:spcPts val="600"/>
              </a:spcAft>
              <a:defRPr sz="1100"/>
            </a:pPr>
            <a:r>
              <a:t>a) In cases where the complainant is satisfied with the resolution provided by the Entity through the ATR, or does not seek a review of the resolution of the complaint within 15 calendar days, the complaint shall be disposed of on SCORES.</a:t>
            </a:r>
          </a:p>
          <a:p>
            <a:pPr>
              <a:spcBef>
                <a:spcPts val="400"/>
              </a:spcBef>
              <a:spcAft>
                <a:spcPts val="600"/>
              </a:spcAft>
              <a:defRPr sz="1100"/>
            </a:pPr>
            <a:r>
              <a:t>b) However, where the complainant is not satisfied with the resolution provided by the Entity, the complainant may request for a review of the resolution provided by the Entity within 15 calendar days from the date of the ATR. Further, where the Entity fails to submit the ATR within the stipulated time period of 21 calendar days, the concerned DB shall take cognizance of the Complaint for first review of the resolution through SCORES.</a:t>
            </a:r>
          </a:p>
          <a:p>
            <a:pPr>
              <a:spcBef>
                <a:spcPts val="400"/>
              </a:spcBef>
              <a:spcAft>
                <a:spcPts val="600"/>
              </a:spcAft>
              <a:defRPr sz="1100"/>
            </a:pPr>
            <a:r>
              <a:t>c) The review conducted by the DB shall serve as a pre-Conciliation mechanism aimed at facilitating resolution of the grievance before the matter is escalated to ODR mechanism.</a:t>
            </a:r>
          </a:p>
          <a:p>
            <a:pPr>
              <a:spcBef>
                <a:spcPts val="400"/>
              </a:spcBef>
              <a:spcAft>
                <a:spcPts val="600"/>
              </a:spcAft>
              <a:defRPr sz="1100"/>
            </a:pPr>
            <a:r>
              <a:t>d) The DB may engage with the concerned Entity, wherever necessary, and shall ensure that a revised ATR, along with the outcome of the review, is communicated to the complainant through SCORES within the prescribed timeline of 10 calendar days from the date of review. If the complainant is satisfied with the ATR submitted by DB, the complaint shall stand disposed of on SCORES.</a:t>
            </a:r>
          </a:p>
          <a:p>
            <a:pPr>
              <a:spcBef>
                <a:spcPts val="400"/>
              </a:spcBef>
              <a:spcAft>
                <a:spcPts val="600"/>
              </a:spcAft>
              <a:defRPr sz="1100"/>
            </a:pPr>
            <a:r>
              <a:t>e) In case the complainant remains dissatisfied with the resolution provided pursuant to such review by DB, he/she may, thereafter, avail the ODR mechanism, wherever applicable under this framework. Similarly, in case where the DB fails to submit ATR within prescribed timeline, then such complaint will be auto escalated to ODR mechanism.</a:t>
            </a:r>
          </a:p>
          <a:p>
            <a:pPr>
              <a:spcBef>
                <a:spcPts val="400"/>
              </a:spcBef>
              <a:spcAft>
                <a:spcPts val="600"/>
              </a:spcAft>
              <a:defRPr sz="1100"/>
            </a:pPr>
            <a:r>
              <a:t>f) Notwithstanding the above, and as stated in Paragraph No.11 below, complaints against MIIs (Stock Exchanges, Depositories and Clearing Corporations) shall not be eligible for escalation from SCORES to the ODR mechanism. However, in such cases, the complainant may pursue other modes or avenues of dispute resolution or remedies available under applicable legal framework.</a:t>
            </a:r>
          </a:p>
          <a:p>
            <a:pPr>
              <a:spcBef>
                <a:spcPts val="400"/>
              </a:spcBef>
              <a:spcAft>
                <a:spcPts val="600"/>
              </a:spcAft>
              <a:defRPr sz="1100"/>
            </a:pPr>
            <a:r>
              <a:t>g) Further, in respect of complaints against Alternative Investment Funds (AIFs), Venture Capital Funds (VCFs), KYC Registration Agencies (KRAs) and Credit Rating Agencies (CRAs), where no Designated Body has been specified under this framework, the complainant may directly avail the ODR mechanism, if he/she is dissatisfied with the resolution provided by the concerned entity or where the entity fails to submit the Action Taken Report within the prescribed timeline of 21 calendar days from the date of the complaint.</a:t>
            </a:r>
          </a:p>
          <a:p>
            <a:pPr>
              <a:spcBef>
                <a:spcPts val="400"/>
              </a:spcBef>
              <a:spcAft>
                <a:spcPts val="600"/>
              </a:spcAft>
              <a:defRPr sz="1100"/>
            </a:pPr>
            <a:r>
              <a:t>3. Investor Dispute Resolution at ODR: (To be continued in next part)</a:t>
            </a:r>
          </a:p>
        </p:txBody>
      </p:sp>
      <p:sp>
        <p:nvSpPr>
          <p:cNvPr id="17" name="TextBox 16"/>
          <p:cNvSpPr txBox="1"/>
          <p:nvPr/>
        </p:nvSpPr>
        <p:spPr>
          <a:xfrm>
            <a:off x="457200" y="7946136"/>
            <a:ext cx="6583680" cy="1344167"/>
          </a:xfrm>
          <a:prstGeom prst="rect">
            <a:avLst/>
          </a:prstGeom>
          <a:noFill/>
        </p:spPr>
        <p:txBody>
          <a:bodyPr wrap="square">
            <a:spAutoFit/>
          </a:bodyPr>
          <a:lstStyle/>
          <a:p>
            <a:pPr>
              <a:spcAft>
                <a:spcPts val="600"/>
              </a:spcAft>
            </a:pPr>
            <a:r>
              <a:rPr b="1" sz="1200" u="sng">
                <a:solidFill>
                  <a:srgbClr val="0066CC"/>
                </a:solidFill>
                <a:hlinkClick r:id="rId4"/>
              </a:rPr>
              <a:t>Consultation Paper on Comprehensive Review of SEBI (Portfolio Managers) Regulations, 2020</a:t>
            </a:r>
          </a:p>
          <a:p>
            <a:pPr>
              <a:spcBef>
                <a:spcPts val="400"/>
              </a:spcBef>
              <a:spcAft>
                <a:spcPts val="600"/>
              </a:spcAft>
              <a:defRPr sz="1100"/>
            </a:pPr>
            <a:r>
              <a:t>Title: Proposed Changes to Portfolio Management Regulations</a:t>
            </a:r>
          </a:p>
          <a:p>
            <a:pPr>
              <a:spcBef>
                <a:spcPts val="400"/>
              </a:spcBef>
              <a:spcAft>
                <a:spcPts val="600"/>
              </a:spcAft>
              <a:defRPr sz="1100"/>
            </a:pPr>
            <a:r>
              <a:t>1. Investment in Foreign Securities: The proposal to allow portfolio managers to invest in foreign securities has been put forward. This would include a list of permitted instruments and compliance with the reporting requirements as per applicable law. [Consultation 3 and 4]</a:t>
            </a:r>
          </a:p>
        </p:txBody>
      </p:sp>
    </p:spTree>
    <p:extLst>
      <p:ext uri="{BB962C8B-B14F-4D97-AF65-F5344CB8AC3E}">
        <p14:creationId xmlns:p14="http://schemas.microsoft.com/office/powerpoint/2010/main" val="1820983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E4326579-D67A-1CE5-6308-9E37C1754B68}"/>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B2524028-2C9B-1404-BE53-33ADB3A2FCD5}"/>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E2514E86-0813-FDB3-C8E1-A65BAC7CAF8B}"/>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09FAB878-0211-ED08-EE38-35F69816CF2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4B05D324-5046-D7D5-9841-5447C419D50D}"/>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F0D261B9-C556-A210-8F75-69B5678B6DD0}"/>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D0A12A1A-9265-659A-0EED-42FD4976DAAB}"/>
              </a:ext>
            </a:extLst>
          </p:cNvPr>
          <p:cNvSpPr txBox="1"/>
          <p:nvPr/>
        </p:nvSpPr>
        <p:spPr>
          <a:xfrm>
            <a:off x="349250"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10 of 19</a:t>
            </a:r>
          </a:p>
        </p:txBody>
      </p:sp>
      <p:pic>
        <p:nvPicPr>
          <p:cNvPr id="4" name="Picture 3">
            <a:extLst>
              <a:ext uri="{FF2B5EF4-FFF2-40B4-BE49-F238E27FC236}">
                <a16:creationId xmlns:a16="http://schemas.microsoft.com/office/drawing/2014/main" id="{4ED11A61-0C56-09B4-EE85-24320CEA0716}"/>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DAAE1D69-07AD-34DE-A40D-39BC5927BFF2}"/>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E418F2FF-AB72-6152-EFFD-3BF109C49EDA}"/>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73BF2278-C9D9-6969-211F-206FF6E49823}"/>
              </a:ext>
            </a:extLst>
          </p:cNvPr>
          <p:cNvSpPr>
            <a:spLocks noGrp="1"/>
          </p:cNvSpPr>
          <p:nvPr>
            <p:ph type="sldNum" sz="quarter" idx="12"/>
          </p:nvPr>
        </p:nvSpPr>
        <p:spPr/>
        <p:txBody>
          <a:bodyPr/>
          <a:lstStyle/>
          <a:p>
            <a:fld id="{B6F15528-21DE-4FAA-801E-634DDDAF4B2B}" type="slidenum">
              <a:rPr lang="en-US" smtClean="0"/>
              <a:pPr/>
              <a:t>10</a:t>
            </a:fld>
            <a:endParaRPr lang="en-US" dirty="0"/>
          </a:p>
        </p:txBody>
      </p:sp>
      <p:sp>
        <p:nvSpPr>
          <p:cNvPr id="16" name="TextBox 15"/>
          <p:cNvSpPr txBox="1"/>
          <p:nvPr/>
        </p:nvSpPr>
        <p:spPr>
          <a:xfrm>
            <a:off x="457200" y="1828800"/>
            <a:ext cx="6583680" cy="2907792"/>
          </a:xfrm>
          <a:prstGeom prst="rect">
            <a:avLst/>
          </a:prstGeom>
          <a:noFill/>
        </p:spPr>
        <p:txBody>
          <a:bodyPr wrap="square">
            <a:spAutoFit/>
          </a:bodyPr>
          <a:lstStyle/>
          <a:p>
            <a:pPr>
              <a:spcBef>
                <a:spcPts val="400"/>
              </a:spcBef>
              <a:spcAft>
                <a:spcPts val="600"/>
              </a:spcAft>
              <a:defRPr sz="1100"/>
            </a:pPr>
            <a:r>
              <a:t>2. Introduction of MF-only PMS (MF-PMS): A simplified "Mutual Fund-only" PMS framework is proposed to meet the demand for a more accessible, inclusive professional investment landscape. This framework aims to serve mass-affluent investors who seek professional portfolio management services for their mutual fund investments. [Consultation 5 - 9]</a:t>
            </a:r>
          </a:p>
          <a:p>
            <a:pPr>
              <a:spcBef>
                <a:spcPts val="400"/>
              </a:spcBef>
              <a:spcAft>
                <a:spcPts val="600"/>
              </a:spcAft>
              <a:defRPr sz="1100"/>
            </a:pPr>
            <a:r>
              <a:t>3. Greater Flexibility for Investment in Exchange Traded Derivatives: The proposal is to permit portfolio managers to invest client’s funds in exchange traded derivatives in the manner as specified, including limits on total exposure, unhedged short exposure, and options. [Consultation 10 - 13]</a:t>
            </a:r>
          </a:p>
          <a:p>
            <a:pPr>
              <a:spcBef>
                <a:spcPts val="400"/>
              </a:spcBef>
              <a:spcAft>
                <a:spcPts val="600"/>
              </a:spcAft>
              <a:defRPr sz="1100"/>
            </a:pPr>
            <a:r>
              <a:t>4. Ease of Compliance Measures: Proposed measures include aligning the definition of related party with the Companies Act, 2013, rationalizing educational qualifications for principal officers, simplifying disclosure documents, and providing clarity on net worth requirements. [Consultation not specified]</a:t>
            </a:r>
          </a:p>
          <a:p>
            <a:pPr>
              <a:spcBef>
                <a:spcPts val="400"/>
              </a:spcBef>
              <a:spcAft>
                <a:spcPts val="600"/>
              </a:spcAft>
              <a:defRPr sz="1100"/>
            </a:pPr>
            <a:r>
              <a:t>These proposals aim to foster a more diverse and flexible investment landscape, promote ease of doing business, and cater to the evolving needs and demands of investors. Stakeholders are encouraged to provide feedback on these proposed changes.</a:t>
            </a:r>
          </a:p>
        </p:txBody>
      </p:sp>
    </p:spTree>
    <p:extLst>
      <p:ext uri="{BB962C8B-B14F-4D97-AF65-F5344CB8AC3E}">
        <p14:creationId xmlns:p14="http://schemas.microsoft.com/office/powerpoint/2010/main" val="1727814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grpSp>
        <p:nvGrpSpPr>
          <p:cNvPr id="2" name="Group 2"/>
          <p:cNvGrpSpPr/>
          <p:nvPr/>
        </p:nvGrpSpPr>
        <p:grpSpPr>
          <a:xfrm>
            <a:off x="0" y="6493418"/>
            <a:ext cx="7569820" cy="4620676"/>
            <a:chOff x="0" y="0"/>
            <a:chExt cx="2712853" cy="1655946"/>
          </a:xfrm>
          <a:solidFill>
            <a:srgbClr val="00B0F0"/>
          </a:solidFill>
        </p:grpSpPr>
        <p:sp>
          <p:nvSpPr>
            <p:cNvPr id="3" name="Freeform 3"/>
            <p:cNvSpPr/>
            <p:nvPr/>
          </p:nvSpPr>
          <p:spPr>
            <a:xfrm>
              <a:off x="0" y="0"/>
              <a:ext cx="2712853" cy="1655946"/>
            </a:xfrm>
            <a:custGeom>
              <a:avLst/>
              <a:gdLst/>
              <a:ahLst/>
              <a:cxnLst/>
              <a:rect l="l" t="t" r="r" b="b"/>
              <a:pathLst>
                <a:path w="2712853" h="1655946">
                  <a:moveTo>
                    <a:pt x="0" y="0"/>
                  </a:moveTo>
                  <a:lnTo>
                    <a:pt x="2712853" y="0"/>
                  </a:lnTo>
                  <a:lnTo>
                    <a:pt x="2712853" y="1655946"/>
                  </a:lnTo>
                  <a:lnTo>
                    <a:pt x="0" y="1655946"/>
                  </a:lnTo>
                  <a:close/>
                </a:path>
              </a:pathLst>
            </a:custGeom>
            <a:grpFill/>
          </p:spPr>
          <p:txBody>
            <a:bodyPr/>
            <a:lstStyle/>
            <a:p>
              <a:endParaRPr lang="en-US"/>
            </a:p>
          </p:txBody>
        </p:sp>
        <p:sp>
          <p:nvSpPr>
            <p:cNvPr id="4" name="TextBox 4"/>
            <p:cNvSpPr txBox="1"/>
            <p:nvPr/>
          </p:nvSpPr>
          <p:spPr>
            <a:xfrm>
              <a:off x="0" y="-28575"/>
              <a:ext cx="2712853" cy="1684521"/>
            </a:xfrm>
            <a:prstGeom prst="rect">
              <a:avLst/>
            </a:prstGeom>
            <a:grpFill/>
          </p:spPr>
          <p:txBody>
            <a:bodyPr lIns="50800" tIns="50800" rIns="50800" bIns="50800" rtlCol="0" anchor="ctr"/>
            <a:lstStyle/>
            <a:p>
              <a:pPr algn="ctr">
                <a:lnSpc>
                  <a:spcPts val="1960"/>
                </a:lnSpc>
                <a:spcBef>
                  <a:spcPct val="0"/>
                </a:spcBef>
              </a:pPr>
              <a:endParaRPr/>
            </a:p>
          </p:txBody>
        </p:sp>
      </p:grpSp>
      <p:grpSp>
        <p:nvGrpSpPr>
          <p:cNvPr id="5" name="Group 5"/>
          <p:cNvGrpSpPr/>
          <p:nvPr/>
        </p:nvGrpSpPr>
        <p:grpSpPr>
          <a:xfrm>
            <a:off x="0" y="6502867"/>
            <a:ext cx="7569820" cy="4065232"/>
            <a:chOff x="0" y="0"/>
            <a:chExt cx="2712853" cy="1456888"/>
          </a:xfrm>
          <a:solidFill>
            <a:schemeClr val="tx2"/>
          </a:solidFill>
        </p:grpSpPr>
        <p:sp>
          <p:nvSpPr>
            <p:cNvPr id="6" name="Freeform 6"/>
            <p:cNvSpPr/>
            <p:nvPr/>
          </p:nvSpPr>
          <p:spPr>
            <a:xfrm>
              <a:off x="0" y="0"/>
              <a:ext cx="2712853" cy="1456888"/>
            </a:xfrm>
            <a:custGeom>
              <a:avLst/>
              <a:gdLst/>
              <a:ahLst/>
              <a:cxnLst/>
              <a:rect l="l" t="t" r="r" b="b"/>
              <a:pathLst>
                <a:path w="2712853" h="1456888">
                  <a:moveTo>
                    <a:pt x="0" y="0"/>
                  </a:moveTo>
                  <a:lnTo>
                    <a:pt x="2712853" y="0"/>
                  </a:lnTo>
                  <a:lnTo>
                    <a:pt x="2712853" y="1456888"/>
                  </a:lnTo>
                  <a:lnTo>
                    <a:pt x="0" y="1456888"/>
                  </a:lnTo>
                  <a:close/>
                </a:path>
              </a:pathLst>
            </a:custGeom>
            <a:grpFill/>
            <a:ln>
              <a:solidFill>
                <a:srgbClr val="00B0F0"/>
              </a:solidFill>
            </a:ln>
          </p:spPr>
          <p:txBody>
            <a:bodyPr/>
            <a:lstStyle/>
            <a:p>
              <a:endParaRPr lang="en-US"/>
            </a:p>
          </p:txBody>
        </p:sp>
        <p:sp>
          <p:nvSpPr>
            <p:cNvPr id="7" name="TextBox 7"/>
            <p:cNvSpPr txBox="1"/>
            <p:nvPr/>
          </p:nvSpPr>
          <p:spPr>
            <a:xfrm>
              <a:off x="0" y="-28575"/>
              <a:ext cx="2712853" cy="1485463"/>
            </a:xfrm>
            <a:prstGeom prst="rect">
              <a:avLst/>
            </a:prstGeom>
            <a:grpFill/>
            <a:ln>
              <a:solidFill>
                <a:srgbClr val="00B0F0"/>
              </a:solidFill>
            </a:ln>
          </p:spPr>
          <p:txBody>
            <a:bodyPr lIns="50800" tIns="50800" rIns="50800" bIns="50800" rtlCol="0" anchor="ctr"/>
            <a:lstStyle/>
            <a:p>
              <a:pPr algn="ctr">
                <a:lnSpc>
                  <a:spcPts val="1960"/>
                </a:lnSpc>
                <a:spcBef>
                  <a:spcPct val="0"/>
                </a:spcBef>
              </a:pPr>
              <a:endParaRPr dirty="0"/>
            </a:p>
          </p:txBody>
        </p:sp>
      </p:grpSp>
      <p:grpSp>
        <p:nvGrpSpPr>
          <p:cNvPr id="11" name="Group 11"/>
          <p:cNvGrpSpPr/>
          <p:nvPr/>
        </p:nvGrpSpPr>
        <p:grpSpPr>
          <a:xfrm>
            <a:off x="-29425" y="0"/>
            <a:ext cx="7560000" cy="671389"/>
            <a:chOff x="0" y="0"/>
            <a:chExt cx="2709333" cy="240611"/>
          </a:xfrm>
          <a:solidFill>
            <a:srgbClr val="00B0F0"/>
          </a:solidFill>
        </p:grpSpPr>
        <p:sp>
          <p:nvSpPr>
            <p:cNvPr id="12" name="Freeform 12"/>
            <p:cNvSpPr/>
            <p:nvPr/>
          </p:nvSpPr>
          <p:spPr>
            <a:xfrm>
              <a:off x="0" y="0"/>
              <a:ext cx="2709333" cy="240611"/>
            </a:xfrm>
            <a:custGeom>
              <a:avLst/>
              <a:gdLst/>
              <a:ahLst/>
              <a:cxnLst/>
              <a:rect l="l" t="t" r="r" b="b"/>
              <a:pathLst>
                <a:path w="2709333" h="240611">
                  <a:moveTo>
                    <a:pt x="0" y="0"/>
                  </a:moveTo>
                  <a:lnTo>
                    <a:pt x="2709333" y="0"/>
                  </a:lnTo>
                  <a:lnTo>
                    <a:pt x="2709333" y="240611"/>
                  </a:lnTo>
                  <a:lnTo>
                    <a:pt x="0" y="240611"/>
                  </a:lnTo>
                  <a:close/>
                </a:path>
              </a:pathLst>
            </a:custGeom>
            <a:grpFill/>
          </p:spPr>
          <p:txBody>
            <a:bodyPr/>
            <a:lstStyle/>
            <a:p>
              <a:endParaRPr lang="en-US"/>
            </a:p>
          </p:txBody>
        </p:sp>
        <p:sp>
          <p:nvSpPr>
            <p:cNvPr id="13" name="TextBox 13"/>
            <p:cNvSpPr txBox="1"/>
            <p:nvPr/>
          </p:nvSpPr>
          <p:spPr>
            <a:xfrm>
              <a:off x="0" y="-28575"/>
              <a:ext cx="2709333" cy="269186"/>
            </a:xfrm>
            <a:prstGeom prst="rect">
              <a:avLst/>
            </a:prstGeom>
            <a:grpFill/>
          </p:spPr>
          <p:txBody>
            <a:bodyPr lIns="50800" tIns="50800" rIns="50800" bIns="50800" rtlCol="0" anchor="ctr"/>
            <a:lstStyle/>
            <a:p>
              <a:pPr algn="ctr">
                <a:lnSpc>
                  <a:spcPts val="1960"/>
                </a:lnSpc>
                <a:spcBef>
                  <a:spcPct val="0"/>
                </a:spcBef>
              </a:pPr>
              <a:endParaRPr/>
            </a:p>
          </p:txBody>
        </p:sp>
      </p:grpSp>
      <p:grpSp>
        <p:nvGrpSpPr>
          <p:cNvPr id="14" name="Group 14"/>
          <p:cNvGrpSpPr/>
          <p:nvPr/>
        </p:nvGrpSpPr>
        <p:grpSpPr>
          <a:xfrm>
            <a:off x="-29425" y="0"/>
            <a:ext cx="7569820" cy="558063"/>
            <a:chOff x="0" y="0"/>
            <a:chExt cx="2712853" cy="199997"/>
          </a:xfrm>
          <a:solidFill>
            <a:schemeClr val="tx2"/>
          </a:solidFill>
        </p:grpSpPr>
        <p:sp>
          <p:nvSpPr>
            <p:cNvPr id="15" name="Freeform 15"/>
            <p:cNvSpPr/>
            <p:nvPr/>
          </p:nvSpPr>
          <p:spPr>
            <a:xfrm>
              <a:off x="0" y="0"/>
              <a:ext cx="2712853" cy="199997"/>
            </a:xfrm>
            <a:custGeom>
              <a:avLst/>
              <a:gdLst/>
              <a:ahLst/>
              <a:cxnLst/>
              <a:rect l="l" t="t" r="r" b="b"/>
              <a:pathLst>
                <a:path w="2712853" h="199997">
                  <a:moveTo>
                    <a:pt x="0" y="0"/>
                  </a:moveTo>
                  <a:lnTo>
                    <a:pt x="2712853" y="0"/>
                  </a:lnTo>
                  <a:lnTo>
                    <a:pt x="2712853" y="199997"/>
                  </a:lnTo>
                  <a:lnTo>
                    <a:pt x="0" y="199997"/>
                  </a:lnTo>
                  <a:close/>
                </a:path>
              </a:pathLst>
            </a:custGeom>
            <a:grpFill/>
          </p:spPr>
          <p:txBody>
            <a:bodyPr/>
            <a:lstStyle/>
            <a:p>
              <a:endParaRPr lang="en-US"/>
            </a:p>
          </p:txBody>
        </p:sp>
        <p:sp>
          <p:nvSpPr>
            <p:cNvPr id="16" name="TextBox 16"/>
            <p:cNvSpPr txBox="1"/>
            <p:nvPr/>
          </p:nvSpPr>
          <p:spPr>
            <a:xfrm>
              <a:off x="0" y="-28575"/>
              <a:ext cx="2712853" cy="228572"/>
            </a:xfrm>
            <a:prstGeom prst="rect">
              <a:avLst/>
            </a:prstGeom>
            <a:grpFill/>
          </p:spPr>
          <p:txBody>
            <a:bodyPr lIns="50800" tIns="50800" rIns="50800" bIns="50800" rtlCol="0" anchor="ctr"/>
            <a:lstStyle/>
            <a:p>
              <a:pPr algn="ctr">
                <a:lnSpc>
                  <a:spcPts val="1960"/>
                </a:lnSpc>
                <a:spcBef>
                  <a:spcPct val="0"/>
                </a:spcBef>
              </a:pPr>
              <a:endParaRPr/>
            </a:p>
          </p:txBody>
        </p:sp>
      </p:grpSp>
      <p:sp>
        <p:nvSpPr>
          <p:cNvPr id="17" name="Freeform 17"/>
          <p:cNvSpPr/>
          <p:nvPr/>
        </p:nvSpPr>
        <p:spPr>
          <a:xfrm>
            <a:off x="388949" y="8928101"/>
            <a:ext cx="412175" cy="412175"/>
          </a:xfrm>
          <a:custGeom>
            <a:avLst/>
            <a:gdLst/>
            <a:ahLst/>
            <a:cxnLst/>
            <a:rect l="l" t="t" r="r" b="b"/>
            <a:pathLst>
              <a:path w="412175" h="412175">
                <a:moveTo>
                  <a:pt x="0" y="0"/>
                </a:moveTo>
                <a:lnTo>
                  <a:pt x="412176" y="0"/>
                </a:lnTo>
                <a:lnTo>
                  <a:pt x="412176" y="412175"/>
                </a:lnTo>
                <a:lnTo>
                  <a:pt x="0" y="412175"/>
                </a:lnTo>
                <a:lnTo>
                  <a:pt x="0" y="0"/>
                </a:lnTo>
                <a:close/>
              </a:path>
            </a:pathLst>
          </a:custGeom>
          <a:blipFill>
            <a:blip>
              <a:extLst>
                <a:ext uri="{96DAC541-7B7A-43D3-8B79-37D633B846F1}">
                  <asvg:svgBlip xmlns:asvg="http://schemas.microsoft.com/office/drawing/2016/SVG/main" r:embed="rId2"/>
                </a:ext>
              </a:extLst>
            </a:blip>
            <a:stretch>
              <a:fillRect/>
            </a:stretch>
          </a:blipFill>
          <a:ln>
            <a:solidFill>
              <a:srgbClr val="00B0F0"/>
            </a:solidFill>
          </a:ln>
        </p:spPr>
        <p:txBody>
          <a:bodyPr/>
          <a:lstStyle/>
          <a:p>
            <a:endParaRPr lang="en-US" dirty="0"/>
          </a:p>
        </p:txBody>
      </p:sp>
      <p:sp>
        <p:nvSpPr>
          <p:cNvPr id="18" name="Freeform 18"/>
          <p:cNvSpPr/>
          <p:nvPr/>
        </p:nvSpPr>
        <p:spPr>
          <a:xfrm>
            <a:off x="414043" y="9605149"/>
            <a:ext cx="412175" cy="412175"/>
          </a:xfrm>
          <a:custGeom>
            <a:avLst/>
            <a:gdLst/>
            <a:ahLst/>
            <a:cxnLst/>
            <a:rect l="l" t="t" r="r" b="b"/>
            <a:pathLst>
              <a:path w="412175" h="412175">
                <a:moveTo>
                  <a:pt x="0" y="0"/>
                </a:moveTo>
                <a:lnTo>
                  <a:pt x="412176" y="0"/>
                </a:lnTo>
                <a:lnTo>
                  <a:pt x="412176" y="412175"/>
                </a:lnTo>
                <a:lnTo>
                  <a:pt x="0" y="41217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9" name="Freeform 19"/>
          <p:cNvSpPr/>
          <p:nvPr/>
        </p:nvSpPr>
        <p:spPr>
          <a:xfrm>
            <a:off x="4144696" y="8926661"/>
            <a:ext cx="390492" cy="390492"/>
          </a:xfrm>
          <a:custGeom>
            <a:avLst/>
            <a:gdLst/>
            <a:ahLst/>
            <a:cxnLst/>
            <a:rect l="l" t="t" r="r" b="b"/>
            <a:pathLst>
              <a:path w="390492" h="390492">
                <a:moveTo>
                  <a:pt x="0" y="0"/>
                </a:moveTo>
                <a:lnTo>
                  <a:pt x="390492" y="0"/>
                </a:lnTo>
                <a:lnTo>
                  <a:pt x="390492" y="390492"/>
                </a:lnTo>
                <a:lnTo>
                  <a:pt x="0" y="39049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1" name="TextBox 21"/>
          <p:cNvSpPr txBox="1"/>
          <p:nvPr/>
        </p:nvSpPr>
        <p:spPr>
          <a:xfrm>
            <a:off x="307304" y="861889"/>
            <a:ext cx="3318546" cy="461665"/>
          </a:xfrm>
          <a:prstGeom prst="rect">
            <a:avLst/>
          </a:prstGeom>
        </p:spPr>
        <p:txBody>
          <a:bodyPr wrap="square" lIns="0" tIns="0" rIns="0" bIns="0" rtlCol="0" anchor="t">
            <a:spAutoFit/>
          </a:bodyPr>
          <a:lstStyle/>
          <a:p>
            <a:pPr algn="l">
              <a:lnSpc>
                <a:spcPts val="3637"/>
              </a:lnSpc>
            </a:pPr>
            <a:r>
              <a:rPr lang="en-US" sz="3277" b="1" dirty="0">
                <a:solidFill>
                  <a:srgbClr val="000000"/>
                </a:solidFill>
                <a:latin typeface="Montserrat Classic Bold"/>
                <a:ea typeface="Montserrat Classic Bold"/>
                <a:cs typeface="Montserrat Classic Bold"/>
                <a:sym typeface="Montserrat Classic Bold"/>
              </a:rPr>
              <a:t>PRAVARTIYA</a:t>
            </a:r>
          </a:p>
        </p:txBody>
      </p:sp>
      <p:sp>
        <p:nvSpPr>
          <p:cNvPr id="23" name="TextBox 23"/>
          <p:cNvSpPr txBox="1"/>
          <p:nvPr/>
        </p:nvSpPr>
        <p:spPr>
          <a:xfrm>
            <a:off x="1038965" y="9609690"/>
            <a:ext cx="2586885" cy="213072"/>
          </a:xfrm>
          <a:prstGeom prst="rect">
            <a:avLst/>
          </a:prstGeom>
        </p:spPr>
        <p:txBody>
          <a:bodyPr wrap="square" lIns="0" tIns="0" rIns="0" bIns="0" rtlCol="0" anchor="t">
            <a:spAutoFit/>
          </a:bodyPr>
          <a:lstStyle/>
          <a:p>
            <a:pPr algn="l">
              <a:lnSpc>
                <a:spcPts val="1766"/>
              </a:lnSpc>
            </a:pPr>
            <a:r>
              <a:rPr lang="en-US" sz="1261" dirty="0">
                <a:solidFill>
                  <a:srgbClr val="FFFFFF"/>
                </a:solidFill>
                <a:latin typeface="Montserrat"/>
                <a:ea typeface="Montserrat"/>
                <a:cs typeface="Montserrat"/>
                <a:sym typeface="Montserrat"/>
              </a:rPr>
              <a:t>www.akshayamcorporate.com</a:t>
            </a:r>
          </a:p>
        </p:txBody>
      </p:sp>
      <p:sp>
        <p:nvSpPr>
          <p:cNvPr id="24" name="TextBox 24"/>
          <p:cNvSpPr txBox="1"/>
          <p:nvPr/>
        </p:nvSpPr>
        <p:spPr>
          <a:xfrm>
            <a:off x="4566659" y="8928101"/>
            <a:ext cx="2825607" cy="1095621"/>
          </a:xfrm>
          <a:prstGeom prst="rect">
            <a:avLst/>
          </a:prstGeom>
        </p:spPr>
        <p:txBody>
          <a:bodyPr lIns="0" tIns="0" rIns="0" bIns="0" rtlCol="0" anchor="t">
            <a:spAutoFit/>
          </a:bodyPr>
          <a:lstStyle/>
          <a:p>
            <a:pPr>
              <a:lnSpc>
                <a:spcPts val="1679"/>
              </a:lnSpc>
            </a:pPr>
            <a:r>
              <a:rPr lang="en-US" sz="1200" dirty="0">
                <a:solidFill>
                  <a:srgbClr val="FFFFFF"/>
                </a:solidFill>
                <a:latin typeface="Montserrat"/>
                <a:ea typeface="Montserrat"/>
                <a:cs typeface="Montserrat"/>
                <a:sym typeface="Montserrat"/>
              </a:rPr>
              <a:t>Head Office: </a:t>
            </a:r>
            <a:r>
              <a:rPr lang="en-US" sz="1200" dirty="0">
                <a:solidFill>
                  <a:srgbClr val="FFFFFF"/>
                </a:solidFill>
                <a:latin typeface="Montserrat"/>
              </a:rPr>
              <a:t>5th Floor – West Wing Old No. 23 &amp; 24, New No. 37 </a:t>
            </a:r>
            <a:r>
              <a:rPr lang="en-US" sz="1200" dirty="0" err="1">
                <a:solidFill>
                  <a:srgbClr val="FFFFFF"/>
                </a:solidFill>
                <a:latin typeface="Montserrat"/>
              </a:rPr>
              <a:t>Chamiers</a:t>
            </a:r>
            <a:r>
              <a:rPr lang="en-US" sz="1200" dirty="0">
                <a:solidFill>
                  <a:srgbClr val="FFFFFF"/>
                </a:solidFill>
                <a:latin typeface="Montserrat"/>
              </a:rPr>
              <a:t> Tower, </a:t>
            </a:r>
            <a:r>
              <a:rPr lang="en-US" sz="1200" dirty="0" err="1">
                <a:solidFill>
                  <a:srgbClr val="FFFFFF"/>
                </a:solidFill>
                <a:latin typeface="Montserrat"/>
              </a:rPr>
              <a:t>Chamiers</a:t>
            </a:r>
            <a:r>
              <a:rPr lang="en-US" sz="1200" dirty="0">
                <a:solidFill>
                  <a:srgbClr val="FFFFFF"/>
                </a:solidFill>
                <a:latin typeface="Montserrat"/>
              </a:rPr>
              <a:t> Road Teynampet,</a:t>
            </a:r>
            <a:br>
              <a:rPr lang="en-US" sz="1200" dirty="0">
                <a:solidFill>
                  <a:srgbClr val="FFFFFF"/>
                </a:solidFill>
                <a:latin typeface="Montserrat"/>
              </a:rPr>
            </a:br>
            <a:r>
              <a:rPr lang="en-US" sz="1200" dirty="0">
                <a:solidFill>
                  <a:srgbClr val="FFFFFF"/>
                </a:solidFill>
                <a:latin typeface="Montserrat"/>
              </a:rPr>
              <a:t>Chennai – 600 018</a:t>
            </a:r>
            <a:endParaRPr lang="en-US" sz="1200" dirty="0">
              <a:solidFill>
                <a:srgbClr val="FFFFFF"/>
              </a:solidFill>
              <a:latin typeface="Montserrat"/>
              <a:sym typeface="Montserrat"/>
            </a:endParaRPr>
          </a:p>
        </p:txBody>
      </p:sp>
      <p:sp>
        <p:nvSpPr>
          <p:cNvPr id="25" name="TextBox 25"/>
          <p:cNvSpPr txBox="1"/>
          <p:nvPr/>
        </p:nvSpPr>
        <p:spPr>
          <a:xfrm>
            <a:off x="958158" y="8896372"/>
            <a:ext cx="3381784" cy="443904"/>
          </a:xfrm>
          <a:prstGeom prst="rect">
            <a:avLst/>
          </a:prstGeom>
        </p:spPr>
        <p:txBody>
          <a:bodyPr wrap="square" lIns="0" tIns="0" rIns="0" bIns="0" rtlCol="0" anchor="t">
            <a:spAutoFit/>
          </a:bodyPr>
          <a:lstStyle/>
          <a:p>
            <a:pPr algn="l">
              <a:lnSpc>
                <a:spcPts val="1766"/>
              </a:lnSpc>
            </a:pPr>
            <a:r>
              <a:rPr lang="en-US" sz="1261" u="sng" dirty="0">
                <a:solidFill>
                  <a:schemeClr val="bg1"/>
                </a:solidFill>
                <a:latin typeface="Montserrat"/>
                <a:ea typeface="Montserrat"/>
                <a:cs typeface="Montserrat"/>
                <a:sym typeface="Montserrat"/>
                <a:hlinkClick r:id="rId5" tooltip="mailto:Karthik@Peritumpartners.com">
                  <a:extLst>
                    <a:ext uri="{A12FA001-AC4F-418D-AE19-62706E023703}">
                      <ahyp:hlinkClr xmlns:ahyp="http://schemas.microsoft.com/office/drawing/2018/hyperlinkcolor" val="tx"/>
                    </a:ext>
                  </a:extLst>
                </a:hlinkClick>
              </a:rPr>
              <a:t>bhuvana.r@akshayamcorporate.com</a:t>
            </a:r>
          </a:p>
          <a:p>
            <a:pPr algn="l">
              <a:lnSpc>
                <a:spcPts val="1766"/>
              </a:lnSpc>
            </a:pPr>
            <a:r>
              <a:rPr lang="en-US" sz="1261" u="sng" dirty="0" err="1">
                <a:solidFill>
                  <a:schemeClr val="bg1"/>
                </a:solidFill>
                <a:latin typeface="Montserrat"/>
                <a:ea typeface="Montserrat"/>
                <a:cs typeface="Montserrat"/>
                <a:sym typeface="Montserrat"/>
                <a:hlinkClick r:id="rId5" tooltip="mailto:Karthik@Peritumpartners.com">
                  <a:extLst>
                    <a:ext uri="{A12FA001-AC4F-418D-AE19-62706E023703}">
                      <ahyp:hlinkClr xmlns:ahyp="http://schemas.microsoft.com/office/drawing/2018/hyperlinkcolor" val="tx"/>
                    </a:ext>
                  </a:extLst>
                </a:hlinkClick>
              </a:rPr>
              <a:t>Jayanth.v</a:t>
            </a:r>
            <a:r>
              <a:rPr lang="en-US" sz="1261" u="sng" dirty="0">
                <a:solidFill>
                  <a:schemeClr val="bg1"/>
                </a:solidFill>
                <a:latin typeface="Montserrat"/>
                <a:ea typeface="Montserrat"/>
                <a:cs typeface="Montserrat"/>
                <a:sym typeface="Montserrat"/>
                <a:hlinkClick r:id="rId5" tooltip="mailto:Karthik@Peritumpartners.com">
                  <a:extLst>
                    <a:ext uri="{A12FA001-AC4F-418D-AE19-62706E023703}">
                      <ahyp:hlinkClr xmlns:ahyp="http://schemas.microsoft.com/office/drawing/2018/hyperlinkcolor" val="tx"/>
                    </a:ext>
                  </a:extLst>
                </a:hlinkClick>
              </a:rPr>
              <a:t> @akshayamcorporate.com</a:t>
            </a:r>
          </a:p>
        </p:txBody>
      </p:sp>
      <p:sp>
        <p:nvSpPr>
          <p:cNvPr id="26" name="TextBox 26"/>
          <p:cNvSpPr txBox="1"/>
          <p:nvPr/>
        </p:nvSpPr>
        <p:spPr>
          <a:xfrm>
            <a:off x="307304" y="1454900"/>
            <a:ext cx="6968361" cy="1073564"/>
          </a:xfrm>
          <a:prstGeom prst="rect">
            <a:avLst/>
          </a:prstGeom>
        </p:spPr>
        <p:txBody>
          <a:bodyPr lIns="0" tIns="0" rIns="0" bIns="0" rtlCol="0" anchor="t">
            <a:spAutoFit/>
          </a:bodyPr>
          <a:lstStyle/>
          <a:p>
            <a:pPr algn="just">
              <a:lnSpc>
                <a:spcPts val="1679"/>
              </a:lnSpc>
              <a:spcBef>
                <a:spcPct val="0"/>
              </a:spcBef>
            </a:pPr>
            <a:r>
              <a:rPr lang="en-US" sz="1200" dirty="0">
                <a:solidFill>
                  <a:srgbClr val="000000"/>
                </a:solidFill>
                <a:latin typeface="Montserrat"/>
                <a:ea typeface="Montserrat"/>
                <a:cs typeface="Montserrat"/>
                <a:sym typeface="Montserrat"/>
              </a:rPr>
              <a:t>This newsletter is only for general informational purposes and shall not be construed to constitute legal advice (which can only be given after being formally engaged and familiarizing ourselves with all the relevant facts). Should you have any queries or require any assistance or clarifications with regard to anything contained in this newsletter, please feel free to contact our email Id given below</a:t>
            </a:r>
          </a:p>
        </p:txBody>
      </p:sp>
      <p:pic>
        <p:nvPicPr>
          <p:cNvPr id="9" name="Picture 8" descr="A person presenting to a group of people&#10;&#10;AI-generated content may be incorrect.">
            <a:extLst>
              <a:ext uri="{FF2B5EF4-FFF2-40B4-BE49-F238E27FC236}">
                <a16:creationId xmlns:a16="http://schemas.microsoft.com/office/drawing/2014/main" id="{48BF356C-FBE1-3DD8-28F9-2C5F581914B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320" y="2669867"/>
            <a:ext cx="7569820" cy="3753266"/>
          </a:xfrm>
          <a:prstGeom prst="rect">
            <a:avLst/>
          </a:prstGeom>
        </p:spPr>
      </p:pic>
      <p:pic>
        <p:nvPicPr>
          <p:cNvPr id="8" name="Picture 7">
            <a:extLst>
              <a:ext uri="{FF2B5EF4-FFF2-40B4-BE49-F238E27FC236}">
                <a16:creationId xmlns:a16="http://schemas.microsoft.com/office/drawing/2014/main" id="{77884094-E59E-743C-0481-11960D5D7F7D}"/>
              </a:ext>
            </a:extLst>
          </p:cNvPr>
          <p:cNvPicPr>
            <a:picLocks noChangeAspect="1"/>
          </p:cNvPicPr>
          <p:nvPr/>
        </p:nvPicPr>
        <p:blipFill>
          <a:blip r:embed="rId7"/>
          <a:stretch>
            <a:fillRect/>
          </a:stretch>
        </p:blipFill>
        <p:spPr>
          <a:xfrm>
            <a:off x="2332407" y="6600156"/>
            <a:ext cx="2971801" cy="2059777"/>
          </a:xfrm>
          <a:prstGeom prst="rect">
            <a:avLst/>
          </a:prstGeom>
        </p:spPr>
      </p:pic>
      <p:sp>
        <p:nvSpPr>
          <p:cNvPr id="10" name="Slide Number Placeholder 9">
            <a:extLst>
              <a:ext uri="{FF2B5EF4-FFF2-40B4-BE49-F238E27FC236}">
                <a16:creationId xmlns:a16="http://schemas.microsoft.com/office/drawing/2014/main" id="{A1979B08-17CB-6821-93C3-F472C87A3824}"/>
              </a:ext>
            </a:extLst>
          </p:cNvPr>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DBEDF3"/>
        </a:solidFill>
        <a:effectLst/>
      </p:bgPr>
    </p:bg>
    <p:spTree>
      <p:nvGrpSpPr>
        <p:cNvPr id="1" name=""/>
        <p:cNvGrpSpPr/>
        <p:nvPr/>
      </p:nvGrpSpPr>
      <p:grpSpPr/>
      <p:sp>
        <p:nvSpPr>
          <p:cNvPr id="9" name="Freeform 9">
            <a:extLst>
              <a:ext uri="{FF2B5EF4-FFF2-40B4-BE49-F238E27FC236}">
                <a16:creationId xmlns:a16="http://schemas.microsoft.com/office/drawing/2014/main" id="{B2524028-2C9B-1404-BE53-33ADB3A2FCD5}"/>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E2514E86-0813-FDB3-C8E1-A65BAC7CAF8B}"/>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09FAB878-0211-ED08-EE38-35F69816CF2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4B05D324-5046-D7D5-9841-5447C419D50D}"/>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F0D261B9-C556-A210-8F75-69B5678B6DD0}"/>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D0A12A1A-9265-659A-0EED-42FD4976DAAB}"/>
              </a:ext>
            </a:extLst>
          </p:cNvPr>
          <p:cNvSpPr txBox="1"/>
          <p:nvPr/>
        </p:nvSpPr>
        <p:spPr>
          <a:xfrm>
            <a:off x="349250"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11 of 19</a:t>
            </a:r>
          </a:p>
        </p:txBody>
      </p:sp>
      <p:pic>
        <p:nvPicPr>
          <p:cNvPr id="16" name="Picture 15" descr="image.png"/>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DAAE1D69-07AD-34DE-A40D-39BC5927BFF2}"/>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E418F2FF-AB72-6152-EFFD-3BF109C49EDA}"/>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73BF2278-C9D9-6969-211F-206FF6E49823}"/>
              </a:ext>
            </a:extLst>
          </p:cNvPr>
          <p:cNvSpPr>
            <a:spLocks noGrp="1"/>
          </p:cNvSpPr>
          <p:nvPr>
            <p:ph type="sldNum" sz="quarter" idx="12"/>
          </p:nvPr>
        </p:nvSpPr>
        <p:spPr/>
        <p:txBody>
          <a:bodyPr/>
          <a:lstStyle/>
          <a:p>
            <a:fld id="{B6F15528-21DE-4FAA-801E-634DDDAF4B2B}" type="slidenum">
              <a:rPr lang="en-US" smtClean="0"/>
              <a:pPr/>
              <a:t>10</a:t>
            </a:fld>
            <a:endParaRPr lang="en-US" dirty="0"/>
          </a:p>
        </p:txBody>
      </p:sp>
      <p:sp>
        <p:nvSpPr>
          <p:cNvPr id="17" name="TextBox 16"/>
          <p:cNvSpPr txBox="1"/>
          <p:nvPr/>
        </p:nvSpPr>
        <p:spPr>
          <a:xfrm>
            <a:off x="457200" y="1828800"/>
            <a:ext cx="6583680" cy="457200"/>
          </a:xfrm>
          <a:prstGeom prst="rect">
            <a:avLst/>
          </a:prstGeom>
          <a:noFill/>
        </p:spPr>
        <p:txBody>
          <a:bodyPr wrap="none">
            <a:spAutoFit/>
          </a:bodyPr>
          <a:lstStyle/>
          <a:p>
            <a:pPr>
              <a:defRPr b="1" sz="1600">
                <a:solidFill>
                  <a:srgbClr val="003399"/>
                </a:solidFill>
              </a:defRPr>
            </a:pPr>
            <a:r>
              <a:t>➤ MASTER CIRCULAR</a:t>
            </a:r>
          </a:p>
        </p:txBody>
      </p:sp>
      <p:sp>
        <p:nvSpPr>
          <p:cNvPr id="18" name="TextBox 17"/>
          <p:cNvSpPr txBox="1"/>
          <p:nvPr/>
        </p:nvSpPr>
        <p:spPr>
          <a:xfrm>
            <a:off x="457200" y="2286000"/>
            <a:ext cx="6583680" cy="1728216"/>
          </a:xfrm>
          <a:prstGeom prst="rect">
            <a:avLst/>
          </a:prstGeom>
          <a:noFill/>
        </p:spPr>
        <p:txBody>
          <a:bodyPr wrap="square">
            <a:spAutoFit/>
          </a:bodyPr>
          <a:lstStyle/>
          <a:p>
            <a:pPr>
              <a:spcAft>
                <a:spcPts val="600"/>
              </a:spcAft>
            </a:pPr>
            <a:r>
              <a:rPr b="1" sz="1200" u="sng">
                <a:solidFill>
                  <a:srgbClr val="0066CC"/>
                </a:solidFill>
                <a:hlinkClick r:id="rId3"/>
              </a:rPr>
              <a:t>Master Circular for Merchant Bankers</a:t>
            </a:r>
          </a:p>
          <a:p>
            <a:pPr>
              <a:spcBef>
                <a:spcPts val="400"/>
              </a:spcBef>
              <a:spcAft>
                <a:spcPts val="600"/>
              </a:spcAft>
              <a:defRPr sz="1100"/>
            </a:pPr>
            <a:r>
              <a:t>SEBI has issued a master circular for Merchant Bankers Registered with SEBI. This consolidates all currently applicable instructions, circulars, directions, and regulatory requirements relating to the subject. It serves as a single reference document and has been issued for ease of reference. The circular incorporates provisions from Circulars dated May 02, 2017, January 02, 2026, June 2017, January 2026, and June 2026, as well as the amendments to the Securities and Exchange Board of India (Merchant Bankers) Regulations, 1992 dated December 5, 2025. It consolidates existing circulars, supersedes older ones where specified, and is to be read going forward.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DBEDF3"/>
        </a:solidFill>
        <a:effectLst/>
      </p:bgPr>
    </p:bg>
    <p:spTree>
      <p:nvGrpSpPr>
        <p:cNvPr id="1" name=""/>
        <p:cNvGrpSpPr/>
        <p:nvPr/>
      </p:nvGrpSpPr>
      <p:grpSpPr/>
      <p:sp>
        <p:nvSpPr>
          <p:cNvPr id="9" name="Freeform 9">
            <a:extLst>
              <a:ext uri="{FF2B5EF4-FFF2-40B4-BE49-F238E27FC236}">
                <a16:creationId xmlns:a16="http://schemas.microsoft.com/office/drawing/2014/main" id="{B2524028-2C9B-1404-BE53-33ADB3A2FCD5}"/>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E2514E86-0813-FDB3-C8E1-A65BAC7CAF8B}"/>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09FAB878-0211-ED08-EE38-35F69816CF2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4B05D324-5046-D7D5-9841-5447C419D50D}"/>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F0D261B9-C556-A210-8F75-69B5678B6DD0}"/>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D0A12A1A-9265-659A-0EED-42FD4976DAAB}"/>
              </a:ext>
            </a:extLst>
          </p:cNvPr>
          <p:cNvSpPr txBox="1"/>
          <p:nvPr/>
        </p:nvSpPr>
        <p:spPr>
          <a:xfrm>
            <a:off x="349250"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12 of 19</a:t>
            </a:r>
          </a:p>
        </p:txBody>
      </p:sp>
      <p:pic>
        <p:nvPicPr>
          <p:cNvPr id="16" name="Picture 15" descr="image.png"/>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DAAE1D69-07AD-34DE-A40D-39BC5927BFF2}"/>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E418F2FF-AB72-6152-EFFD-3BF109C49EDA}"/>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73BF2278-C9D9-6969-211F-206FF6E49823}"/>
              </a:ext>
            </a:extLst>
          </p:cNvPr>
          <p:cNvSpPr>
            <a:spLocks noGrp="1"/>
          </p:cNvSpPr>
          <p:nvPr>
            <p:ph type="sldNum" sz="quarter" idx="12"/>
          </p:nvPr>
        </p:nvSpPr>
        <p:spPr/>
        <p:txBody>
          <a:bodyPr/>
          <a:lstStyle/>
          <a:p>
            <a:fld id="{B6F15528-21DE-4FAA-801E-634DDDAF4B2B}" type="slidenum">
              <a:rPr lang="en-US" smtClean="0"/>
              <a:pPr/>
              <a:t>10</a:t>
            </a:fld>
            <a:endParaRPr lang="en-US" dirty="0"/>
          </a:p>
        </p:txBody>
      </p:sp>
      <p:sp>
        <p:nvSpPr>
          <p:cNvPr id="17" name="TextBox 16"/>
          <p:cNvSpPr txBox="1"/>
          <p:nvPr/>
        </p:nvSpPr>
        <p:spPr>
          <a:xfrm>
            <a:off x="457200" y="1828800"/>
            <a:ext cx="6583680" cy="457200"/>
          </a:xfrm>
          <a:prstGeom prst="rect">
            <a:avLst/>
          </a:prstGeom>
          <a:noFill/>
        </p:spPr>
        <p:txBody>
          <a:bodyPr wrap="none">
            <a:spAutoFit/>
          </a:bodyPr>
          <a:lstStyle/>
          <a:p>
            <a:pPr>
              <a:defRPr b="1" sz="1600">
                <a:solidFill>
                  <a:srgbClr val="003399"/>
                </a:solidFill>
              </a:defRPr>
            </a:pPr>
            <a:r>
              <a:t>➤ INFORMAL GUIDANCE</a:t>
            </a:r>
          </a:p>
        </p:txBody>
      </p:sp>
      <p:sp>
        <p:nvSpPr>
          <p:cNvPr id="18" name="TextBox 17"/>
          <p:cNvSpPr txBox="1"/>
          <p:nvPr/>
        </p:nvSpPr>
        <p:spPr>
          <a:xfrm>
            <a:off x="457200" y="2286000"/>
            <a:ext cx="6583680" cy="7013448"/>
          </a:xfrm>
          <a:prstGeom prst="rect">
            <a:avLst/>
          </a:prstGeom>
          <a:noFill/>
        </p:spPr>
        <p:txBody>
          <a:bodyPr wrap="square">
            <a:spAutoFit/>
          </a:bodyPr>
          <a:lstStyle/>
          <a:p>
            <a:pPr>
              <a:spcAft>
                <a:spcPts val="600"/>
              </a:spcAft>
            </a:pPr>
            <a:r>
              <a:rPr b="1" sz="1200" u="sng">
                <a:solidFill>
                  <a:srgbClr val="0066CC"/>
                </a:solidFill>
                <a:hlinkClick r:id="rId3"/>
              </a:rPr>
              <a:t>Request for Informal Guidance under the Securities and Exchange Board of India (Informal Guidance) Scheme, 2025 received from IDBI Bank Limited in relation to sale of equity shares of various unlisted companies held by IDBI Bank Limited to non-QIB investors</a:t>
            </a:r>
          </a:p>
          <a:p>
            <a:pPr>
              <a:spcBef>
                <a:spcPts val="1200"/>
              </a:spcBef>
              <a:spcAft>
                <a:spcPts val="400"/>
              </a:spcAft>
              <a:defRPr sz="1100" b="1"/>
            </a:pPr>
            <a:r>
              <a:t>Background:</a:t>
            </a:r>
          </a:p>
          <a:p>
            <a:pPr>
              <a:spcBef>
                <a:spcPts val="0"/>
              </a:spcBef>
              <a:spcAft>
                <a:spcPts val="200"/>
              </a:spcAft>
              <a:defRPr sz="1100"/>
            </a:pPr>
            <a:r>
              <a:t>- IDBI Bank seeks guidance under SEBI Informal Guidance Scheme, 2025 regarding the sale of equity shares of unlisted companies to non-QIB investors.</a:t>
            </a:r>
          </a:p>
          <a:p>
            <a:pPr>
              <a:spcBef>
                <a:spcPts val="0"/>
              </a:spcBef>
              <a:spcAft>
                <a:spcPts val="200"/>
              </a:spcAft>
              <a:defRPr sz="1100"/>
            </a:pPr>
            <a:r>
              <a:t>- The sale is proposed through private negotiations with identified investors including non-QIBs and promoters, without public advertisement or general solicitation.</a:t>
            </a:r>
          </a:p>
          <a:p>
            <a:pPr>
              <a:spcBef>
                <a:spcPts val="1200"/>
              </a:spcBef>
              <a:spcAft>
                <a:spcPts val="400"/>
              </a:spcAft>
              <a:defRPr sz="1100" b="1"/>
            </a:pPr>
            <a:r>
              <a:t>Queries:</a:t>
            </a:r>
          </a:p>
          <a:p>
            <a:pPr>
              <a:spcBef>
                <a:spcPts val="400"/>
              </a:spcBef>
              <a:spcAft>
                <a:spcPts val="600"/>
              </a:spcAft>
              <a:defRPr sz="1100"/>
            </a:pPr>
            <a:r>
              <a:t>1. Whether the sale of such unlisted equity shares through a non-advertised, privately negotiated transaction with identified investors, including non-QIB investors such as individuals, corporate entities, and the company’s promoters, be construed as a deemed public issue under the Companies Act, 2013 and is not in violation of any provisions of Companies Act, 2013 and the Companies (Prospectus and Allotment of Securities) Rules, 2014.</a:t>
            </a:r>
          </a:p>
          <a:p>
            <a:pPr>
              <a:spcBef>
                <a:spcPts val="1200"/>
              </a:spcBef>
              <a:spcAft>
                <a:spcPts val="400"/>
              </a:spcAft>
              <a:defRPr sz="1100" b="1"/>
            </a:pPr>
            <a:r>
              <a:t>- SEBI's Comments/Remarks:</a:t>
            </a:r>
          </a:p>
          <a:p>
            <a:pPr>
              <a:spcBef>
                <a:spcPts val="400"/>
              </a:spcBef>
              <a:spcAft>
                <a:spcPts val="600"/>
              </a:spcAft>
              <a:defRPr sz="1100"/>
            </a:pPr>
            <a:r>
              <a:t>a. Whether the unlisted companies are private or public limited is not clear in the application.</a:t>
            </a:r>
          </a:p>
          <a:p>
            <a:pPr>
              <a:spcBef>
                <a:spcPts val="400"/>
              </a:spcBef>
              <a:spcAft>
                <a:spcPts val="600"/>
              </a:spcAft>
              <a:defRPr sz="1100"/>
            </a:pPr>
            <a:r>
              <a:t>b. Private companies can issue securities through private placement in compliance with relevant provisions of the Companies Act, 2013.</a:t>
            </a:r>
          </a:p>
          <a:p>
            <a:pPr>
              <a:spcBef>
                <a:spcPts val="400"/>
              </a:spcBef>
              <a:spcAft>
                <a:spcPts val="600"/>
              </a:spcAft>
              <a:defRPr sz="1100"/>
            </a:pPr>
            <a:r>
              <a:t>c. Public companies can issue securities to the public through prospectus including offer for sale of securities to the public by an existing shareholder.</a:t>
            </a:r>
          </a:p>
          <a:p>
            <a:pPr>
              <a:spcBef>
                <a:spcPts val="400"/>
              </a:spcBef>
              <a:spcAft>
                <a:spcPts val="600"/>
              </a:spcAft>
              <a:defRPr sz="1100"/>
            </a:pPr>
            <a:r>
              <a:t>d. If a company makes an offer to allot or invites subscription, or allots, or enters into an agreement to allot, securities to more than 200 persons in a financial year, it is deemed to be a public issue.</a:t>
            </a:r>
          </a:p>
          <a:p>
            <a:pPr>
              <a:spcBef>
                <a:spcPts val="400"/>
              </a:spcBef>
              <a:spcAft>
                <a:spcPts val="600"/>
              </a:spcAft>
              <a:defRPr sz="1100"/>
            </a:pPr>
            <a:r>
              <a:t>e. However, the proposed sale of shares of a company can be made up to the prescribed limit of 200 persons in a financial year and will not be construed as a deemed public issue.</a:t>
            </a:r>
          </a:p>
          <a:p>
            <a:pPr>
              <a:spcBef>
                <a:spcPts val="400"/>
              </a:spcBef>
              <a:spcAft>
                <a:spcPts val="600"/>
              </a:spcAft>
              <a:defRPr sz="1100"/>
            </a:pPr>
            <a:r>
              <a:t>2. Whether the Companies Act or other act/rule mandates that such transactions be restricted exclusively to Qualified Institutional Buyers or a non-advertised, privately negotiated transaction with identified investors, including non-QIB investors such as individuals, corporate entities, and the company’s promoters, can be carried out.</a:t>
            </a:r>
          </a:p>
          <a:p>
            <a:pPr>
              <a:spcBef>
                <a:spcPts val="1200"/>
              </a:spcBef>
              <a:spcAft>
                <a:spcPts val="400"/>
              </a:spcAft>
              <a:defRPr sz="1100" b="1"/>
            </a:pPr>
            <a:r>
              <a:t>- SEBI's Comments/Remarks: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DBEDF3"/>
        </a:solidFill>
        <a:effectLst/>
      </p:bgPr>
    </p:bg>
    <p:spTree>
      <p:nvGrpSpPr>
        <p:cNvPr id="1" name=""/>
        <p:cNvGrpSpPr/>
        <p:nvPr/>
      </p:nvGrpSpPr>
      <p:grpSpPr/>
      <p:sp>
        <p:nvSpPr>
          <p:cNvPr id="9" name="Freeform 9">
            <a:extLst>
              <a:ext uri="{FF2B5EF4-FFF2-40B4-BE49-F238E27FC236}">
                <a16:creationId xmlns:a16="http://schemas.microsoft.com/office/drawing/2014/main" id="{B2524028-2C9B-1404-BE53-33ADB3A2FCD5}"/>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E2514E86-0813-FDB3-C8E1-A65BAC7CAF8B}"/>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09FAB878-0211-ED08-EE38-35F69816CF2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4B05D324-5046-D7D5-9841-5447C419D50D}"/>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F0D261B9-C556-A210-8F75-69B5678B6DD0}"/>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D0A12A1A-9265-659A-0EED-42FD4976DAAB}"/>
              </a:ext>
            </a:extLst>
          </p:cNvPr>
          <p:cNvSpPr txBox="1"/>
          <p:nvPr/>
        </p:nvSpPr>
        <p:spPr>
          <a:xfrm>
            <a:off x="349250"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13 of 19</a:t>
            </a:r>
          </a:p>
        </p:txBody>
      </p:sp>
      <p:pic>
        <p:nvPicPr>
          <p:cNvPr id="16" name="Picture 15" descr="image.png"/>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DAAE1D69-07AD-34DE-A40D-39BC5927BFF2}"/>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E418F2FF-AB72-6152-EFFD-3BF109C49EDA}"/>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73BF2278-C9D9-6969-211F-206FF6E49823}"/>
              </a:ext>
            </a:extLst>
          </p:cNvPr>
          <p:cNvSpPr>
            <a:spLocks noGrp="1"/>
          </p:cNvSpPr>
          <p:nvPr>
            <p:ph type="sldNum" sz="quarter" idx="12"/>
          </p:nvPr>
        </p:nvSpPr>
        <p:spPr/>
        <p:txBody>
          <a:bodyPr/>
          <a:lstStyle/>
          <a:p>
            <a:fld id="{B6F15528-21DE-4FAA-801E-634DDDAF4B2B}" type="slidenum">
              <a:rPr lang="en-US" smtClean="0"/>
              <a:pPr/>
              <a:t>10</a:t>
            </a:fld>
            <a:endParaRPr lang="en-US" dirty="0"/>
          </a:p>
        </p:txBody>
      </p:sp>
      <p:sp>
        <p:nvSpPr>
          <p:cNvPr id="17" name="TextBox 16"/>
          <p:cNvSpPr txBox="1"/>
          <p:nvPr/>
        </p:nvSpPr>
        <p:spPr>
          <a:xfrm>
            <a:off x="457200" y="1828800"/>
            <a:ext cx="6583680" cy="2862072"/>
          </a:xfrm>
          <a:prstGeom prst="rect">
            <a:avLst/>
          </a:prstGeom>
          <a:noFill/>
        </p:spPr>
        <p:txBody>
          <a:bodyPr wrap="square">
            <a:spAutoFit/>
          </a:bodyPr>
          <a:lstStyle/>
          <a:p>
            <a:pPr>
              <a:spcBef>
                <a:spcPts val="400"/>
              </a:spcBef>
              <a:spcAft>
                <a:spcPts val="600"/>
              </a:spcAft>
              <a:defRPr sz="1100"/>
            </a:pPr>
            <a:r>
              <a:t>Section 42(2) read with Rule 14 of the Companies (Prospectus and Allotment of Securities) Rules, 2014 does not mandate or restrict the categories of persons to whom the placement/transfer can be made by a company, but restricts the number of persons in a private placement. Transfer can be made through a non-advertised privately negotiated transaction to identified investors including non-QIB investors, provided that such transfer is made up to the prescribed limit of 200 persons in a financial year.</a:t>
            </a:r>
          </a:p>
          <a:p>
            <a:pPr>
              <a:spcBef>
                <a:spcPts val="400"/>
              </a:spcBef>
              <a:spcAft>
                <a:spcPts val="600"/>
              </a:spcAft>
              <a:defRPr sz="1100"/>
            </a:pPr>
            <a:r>
              <a:t>3. Whether the Bank is entitled to transfer such unlisted equity shares to the company’s promoters pursuant to contractual arrangements conferring a right of first refusal or their first right to purchase in case of sale by the Bank.</a:t>
            </a:r>
          </a:p>
          <a:p>
            <a:pPr>
              <a:spcBef>
                <a:spcPts val="1200"/>
              </a:spcBef>
              <a:spcAft>
                <a:spcPts val="400"/>
              </a:spcAft>
              <a:defRPr sz="1100" b="1"/>
            </a:pPr>
            <a:r>
              <a:t>- SEBI's Comments/Remarks:</a:t>
            </a:r>
          </a:p>
          <a:p>
            <a:pPr>
              <a:spcBef>
                <a:spcPts val="400"/>
              </a:spcBef>
              <a:spcAft>
                <a:spcPts val="600"/>
              </a:spcAft>
              <a:defRPr sz="1100"/>
            </a:pPr>
            <a:r>
              <a:t>The proposed transfer by IDBI of its holding of unlisted shares to its promoters (identified persons) may be made, subject to the prescribed limit in a financial year, to not be construed as a deemed public issue. The contractual terms are for the parties to decide, subject to the applicable law.</a:t>
            </a:r>
          </a:p>
        </p:txBody>
      </p:sp>
      <p:sp>
        <p:nvSpPr>
          <p:cNvPr id="18" name="TextBox 17"/>
          <p:cNvSpPr txBox="1"/>
          <p:nvPr/>
        </p:nvSpPr>
        <p:spPr>
          <a:xfrm>
            <a:off x="457200" y="4828032"/>
            <a:ext cx="6583680" cy="4727448"/>
          </a:xfrm>
          <a:prstGeom prst="rect">
            <a:avLst/>
          </a:prstGeom>
          <a:noFill/>
        </p:spPr>
        <p:txBody>
          <a:bodyPr wrap="square">
            <a:spAutoFit/>
          </a:bodyPr>
          <a:lstStyle/>
          <a:p>
            <a:pPr>
              <a:spcAft>
                <a:spcPts val="600"/>
              </a:spcAft>
            </a:pPr>
            <a:r>
              <a:rPr b="1" sz="1200" u="sng">
                <a:solidFill>
                  <a:srgbClr val="0066CC"/>
                </a:solidFill>
                <a:hlinkClick r:id="rId3"/>
              </a:rPr>
              <a:t>Request for Informal Guidance under the Securities and Exchange Board of India (Informal Guidance) Scheme, 2025 received from Ananya Finance for Inclusive Growth Private Limited in relation to Regulation 62A of the Securities and Exchange Board of India (Listing Obligations and Disclosure Requirements) Regulations, 2015</a:t>
            </a:r>
          </a:p>
          <a:p>
            <a:pPr>
              <a:spcBef>
                <a:spcPts val="1200"/>
              </a:spcBef>
              <a:spcAft>
                <a:spcPts val="400"/>
              </a:spcAft>
              <a:defRPr sz="1100" b="1"/>
            </a:pPr>
            <a:r>
              <a:t>Background and Facts:</a:t>
            </a:r>
          </a:p>
          <a:p>
            <a:pPr>
              <a:spcBef>
                <a:spcPts val="400"/>
              </a:spcBef>
              <a:spcAft>
                <a:spcPts val="600"/>
              </a:spcAft>
              <a:defRPr sz="1100"/>
            </a:pPr>
            <a:r>
              <a:t>Ananya Finance for Inclusive Growth Private Limited (Ananya) has sought guidance from the Securities and Exchange Board of India (SEBI) under the Informal Guidance Scheme regarding the provisions of Regulation 62A of the Securities and Exchange Board of India (Listing Obligations and Disclosure Requirements) Regulations, 2015. Ananya's subsidiary, Prayas Financial Services Private Limited, transferred unlisted non-convertible debt securities to Ananya through a Business Transfer Agreement on February 28, 2026. Ananya has taken over the obligations under these debentures, consolidating the debt instruments.</a:t>
            </a:r>
          </a:p>
          <a:p>
            <a:pPr>
              <a:spcBef>
                <a:spcPts val="1200"/>
              </a:spcBef>
              <a:spcAft>
                <a:spcPts val="400"/>
              </a:spcAft>
              <a:defRPr sz="1100" b="1"/>
            </a:pPr>
            <a:r>
              <a:t>Query 1:</a:t>
            </a:r>
          </a:p>
          <a:p>
            <a:pPr>
              <a:spcBef>
                <a:spcPts val="1200"/>
              </a:spcBef>
              <a:spcAft>
                <a:spcPts val="400"/>
              </a:spcAft>
              <a:defRPr sz="1100" b="1"/>
            </a:pPr>
            <a:r>
              <a:t>Regulation reference given by SEBI and gist of that Regulation reference:</a:t>
            </a:r>
          </a:p>
          <a:p>
            <a:pPr>
              <a:spcBef>
                <a:spcPts val="400"/>
              </a:spcBef>
              <a:spcAft>
                <a:spcPts val="600"/>
              </a:spcAft>
              <a:defRPr sz="1100"/>
            </a:pPr>
            <a:r>
              <a:t>Regulation 62A(1) of LODR Regulations requires a listed entity to list all non-convertible debt securities proposed to be issued on or after January 1, 2024 on the stock exchange(s). The applicability of this regulation cannot be determined solely based on the structure of a transaction and is relevant when a debt listed entity assumes and continues the obligations in respect of outstanding unlisted non-convertible debt securities (issued on or after January 1, 2024).</a:t>
            </a:r>
          </a:p>
          <a:p>
            <a:pPr>
              <a:spcBef>
                <a:spcPts val="1200"/>
              </a:spcBef>
              <a:spcAft>
                <a:spcPts val="400"/>
              </a:spcAft>
              <a:defRPr sz="1100" b="1"/>
            </a:pPr>
            <a:r>
              <a:t>Response from SEBI: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DBEDF3"/>
        </a:solidFill>
        <a:effectLst/>
      </p:bgPr>
    </p:bg>
    <p:spTree>
      <p:nvGrpSpPr>
        <p:cNvPr id="1" name=""/>
        <p:cNvGrpSpPr/>
        <p:nvPr/>
      </p:nvGrpSpPr>
      <p:grpSpPr/>
      <p:sp>
        <p:nvSpPr>
          <p:cNvPr id="9" name="Freeform 9">
            <a:extLst>
              <a:ext uri="{FF2B5EF4-FFF2-40B4-BE49-F238E27FC236}">
                <a16:creationId xmlns:a16="http://schemas.microsoft.com/office/drawing/2014/main" id="{B2524028-2C9B-1404-BE53-33ADB3A2FCD5}"/>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E2514E86-0813-FDB3-C8E1-A65BAC7CAF8B}"/>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09FAB878-0211-ED08-EE38-35F69816CF2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4B05D324-5046-D7D5-9841-5447C419D50D}"/>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F0D261B9-C556-A210-8F75-69B5678B6DD0}"/>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D0A12A1A-9265-659A-0EED-42FD4976DAAB}"/>
              </a:ext>
            </a:extLst>
          </p:cNvPr>
          <p:cNvSpPr txBox="1"/>
          <p:nvPr/>
        </p:nvSpPr>
        <p:spPr>
          <a:xfrm>
            <a:off x="349250"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14 of 19</a:t>
            </a:r>
          </a:p>
        </p:txBody>
      </p:sp>
      <p:pic>
        <p:nvPicPr>
          <p:cNvPr id="16" name="Picture 15" descr="image.png"/>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DAAE1D69-07AD-34DE-A40D-39BC5927BFF2}"/>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E418F2FF-AB72-6152-EFFD-3BF109C49EDA}"/>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73BF2278-C9D9-6969-211F-206FF6E49823}"/>
              </a:ext>
            </a:extLst>
          </p:cNvPr>
          <p:cNvSpPr>
            <a:spLocks noGrp="1"/>
          </p:cNvSpPr>
          <p:nvPr>
            <p:ph type="sldNum" sz="quarter" idx="12"/>
          </p:nvPr>
        </p:nvSpPr>
        <p:spPr/>
        <p:txBody>
          <a:bodyPr/>
          <a:lstStyle/>
          <a:p>
            <a:fld id="{B6F15528-21DE-4FAA-801E-634DDDAF4B2B}" type="slidenum">
              <a:rPr lang="en-US" smtClean="0"/>
              <a:pPr/>
              <a:t>10</a:t>
            </a:fld>
            <a:endParaRPr lang="en-US" dirty="0"/>
          </a:p>
        </p:txBody>
      </p:sp>
      <p:sp>
        <p:nvSpPr>
          <p:cNvPr id="17" name="TextBox 16"/>
          <p:cNvSpPr txBox="1"/>
          <p:nvPr/>
        </p:nvSpPr>
        <p:spPr>
          <a:xfrm>
            <a:off x="457200" y="1828800"/>
            <a:ext cx="6583680" cy="3154680"/>
          </a:xfrm>
          <a:prstGeom prst="rect">
            <a:avLst/>
          </a:prstGeom>
          <a:noFill/>
        </p:spPr>
        <p:txBody>
          <a:bodyPr wrap="square">
            <a:spAutoFit/>
          </a:bodyPr>
          <a:lstStyle/>
          <a:p>
            <a:pPr>
              <a:spcBef>
                <a:spcPts val="400"/>
              </a:spcBef>
              <a:spcAft>
                <a:spcPts val="600"/>
              </a:spcAft>
              <a:defRPr sz="1100"/>
            </a:pPr>
            <a:r>
              <a:t>In regard to query 1, where a debt listed entity assumes and continues the obligations in respect of outstanding unlisted non-convertible debt securities (issued on or after January 1, 2024), the requirements of Regulation 62A of LODR Regulations need to be complied with by such entity holistically.</a:t>
            </a:r>
          </a:p>
          <a:p>
            <a:pPr>
              <a:spcBef>
                <a:spcPts val="1200"/>
              </a:spcBef>
              <a:spcAft>
                <a:spcPts val="400"/>
              </a:spcAft>
              <a:defRPr sz="1100" b="1"/>
            </a:pPr>
            <a:r>
              <a:t>Query 2:</a:t>
            </a:r>
          </a:p>
          <a:p>
            <a:pPr>
              <a:spcBef>
                <a:spcPts val="1200"/>
              </a:spcBef>
              <a:spcAft>
                <a:spcPts val="400"/>
              </a:spcAft>
              <a:defRPr sz="1100" b="1"/>
            </a:pPr>
            <a:r>
              <a:t>Regulation reference given by SEBI and gist of that Regulation reference:</a:t>
            </a:r>
          </a:p>
          <a:p>
            <a:pPr>
              <a:spcBef>
                <a:spcPts val="400"/>
              </a:spcBef>
              <a:spcAft>
                <a:spcPts val="600"/>
              </a:spcAft>
              <a:defRPr sz="1100"/>
            </a:pPr>
            <a:r>
              <a:t>The operational requirements for ensuring compliance with listing requirements, including any consequential requirements relating to ISINs, depository records, and listing formalities, are administered by the applicable framework prescribed by the recognized stock exchange(s) and depositories.</a:t>
            </a:r>
          </a:p>
          <a:p>
            <a:pPr>
              <a:spcBef>
                <a:spcPts val="1200"/>
              </a:spcBef>
              <a:spcAft>
                <a:spcPts val="400"/>
              </a:spcAft>
              <a:defRPr sz="1100" b="1"/>
            </a:pPr>
            <a:r>
              <a:t>Response from SEBI:</a:t>
            </a:r>
          </a:p>
          <a:p>
            <a:pPr>
              <a:spcBef>
                <a:spcPts val="400"/>
              </a:spcBef>
              <a:spcAft>
                <a:spcPts val="600"/>
              </a:spcAft>
              <a:defRPr sz="1100"/>
            </a:pPr>
            <a:r>
              <a:t>In regard to query 2, the applicant shall ensure compliance with all such requirements as may be applicable.</a:t>
            </a:r>
          </a:p>
        </p:txBody>
      </p:sp>
      <p:sp>
        <p:nvSpPr>
          <p:cNvPr id="18" name="TextBox 17"/>
          <p:cNvSpPr txBox="1"/>
          <p:nvPr/>
        </p:nvSpPr>
        <p:spPr>
          <a:xfrm>
            <a:off x="457200" y="5120640"/>
            <a:ext cx="6583680" cy="4334256"/>
          </a:xfrm>
          <a:prstGeom prst="rect">
            <a:avLst/>
          </a:prstGeom>
          <a:noFill/>
        </p:spPr>
        <p:txBody>
          <a:bodyPr wrap="square">
            <a:spAutoFit/>
          </a:bodyPr>
          <a:lstStyle/>
          <a:p>
            <a:pPr>
              <a:spcAft>
                <a:spcPts val="600"/>
              </a:spcAft>
            </a:pPr>
            <a:r>
              <a:rPr b="1" sz="1200" u="sng">
                <a:solidFill>
                  <a:srgbClr val="0066CC"/>
                </a:solidFill>
                <a:hlinkClick r:id="rId3"/>
              </a:rPr>
              <a:t>Request for Informal Guidance under the Securities and Exchange Board of India (Informal Guidance) Scheme, 2025 received from Sundaram Alternate Assets Limited in relation to Regulation 24(3A) of the Securities and Exchange Board of India (Portfolio Managers) Regulations, 2020 read with paragraph 3.4 of the Master Circular for Portfolio Managers dated July 16, 2025</a:t>
            </a:r>
          </a:p>
          <a:p>
            <a:pPr>
              <a:spcBef>
                <a:spcPts val="1200"/>
              </a:spcBef>
              <a:spcAft>
                <a:spcPts val="400"/>
              </a:spcAft>
              <a:defRPr sz="1100" b="1"/>
            </a:pPr>
            <a:r>
              <a:t>Background and Facts:</a:t>
            </a:r>
          </a:p>
          <a:p>
            <a:pPr>
              <a:spcBef>
                <a:spcPts val="400"/>
              </a:spcBef>
              <a:spcAft>
                <a:spcPts val="600"/>
              </a:spcAft>
              <a:defRPr sz="1100"/>
            </a:pPr>
            <a:r>
              <a:t>Sundaram Alternate Assets Limited (Applicant), a registered Portfolio Manager with SEBI, has sought informal guidance on the applicability of prudential limits specified at Para 3.4 of the Master Circular for Portfolio Managers, dated July 16, 2025, in relation to Regulation 24(3A) of the Securities and Exchange Board of India (Portfolio Managers) Regulations, 2020. The query pertains to transferring units of Alternative Investment Fund (AIF) held with associates of PMS.</a:t>
            </a:r>
          </a:p>
          <a:p>
            <a:pPr>
              <a:spcBef>
                <a:spcPts val="1200"/>
              </a:spcBef>
              <a:spcAft>
                <a:spcPts val="400"/>
              </a:spcAft>
              <a:defRPr sz="1100" b="1"/>
            </a:pPr>
            <a:r>
              <a:t>Query 1:</a:t>
            </a:r>
          </a:p>
          <a:p>
            <a:pPr>
              <a:spcBef>
                <a:spcPts val="400"/>
              </a:spcBef>
              <a:spcAft>
                <a:spcPts val="600"/>
              </a:spcAft>
              <a:defRPr sz="1100"/>
            </a:pPr>
            <a:r>
              <a:t>"We are of the view that, if the investor gives written consent to transfer the AIF units held in multiple schemes of Sundaram Category I Alternative Investment Trust (Associate of Portfolio Manager) to a separate account opened in the name of investor under (a) Discretionary PMS or (b) Strategy for Large Value Accredited Investors (LVAI) of Sundaram Alternates, the limit specified under Para 3.4.2 shall not be applicable as AIF units are akin to Mutual Fund units (i.e. pooled investment vehicle). Kindly confirm our understanding."</a:t>
            </a:r>
          </a:p>
          <a:p>
            <a:pPr>
              <a:spcBef>
                <a:spcPts val="1200"/>
              </a:spcBef>
              <a:spcAft>
                <a:spcPts val="400"/>
              </a:spcAft>
              <a:defRPr sz="1100" b="1"/>
            </a:pPr>
            <a:r>
              <a:t>Regulation reference given by SEBI and gist of that Regulation reference: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DBEDF3"/>
        </a:solidFill>
        <a:effectLst/>
      </p:bgPr>
    </p:bg>
    <p:spTree>
      <p:nvGrpSpPr>
        <p:cNvPr id="1" name=""/>
        <p:cNvGrpSpPr/>
        <p:nvPr/>
      </p:nvGrpSpPr>
      <p:grpSpPr/>
      <p:sp>
        <p:nvSpPr>
          <p:cNvPr id="9" name="Freeform 9">
            <a:extLst>
              <a:ext uri="{FF2B5EF4-FFF2-40B4-BE49-F238E27FC236}">
                <a16:creationId xmlns:a16="http://schemas.microsoft.com/office/drawing/2014/main" id="{B2524028-2C9B-1404-BE53-33ADB3A2FCD5}"/>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E2514E86-0813-FDB3-C8E1-A65BAC7CAF8B}"/>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09FAB878-0211-ED08-EE38-35F69816CF2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4B05D324-5046-D7D5-9841-5447C419D50D}"/>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F0D261B9-C556-A210-8F75-69B5678B6DD0}"/>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D0A12A1A-9265-659A-0EED-42FD4976DAAB}"/>
              </a:ext>
            </a:extLst>
          </p:cNvPr>
          <p:cNvSpPr txBox="1"/>
          <p:nvPr/>
        </p:nvSpPr>
        <p:spPr>
          <a:xfrm>
            <a:off x="349250"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15 of 19</a:t>
            </a:r>
          </a:p>
        </p:txBody>
      </p:sp>
      <p:pic>
        <p:nvPicPr>
          <p:cNvPr id="16" name="Picture 15" descr="image.png"/>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DAAE1D69-07AD-34DE-A40D-39BC5927BFF2}"/>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E418F2FF-AB72-6152-EFFD-3BF109C49EDA}"/>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73BF2278-C9D9-6969-211F-206FF6E49823}"/>
              </a:ext>
            </a:extLst>
          </p:cNvPr>
          <p:cNvSpPr>
            <a:spLocks noGrp="1"/>
          </p:cNvSpPr>
          <p:nvPr>
            <p:ph type="sldNum" sz="quarter" idx="12"/>
          </p:nvPr>
        </p:nvSpPr>
        <p:spPr/>
        <p:txBody>
          <a:bodyPr/>
          <a:lstStyle/>
          <a:p>
            <a:fld id="{B6F15528-21DE-4FAA-801E-634DDDAF4B2B}" type="slidenum">
              <a:rPr lang="en-US" smtClean="0"/>
              <a:pPr/>
              <a:t>10</a:t>
            </a:fld>
            <a:endParaRPr lang="en-US" dirty="0"/>
          </a:p>
        </p:txBody>
      </p:sp>
      <p:sp>
        <p:nvSpPr>
          <p:cNvPr id="17" name="TextBox 16"/>
          <p:cNvSpPr txBox="1"/>
          <p:nvPr/>
        </p:nvSpPr>
        <p:spPr>
          <a:xfrm>
            <a:off x="457200" y="1828800"/>
            <a:ext cx="6583680" cy="1764792"/>
          </a:xfrm>
          <a:prstGeom prst="rect">
            <a:avLst/>
          </a:prstGeom>
          <a:noFill/>
        </p:spPr>
        <p:txBody>
          <a:bodyPr wrap="square">
            <a:spAutoFit/>
          </a:bodyPr>
          <a:lstStyle/>
          <a:p>
            <a:pPr>
              <a:spcBef>
                <a:spcPts val="400"/>
              </a:spcBef>
              <a:spcAft>
                <a:spcPts val="600"/>
              </a:spcAft>
              <a:defRPr sz="1100"/>
            </a:pPr>
            <a:r>
              <a:t>The query pertains to the prudential limits on investments specified in paragraph 3.4 of the Master Circular for Portfolio Managers dated July 16, 2025. The regulation provides "Limits on investments in securities of associates/related parties of Portfolio Managers."</a:t>
            </a:r>
          </a:p>
          <a:p>
            <a:pPr>
              <a:spcBef>
                <a:spcPts val="1200"/>
              </a:spcBef>
              <a:spcAft>
                <a:spcPts val="400"/>
              </a:spcAft>
              <a:defRPr sz="1100" b="1"/>
            </a:pPr>
            <a:r>
              <a:t>Response from SEBI:</a:t>
            </a:r>
          </a:p>
          <a:p>
            <a:pPr>
              <a:spcBef>
                <a:spcPts val="400"/>
              </a:spcBef>
              <a:spcAft>
                <a:spcPts val="600"/>
              </a:spcAft>
              <a:defRPr sz="1100"/>
            </a:pPr>
            <a:r>
              <a:t>While not agreeing with the applicant's analysis, SEBI has clarified that the exemption under paragraph 3.4 of the Master Circular is restricted only to mutual funds and AIF units are not akin to mutual fund units for these purposes. Therefore, investments by a portfolio manager in the units of AIF are subject to prudential limits.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DBEDF3"/>
        </a:solidFill>
        <a:effectLst/>
      </p:bgPr>
    </p:bg>
    <p:spTree>
      <p:nvGrpSpPr>
        <p:cNvPr id="1" name=""/>
        <p:cNvGrpSpPr/>
        <p:nvPr/>
      </p:nvGrpSpPr>
      <p:grpSpPr/>
      <p:sp>
        <p:nvSpPr>
          <p:cNvPr id="9" name="Freeform 9">
            <a:extLst>
              <a:ext uri="{FF2B5EF4-FFF2-40B4-BE49-F238E27FC236}">
                <a16:creationId xmlns:a16="http://schemas.microsoft.com/office/drawing/2014/main" id="{B2524028-2C9B-1404-BE53-33ADB3A2FCD5}"/>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E2514E86-0813-FDB3-C8E1-A65BAC7CAF8B}"/>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09FAB878-0211-ED08-EE38-35F69816CF2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4B05D324-5046-D7D5-9841-5447C419D50D}"/>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F0D261B9-C556-A210-8F75-69B5678B6DD0}"/>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D0A12A1A-9265-659A-0EED-42FD4976DAAB}"/>
              </a:ext>
            </a:extLst>
          </p:cNvPr>
          <p:cNvSpPr txBox="1"/>
          <p:nvPr/>
        </p:nvSpPr>
        <p:spPr>
          <a:xfrm>
            <a:off x="349250"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16 of 19</a:t>
            </a:r>
          </a:p>
        </p:txBody>
      </p:sp>
      <p:pic>
        <p:nvPicPr>
          <p:cNvPr id="16" name="Picture 15" descr="image.png"/>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DAAE1D69-07AD-34DE-A40D-39BC5927BFF2}"/>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E418F2FF-AB72-6152-EFFD-3BF109C49EDA}"/>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73BF2278-C9D9-6969-211F-206FF6E49823}"/>
              </a:ext>
            </a:extLst>
          </p:cNvPr>
          <p:cNvSpPr>
            <a:spLocks noGrp="1"/>
          </p:cNvSpPr>
          <p:nvPr>
            <p:ph type="sldNum" sz="quarter" idx="12"/>
          </p:nvPr>
        </p:nvSpPr>
        <p:spPr/>
        <p:txBody>
          <a:bodyPr/>
          <a:lstStyle/>
          <a:p>
            <a:fld id="{B6F15528-21DE-4FAA-801E-634DDDAF4B2B}" type="slidenum">
              <a:rPr lang="en-US" smtClean="0"/>
              <a:pPr/>
              <a:t>10</a:t>
            </a:fld>
            <a:endParaRPr lang="en-US" dirty="0"/>
          </a:p>
        </p:txBody>
      </p:sp>
      <p:sp>
        <p:nvSpPr>
          <p:cNvPr id="17" name="TextBox 16"/>
          <p:cNvSpPr txBox="1"/>
          <p:nvPr/>
        </p:nvSpPr>
        <p:spPr>
          <a:xfrm>
            <a:off x="457200" y="1828800"/>
            <a:ext cx="6583680" cy="457200"/>
          </a:xfrm>
          <a:prstGeom prst="rect">
            <a:avLst/>
          </a:prstGeom>
          <a:noFill/>
        </p:spPr>
        <p:txBody>
          <a:bodyPr wrap="none">
            <a:spAutoFit/>
          </a:bodyPr>
          <a:lstStyle/>
          <a:p>
            <a:pPr>
              <a:defRPr b="1" sz="1600">
                <a:solidFill>
                  <a:srgbClr val="003399"/>
                </a:solidFill>
              </a:defRPr>
            </a:pPr>
            <a:r>
              <a:t>➤ CIRCULAR-BSE</a:t>
            </a:r>
          </a:p>
        </p:txBody>
      </p:sp>
      <p:sp>
        <p:nvSpPr>
          <p:cNvPr id="18" name="TextBox 17"/>
          <p:cNvSpPr txBox="1"/>
          <p:nvPr/>
        </p:nvSpPr>
        <p:spPr>
          <a:xfrm>
            <a:off x="457200" y="2286000"/>
            <a:ext cx="6583680" cy="5495544"/>
          </a:xfrm>
          <a:prstGeom prst="rect">
            <a:avLst/>
          </a:prstGeom>
          <a:noFill/>
        </p:spPr>
        <p:txBody>
          <a:bodyPr wrap="square">
            <a:spAutoFit/>
          </a:bodyPr>
          <a:lstStyle/>
          <a:p>
            <a:pPr>
              <a:spcAft>
                <a:spcPts val="600"/>
              </a:spcAft>
            </a:pPr>
            <a:r>
              <a:rPr b="1" sz="1200" u="sng">
                <a:solidFill>
                  <a:srgbClr val="0066CC"/>
                </a:solidFill>
                <a:hlinkClick r:id="rId3"/>
              </a:rPr>
              <a:t>SEBI (Listing Obligations and Disclosure Requirements) (Second Amendment) Regulations, 2026</a:t>
            </a:r>
          </a:p>
          <a:p>
            <a:pPr>
              <a:spcBef>
                <a:spcPts val="1200"/>
              </a:spcBef>
              <a:spcAft>
                <a:spcPts val="400"/>
              </a:spcAft>
              <a:defRPr sz="1100" b="1"/>
            </a:pPr>
            <a:r>
              <a:t>Date of Circular:</a:t>
            </a:r>
          </a:p>
          <a:p>
            <a:pPr>
              <a:spcBef>
                <a:spcPts val="400"/>
              </a:spcBef>
              <a:spcAft>
                <a:spcPts val="600"/>
              </a:spcAft>
              <a:defRPr sz="1100"/>
            </a:pPr>
            <a:r>
              <a:t>2026-07-22</a:t>
            </a:r>
          </a:p>
          <a:p>
            <a:pPr>
              <a:spcBef>
                <a:spcPts val="1200"/>
              </a:spcBef>
              <a:spcAft>
                <a:spcPts val="400"/>
              </a:spcAft>
              <a:defRPr sz="1100" b="1"/>
            </a:pPr>
            <a:r>
              <a:t>Effective Date:</a:t>
            </a:r>
          </a:p>
          <a:p>
            <a:pPr>
              <a:spcBef>
                <a:spcPts val="400"/>
              </a:spcBef>
              <a:spcAft>
                <a:spcPts val="600"/>
              </a:spcAft>
              <a:defRPr sz="1100"/>
            </a:pPr>
            <a:r>
              <a:t>Not specified</a:t>
            </a:r>
          </a:p>
          <a:p>
            <a:pPr>
              <a:spcBef>
                <a:spcPts val="1200"/>
              </a:spcBef>
              <a:spcAft>
                <a:spcPts val="400"/>
              </a:spcAft>
              <a:defRPr sz="1100" b="1"/>
            </a:pPr>
            <a:r>
              <a:t>Gist of amendment:</a:t>
            </a:r>
          </a:p>
          <a:p>
            <a:pPr>
              <a:spcBef>
                <a:spcPts val="400"/>
              </a:spcBef>
              <a:spcAft>
                <a:spcPts val="600"/>
              </a:spcAft>
              <a:defRPr sz="1100"/>
            </a:pPr>
            <a:r>
              <a:t>BSE has issued this circular and SEBI has issued the Securities and Exchange Board of India (Listing Obligations and Disclosure Requirements) (Second Amendment) Regulations, 2026.</a:t>
            </a:r>
          </a:p>
          <a:p>
            <a:pPr>
              <a:spcBef>
                <a:spcPts val="1200"/>
              </a:spcBef>
              <a:spcAft>
                <a:spcPts val="400"/>
              </a:spcAft>
              <a:defRPr sz="1100" b="1"/>
            </a:pPr>
            <a:r>
              <a:t>Download XBRL utility:</a:t>
            </a:r>
          </a:p>
          <a:p>
            <a:pPr>
              <a:spcBef>
                <a:spcPts val="400"/>
              </a:spcBef>
              <a:spcAft>
                <a:spcPts val="600"/>
              </a:spcAft>
              <a:defRPr sz="1100"/>
            </a:pPr>
            <a:r>
              <a:t>Listing Centre - SEBI_LODR_SecondAmendment_Regulations_2026.pdf</a:t>
            </a:r>
          </a:p>
          <a:p>
            <a:pPr>
              <a:spcBef>
                <a:spcPts val="400"/>
              </a:spcBef>
              <a:spcAft>
                <a:spcPts val="600"/>
              </a:spcAft>
              <a:defRPr sz="1100"/>
            </a:pPr>
            <a:r>
              <a:t>1. The revised regulations are effective from the date of their publication in the Official Gazette.</a:t>
            </a:r>
          </a:p>
          <a:p>
            <a:pPr>
              <a:spcBef>
                <a:spcPts val="400"/>
              </a:spcBef>
              <a:spcAft>
                <a:spcPts val="600"/>
              </a:spcAft>
              <a:defRPr sz="1100"/>
            </a:pPr>
            <a:r>
              <a:t>2. All listed companies must comply with these new regulations.</a:t>
            </a:r>
          </a:p>
          <a:p>
            <a:pPr>
              <a:spcBef>
                <a:spcPts val="400"/>
              </a:spcBef>
              <a:spcAft>
                <a:spcPts val="600"/>
              </a:spcAft>
              <a:defRPr sz="1100"/>
            </a:pPr>
            <a:r>
              <a:t>3. XBRL mode is mandatory for filing disclosures under these regulations. PDF submissions are not accepted.</a:t>
            </a:r>
          </a:p>
          <a:p>
            <a:pPr>
              <a:spcBef>
                <a:spcPts val="400"/>
              </a:spcBef>
              <a:spcAft>
                <a:spcPts val="600"/>
              </a:spcAft>
              <a:defRPr sz="1100"/>
            </a:pPr>
            <a:r>
              <a:t>4. For unlisted fiduciaries, alternative submission routes may be available via email or contact provided on SEBI's official website: &lt;</a:t>
            </a:r>
          </a:p>
          <a:p>
            <a:pPr>
              <a:spcBef>
                <a:spcPts val="400"/>
              </a:spcBef>
              <a:spcAft>
                <a:spcPts val="600"/>
              </a:spcAft>
              <a:defRPr sz="1100"/>
            </a:pPr>
            <a:r>
              <a:t>5. Previous versions of the Listing Obligations and Disclosure Requirements Regulations are no longer valid for compliance purposes. Submissions via these legacy routes are considered invalid.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DBEDF3"/>
        </a:solidFill>
        <a:effectLst/>
      </p:bgPr>
    </p:bg>
    <p:spTree>
      <p:nvGrpSpPr>
        <p:cNvPr id="1" name=""/>
        <p:cNvGrpSpPr/>
        <p:nvPr/>
      </p:nvGrpSpPr>
      <p:grpSpPr/>
      <p:sp>
        <p:nvSpPr>
          <p:cNvPr id="9" name="Freeform 9">
            <a:extLst>
              <a:ext uri="{FF2B5EF4-FFF2-40B4-BE49-F238E27FC236}">
                <a16:creationId xmlns:a16="http://schemas.microsoft.com/office/drawing/2014/main" id="{B2524028-2C9B-1404-BE53-33ADB3A2FCD5}"/>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E2514E86-0813-FDB3-C8E1-A65BAC7CAF8B}"/>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09FAB878-0211-ED08-EE38-35F69816CF2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4B05D324-5046-D7D5-9841-5447C419D50D}"/>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F0D261B9-C556-A210-8F75-69B5678B6DD0}"/>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D0A12A1A-9265-659A-0EED-42FD4976DAAB}"/>
              </a:ext>
            </a:extLst>
          </p:cNvPr>
          <p:cNvSpPr txBox="1"/>
          <p:nvPr/>
        </p:nvSpPr>
        <p:spPr>
          <a:xfrm>
            <a:off x="349250"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17 of 19</a:t>
            </a:r>
          </a:p>
        </p:txBody>
      </p:sp>
      <p:pic>
        <p:nvPicPr>
          <p:cNvPr id="16" name="Picture 15" descr="image.png"/>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DAAE1D69-07AD-34DE-A40D-39BC5927BFF2}"/>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E418F2FF-AB72-6152-EFFD-3BF109C49EDA}"/>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73BF2278-C9D9-6969-211F-206FF6E49823}"/>
              </a:ext>
            </a:extLst>
          </p:cNvPr>
          <p:cNvSpPr>
            <a:spLocks noGrp="1"/>
          </p:cNvSpPr>
          <p:nvPr>
            <p:ph type="sldNum" sz="quarter" idx="12"/>
          </p:nvPr>
        </p:nvSpPr>
        <p:spPr/>
        <p:txBody>
          <a:bodyPr/>
          <a:lstStyle/>
          <a:p>
            <a:fld id="{B6F15528-21DE-4FAA-801E-634DDDAF4B2B}" type="slidenum">
              <a:rPr lang="en-US" smtClean="0"/>
              <a:pPr/>
              <a:t>10</a:t>
            </a:fld>
            <a:endParaRPr lang="en-US" dirty="0"/>
          </a:p>
        </p:txBody>
      </p:sp>
      <p:sp>
        <p:nvSpPr>
          <p:cNvPr id="17" name="TextBox 16"/>
          <p:cNvSpPr txBox="1"/>
          <p:nvPr/>
        </p:nvSpPr>
        <p:spPr>
          <a:xfrm>
            <a:off x="457200" y="1828800"/>
            <a:ext cx="6583680" cy="457200"/>
          </a:xfrm>
          <a:prstGeom prst="rect">
            <a:avLst/>
          </a:prstGeom>
          <a:noFill/>
        </p:spPr>
        <p:txBody>
          <a:bodyPr wrap="none">
            <a:spAutoFit/>
          </a:bodyPr>
          <a:lstStyle/>
          <a:p>
            <a:pPr>
              <a:defRPr b="1" sz="1600">
                <a:solidFill>
                  <a:srgbClr val="003399"/>
                </a:solidFill>
              </a:defRPr>
            </a:pPr>
            <a:r>
              <a:t>➤ CIRCULAR-NSE</a:t>
            </a:r>
          </a:p>
        </p:txBody>
      </p:sp>
      <p:sp>
        <p:nvSpPr>
          <p:cNvPr id="18" name="TextBox 17"/>
          <p:cNvSpPr txBox="1"/>
          <p:nvPr/>
        </p:nvSpPr>
        <p:spPr>
          <a:xfrm>
            <a:off x="457200" y="2286000"/>
            <a:ext cx="6583680" cy="7306056"/>
          </a:xfrm>
          <a:prstGeom prst="rect">
            <a:avLst/>
          </a:prstGeom>
          <a:noFill/>
        </p:spPr>
        <p:txBody>
          <a:bodyPr wrap="square">
            <a:spAutoFit/>
          </a:bodyPr>
          <a:lstStyle/>
          <a:p>
            <a:pPr>
              <a:spcAft>
                <a:spcPts val="600"/>
              </a:spcAft>
            </a:pPr>
            <a:r>
              <a:rPr b="1" sz="1200" u="sng">
                <a:solidFill>
                  <a:srgbClr val="0066CC"/>
                </a:solidFill>
                <a:hlinkClick r:id="rId3"/>
              </a:rPr>
              <a:t>FAQs on Filing of Corporate Action as per SEBI (LODR) Regulations, 2015</a:t>
            </a:r>
          </a:p>
          <a:p>
            <a:pPr>
              <a:spcBef>
                <a:spcPts val="1200"/>
              </a:spcBef>
              <a:spcAft>
                <a:spcPts val="400"/>
              </a:spcAft>
              <a:defRPr sz="1100" b="1"/>
            </a:pPr>
            <a:r>
              <a:t>Date of Circular:</a:t>
            </a:r>
          </a:p>
          <a:p>
            <a:pPr>
              <a:spcBef>
                <a:spcPts val="400"/>
              </a:spcBef>
              <a:spcAft>
                <a:spcPts val="600"/>
              </a:spcAft>
              <a:defRPr sz="1100"/>
            </a:pPr>
            <a:r>
              <a:t>2026-07-07</a:t>
            </a:r>
          </a:p>
          <a:p>
            <a:pPr>
              <a:spcBef>
                <a:spcPts val="1200"/>
              </a:spcBef>
              <a:spcAft>
                <a:spcPts val="400"/>
              </a:spcAft>
              <a:defRPr sz="1100" b="1"/>
            </a:pPr>
            <a:r>
              <a:t>Effective Date:</a:t>
            </a:r>
          </a:p>
          <a:p>
            <a:pPr>
              <a:spcBef>
                <a:spcPts val="400"/>
              </a:spcBef>
              <a:spcAft>
                <a:spcPts val="600"/>
              </a:spcAft>
              <a:defRPr sz="1100"/>
            </a:pPr>
            <a:r>
              <a:t>Not specified</a:t>
            </a:r>
          </a:p>
          <a:p>
            <a:pPr>
              <a:spcBef>
                <a:spcPts val="1200"/>
              </a:spcBef>
              <a:spcAft>
                <a:spcPts val="400"/>
              </a:spcAft>
              <a:defRPr sz="1100" b="1"/>
            </a:pPr>
            <a:r>
              <a:t>Gist of amendment:</a:t>
            </a:r>
          </a:p>
          <a:p>
            <a:pPr>
              <a:spcBef>
                <a:spcPts val="400"/>
              </a:spcBef>
              <a:spcAft>
                <a:spcPts val="600"/>
              </a:spcAft>
              <a:defRPr sz="1100"/>
            </a:pPr>
            <a:r>
              <a:t>NSE has issued this circular and Issued a circular regarding the filing of Corporate Action as per SEBI (LODR) Regulations, 2015. The requirement introduced is a detailed explanation on various aspects related to Record Date for Corporate Actions.</a:t>
            </a:r>
          </a:p>
          <a:p>
            <a:pPr>
              <a:spcBef>
                <a:spcPts val="1200"/>
              </a:spcBef>
              <a:spcAft>
                <a:spcPts val="400"/>
              </a:spcAft>
              <a:defRPr sz="1100" b="1"/>
            </a:pPr>
            <a:r>
              <a:t>Submission of disclosures:</a:t>
            </a:r>
          </a:p>
          <a:p>
            <a:pPr>
              <a:spcBef>
                <a:spcPts val="400"/>
              </a:spcBef>
              <a:spcAft>
                <a:spcPts val="600"/>
              </a:spcAft>
              <a:defRPr sz="1100"/>
            </a:pPr>
            <a:r>
              <a:t>NEAPS &gt; COMPLIANCE &gt; Announcements &gt; Corporate Action &gt; Submission</a:t>
            </a:r>
          </a:p>
          <a:p>
            <a:pPr>
              <a:spcBef>
                <a:spcPts val="400"/>
              </a:spcBef>
              <a:spcAft>
                <a:spcPts val="600"/>
              </a:spcAft>
              <a:defRPr sz="1100"/>
            </a:pPr>
            <a:r>
              <a:t>All listed entities may fix a Record Date for a Corporate Action as per Regulation 42 of SEBI (LODR) Regulations, 2015. For InvITs and REITs, the Record Date is required to be disclosed under the applicable SEBI Regulations at least two working days prior to the Record Date, excluding the date of intimation and the Record Date.</a:t>
            </a:r>
          </a:p>
          <a:p>
            <a:pPr>
              <a:spcBef>
                <a:spcPts val="0"/>
              </a:spcBef>
              <a:spcAft>
                <a:spcPts val="200"/>
              </a:spcAft>
              <a:defRPr sz="1100"/>
            </a:pPr>
            <a:r>
              <a:t>- The intimation of Record Date must be submitted on the NEAPS Platform through the specified path: NEAPS &gt; COMPLIANCE &gt; Announcements &gt; Corporate Action &gt; Submission. Any submission made through a path other than this will not be taken on record.</a:t>
            </a:r>
          </a:p>
          <a:p>
            <a:pPr>
              <a:spcBef>
                <a:spcPts val="0"/>
              </a:spcBef>
              <a:spcAft>
                <a:spcPts val="200"/>
              </a:spcAft>
              <a:defRPr sz="1100"/>
            </a:pPr>
            <a:r>
              <a:t>- No Cut-off date or Book Closure date is required for a Corporate Action. The Exchange will consider only the Record Date for a Corporate Action.</a:t>
            </a:r>
          </a:p>
          <a:p>
            <a:pPr>
              <a:spcBef>
                <a:spcPts val="0"/>
              </a:spcBef>
              <a:spcAft>
                <a:spcPts val="200"/>
              </a:spcAft>
              <a:defRPr sz="1100"/>
            </a:pPr>
            <a:r>
              <a:t>- The Company may revise or cancel the Record Date in the system by submitting the same through the specified path on the NEAPS Platform, provided such submission is made at least two working days prior to the previously intimated Record Date. Any revised intimation or cancellation submitted through any other path or after the prescribed timeline shall not be taken on record.</a:t>
            </a:r>
          </a:p>
          <a:p>
            <a:pPr>
              <a:spcBef>
                <a:spcPts val="0"/>
              </a:spcBef>
              <a:spcAft>
                <a:spcPts val="200"/>
              </a:spcAft>
              <a:defRPr sz="1100"/>
            </a:pPr>
            <a:r>
              <a:t>- The minimum gap of three (3) working days shall be after board or shareholder approval, as applicable, for the specific corporate action as per Regulation 42(2) of the LODR.</a:t>
            </a:r>
          </a:p>
          <a:p>
            <a:pPr>
              <a:spcBef>
                <a:spcPts val="0"/>
              </a:spcBef>
              <a:spcAft>
                <a:spcPts val="200"/>
              </a:spcAft>
              <a:defRPr sz="1100"/>
            </a:pPr>
            <a:r>
              <a:t>- For any Corporate Action pertaining to Amalgamation / Merger/ Demerger/ Restructuring /Reorganization through Scheme of Arrangement and as approved by NCLT/Central Government under provisions of Companies Act/IBC etc., notice in advance of at least 7 working days (excluding the date of intimation and the record date) is to be given.</a:t>
            </a:r>
          </a:p>
          <a:p>
            <a:pPr>
              <a:spcBef>
                <a:spcPts val="0"/>
              </a:spcBef>
              <a:spcAft>
                <a:spcPts val="200"/>
              </a:spcAft>
              <a:defRPr sz="1100"/>
            </a:pPr>
            <a:r>
              <a:t>- The Record date must be T+8 working days after board's approval for rights issue, as per SEBI Circular SEBI/HO/CFD/CFD-PoD-1/P/CIR/2025/31 dated March 11, 2025.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DBEDF3"/>
        </a:solidFill>
        <a:effectLst/>
      </p:bgPr>
    </p:bg>
    <p:spTree>
      <p:nvGrpSpPr>
        <p:cNvPr id="1" name=""/>
        <p:cNvGrpSpPr/>
        <p:nvPr/>
      </p:nvGrpSpPr>
      <p:grpSpPr/>
      <p:sp>
        <p:nvSpPr>
          <p:cNvPr id="9" name="Freeform 9">
            <a:extLst>
              <a:ext uri="{FF2B5EF4-FFF2-40B4-BE49-F238E27FC236}">
                <a16:creationId xmlns:a16="http://schemas.microsoft.com/office/drawing/2014/main" id="{B2524028-2C9B-1404-BE53-33ADB3A2FCD5}"/>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E2514E86-0813-FDB3-C8E1-A65BAC7CAF8B}"/>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09FAB878-0211-ED08-EE38-35F69816CF2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4B05D324-5046-D7D5-9841-5447C419D50D}"/>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F0D261B9-C556-A210-8F75-69B5678B6DD0}"/>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D0A12A1A-9265-659A-0EED-42FD4976DAAB}"/>
              </a:ext>
            </a:extLst>
          </p:cNvPr>
          <p:cNvSpPr txBox="1"/>
          <p:nvPr/>
        </p:nvSpPr>
        <p:spPr>
          <a:xfrm>
            <a:off x="349250"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18 of 19</a:t>
            </a:r>
          </a:p>
        </p:txBody>
      </p:sp>
      <p:pic>
        <p:nvPicPr>
          <p:cNvPr id="16" name="Picture 15" descr="image.png"/>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DAAE1D69-07AD-34DE-A40D-39BC5927BFF2}"/>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E418F2FF-AB72-6152-EFFD-3BF109C49EDA}"/>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73BF2278-C9D9-6969-211F-206FF6E49823}"/>
              </a:ext>
            </a:extLst>
          </p:cNvPr>
          <p:cNvSpPr>
            <a:spLocks noGrp="1"/>
          </p:cNvSpPr>
          <p:nvPr>
            <p:ph type="sldNum" sz="quarter" idx="12"/>
          </p:nvPr>
        </p:nvSpPr>
        <p:spPr/>
        <p:txBody>
          <a:bodyPr/>
          <a:lstStyle/>
          <a:p>
            <a:fld id="{B6F15528-21DE-4FAA-801E-634DDDAF4B2B}" type="slidenum">
              <a:rPr lang="en-US" smtClean="0"/>
              <a:pPr/>
              <a:t>10</a:t>
            </a:fld>
            <a:endParaRPr lang="en-US" dirty="0"/>
          </a:p>
        </p:txBody>
      </p:sp>
      <p:sp>
        <p:nvSpPr>
          <p:cNvPr id="17" name="TextBox 16"/>
          <p:cNvSpPr txBox="1"/>
          <p:nvPr/>
        </p:nvSpPr>
        <p:spPr>
          <a:xfrm>
            <a:off x="457200" y="1828800"/>
            <a:ext cx="6583680" cy="1078992"/>
          </a:xfrm>
          <a:prstGeom prst="rect">
            <a:avLst/>
          </a:prstGeom>
          <a:noFill/>
        </p:spPr>
        <p:txBody>
          <a:bodyPr wrap="square">
            <a:spAutoFit/>
          </a:bodyPr>
          <a:lstStyle/>
          <a:p>
            <a:pPr>
              <a:spcBef>
                <a:spcPts val="0"/>
              </a:spcBef>
              <a:spcAft>
                <a:spcPts val="200"/>
              </a:spcAft>
              <a:defRPr sz="1100"/>
            </a:pPr>
            <a:r>
              <a:t>- Record Date intimation should be given by Companies after approval at Board Meeting and after approval of Shareholders /NCLT /Central Government/ Filing of INC28 with ROC/ SEBI approval/ Exchange approval/ Public Announcement/etc, as would be necessary to facilitate the corporate action.</a:t>
            </a:r>
          </a:p>
          <a:p>
            <a:pPr>
              <a:spcBef>
                <a:spcPts val="0"/>
              </a:spcBef>
              <a:spcAft>
                <a:spcPts val="200"/>
              </a:spcAft>
              <a:defRPr sz="1100"/>
            </a:pPr>
            <a:r>
              <a:t>- Any clarification, query, or issue relating to the filing of record dates should be addressed to the Exchange at: Listingca@nse.co.in</a:t>
            </a:r>
          </a:p>
        </p:txBody>
      </p:sp>
      <p:sp>
        <p:nvSpPr>
          <p:cNvPr id="18" name="TextBox 17"/>
          <p:cNvSpPr txBox="1"/>
          <p:nvPr/>
        </p:nvSpPr>
        <p:spPr>
          <a:xfrm>
            <a:off x="457200" y="3044952"/>
            <a:ext cx="6583680" cy="2798064"/>
          </a:xfrm>
          <a:prstGeom prst="rect">
            <a:avLst/>
          </a:prstGeom>
          <a:noFill/>
        </p:spPr>
        <p:txBody>
          <a:bodyPr wrap="square">
            <a:spAutoFit/>
          </a:bodyPr>
          <a:lstStyle/>
          <a:p>
            <a:pPr>
              <a:spcAft>
                <a:spcPts val="600"/>
              </a:spcAft>
            </a:pPr>
            <a:r>
              <a:rPr b="1" sz="1200" u="sng">
                <a:solidFill>
                  <a:srgbClr val="0066CC"/>
                </a:solidFill>
                <a:hlinkClick r:id="rId3"/>
              </a:rPr>
              <a:t>Norms for Base Price, Price Bands, Call Auction in pre-open session and Close-out procedure for Exchange Traded Funds (ETFs)</a:t>
            </a:r>
          </a:p>
          <a:p>
            <a:pPr>
              <a:spcBef>
                <a:spcPts val="1200"/>
              </a:spcBef>
              <a:spcAft>
                <a:spcPts val="400"/>
              </a:spcAft>
              <a:defRPr sz="1100" b="1"/>
            </a:pPr>
            <a:r>
              <a:t>Date of Circular:</a:t>
            </a:r>
          </a:p>
          <a:p>
            <a:pPr>
              <a:spcBef>
                <a:spcPts val="400"/>
              </a:spcBef>
              <a:spcAft>
                <a:spcPts val="600"/>
              </a:spcAft>
              <a:defRPr sz="1100"/>
            </a:pPr>
            <a:r>
              <a:t>2026-07-03</a:t>
            </a:r>
          </a:p>
          <a:p>
            <a:pPr>
              <a:spcBef>
                <a:spcPts val="1200"/>
              </a:spcBef>
              <a:spcAft>
                <a:spcPts val="400"/>
              </a:spcAft>
              <a:defRPr sz="1100" b="1"/>
            </a:pPr>
            <a:r>
              <a:t>Effective Date:</a:t>
            </a:r>
          </a:p>
          <a:p>
            <a:pPr>
              <a:spcBef>
                <a:spcPts val="400"/>
              </a:spcBef>
              <a:spcAft>
                <a:spcPts val="600"/>
              </a:spcAft>
              <a:defRPr sz="1100"/>
            </a:pPr>
            <a:r>
              <a:t>Not specified</a:t>
            </a:r>
          </a:p>
          <a:p>
            <a:pPr>
              <a:spcBef>
                <a:spcPts val="1200"/>
              </a:spcBef>
              <a:spcAft>
                <a:spcPts val="400"/>
              </a:spcAft>
              <a:defRPr sz="1100" b="1"/>
            </a:pPr>
            <a:r>
              <a:t>Gist of amendment:</a:t>
            </a:r>
          </a:p>
          <a:p>
            <a:pPr>
              <a:spcBef>
                <a:spcPts val="400"/>
              </a:spcBef>
              <a:spcAft>
                <a:spcPts val="600"/>
              </a:spcAft>
              <a:defRPr sz="1100"/>
            </a:pPr>
            <a:r>
              <a:t>NSE has issued this circular and informed listed entities about the SEBI circular dated June 15, 2026 regarding regulatory matters. The notice does not reproduce the substantive amendments and only forwards the SEBI circular for reference.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lgn="l">
          <a:defRPr sz="1600" b="1" u="sng" kern="100" dirty="0" smtClean="0">
            <a:solidFill>
              <a:srgbClr val="002060"/>
            </a:solidFill>
            <a:cs typeface="Times New Roman" panose="02020603050405020304"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1216</TotalTime>
  <Words>356</Words>
  <Application>Microsoft Office PowerPoint</Application>
  <PresentationFormat>Custom</PresentationFormat>
  <Paragraphs>89</Paragraphs>
  <Slides>11</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11</vt:i4>
      </vt:variant>
    </vt:vector>
  </HeadingPairs>
  <TitlesOfParts>
    <vt:vector size="23" baseType="lpstr">
      <vt:lpstr>Courier New</vt:lpstr>
      <vt:lpstr>Times New Roman</vt:lpstr>
      <vt:lpstr>Montserrat Classic</vt:lpstr>
      <vt:lpstr>Aptos</vt:lpstr>
      <vt:lpstr>Montserrat</vt:lpstr>
      <vt:lpstr>Arial</vt:lpstr>
      <vt:lpstr>Canva Sans Bold Italics</vt:lpstr>
      <vt:lpstr>Montserrat Bold</vt:lpstr>
      <vt:lpstr>Calibri</vt:lpstr>
      <vt:lpstr>Wingdings</vt:lpstr>
      <vt:lpstr>Montserrat Classic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ARTHYA NEWSLETTER</dc:title>
  <dc:creator>Gayathri Akshayam</dc:creator>
  <cp:lastModifiedBy>Vijayashree Akshayam</cp:lastModifiedBy>
  <cp:revision>452</cp:revision>
  <dcterms:created xsi:type="dcterms:W3CDTF">2006-08-16T00:00:00Z</dcterms:created>
  <dcterms:modified xsi:type="dcterms:W3CDTF">2026-05-19T04:24:50Z</dcterms:modified>
  <dc:identifier>DAGjRylsoc0</dc:identifier>
</cp:coreProperties>
</file>