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bookmarkIdSeed="2">
  <p:sldMasterIdLst>
    <p:sldMasterId id="2147483648" r:id="rId1"/>
  </p:sldMasterIdLst>
  <p:notesMasterIdLst>
    <p:notesMasterId r:id="rId13"/>
  </p:notesMasterIdLst>
  <p:handoutMasterIdLst>
    <p:handoutMasterId r:id="rId14"/>
  </p:handoutMasterIdLst>
  <p:sldIdLst>
    <p:sldId id="256" r:id="rId2"/>
    <p:sldId id="257" r:id="rId3"/>
    <p:sldId id="281" r:id="rId4"/>
    <p:sldId id="275" r:id="rId5"/>
    <p:sldId id="258" r:id="rId6"/>
    <p:sldId id="259" r:id="rId7"/>
    <p:sldId id="276" r:id="rId8"/>
    <p:sldId id="280" r:id="rId9"/>
    <p:sldId id="282" r:id="rId10"/>
    <p:sldId id="283" r:id="rId11"/>
    <p:sldId id="262" r:id="rId12"/>
  </p:sldIdLst>
  <p:sldSz cx="7556500" cy="10693400"/>
  <p:notesSz cx="6858000" cy="9144000"/>
  <p:embeddedFontLst>
    <p:embeddedFont>
      <p:font typeface="Canva Sans Bold Italics" panose="020B0604020202020204" charset="0"/>
      <p:regular r:id="rId15"/>
      <p:bold r:id="rId16"/>
      <p:italic r:id="rId17"/>
      <p:boldItalic r:id="rId18"/>
    </p:embeddedFont>
    <p:embeddedFont>
      <p:font typeface="Montserrat" panose="00000500000000000000" pitchFamily="2" charset="0"/>
      <p:regular r:id="rId19"/>
      <p:bold r:id="rId20"/>
      <p:italic r:id="rId21"/>
      <p:boldItalic r:id="rId22"/>
    </p:embeddedFont>
    <p:embeddedFont>
      <p:font typeface="Montserrat Bold" panose="00000800000000000000" charset="0"/>
      <p:regular r:id="rId23"/>
      <p:bold r:id="rId24"/>
    </p:embeddedFont>
    <p:embeddedFont>
      <p:font typeface="Montserrat Classic" panose="020B0604020202020204" charset="0"/>
      <p:regular r:id="rId25"/>
    </p:embeddedFont>
    <p:embeddedFont>
      <p:font typeface="Montserrat Classic Bold" panose="020B0604020202020204" charset="0"/>
      <p:regular r:id="rId26"/>
      <p:bold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5B13AD-9D3F-43D7-8C09-EE99CC0E6810}">
          <p14:sldIdLst>
            <p14:sldId id="256"/>
            <p14:sldId id="257"/>
            <p14:sldId id="281"/>
            <p14:sldId id="275"/>
            <p14:sldId id="258"/>
            <p14:sldId id="259"/>
            <p14:sldId id="276"/>
            <p14:sldId id="280"/>
            <p14:sldId id="282"/>
            <p14:sldId id="283"/>
            <p14:sldId id="26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1AFC70B-62F5-A2D5-179E-38CFE34E869D}" name="Akshayam Corporate" initials="AC" userId="4da170d8fe2c9114" providerId="Windows Live"/>
  <p188:author id="{37B40F4F-C4B7-9A17-BD58-D8B6D1E58FBB}" name="Vijayashree Akshayam" initials="VA" userId="Vijayashree Akshayam" providerId="None"/>
  <p188:author id="{FC9427BF-2F46-F632-BD97-6A6E6211112C}" name="Akshayam Vijayashree" initials="AV" userId="c7b6f966c5db89bb" providerId="Windows Live"/>
  <p188:author id="{11512ADE-0601-89BE-5FA3-D4A7240BADA3}" name="Akshayam Gayathri" initials="AG" userId="d6c9e8928e28eb49"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A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39" autoAdjust="0"/>
    <p:restoredTop sz="95033" autoAdjust="0"/>
  </p:normalViewPr>
  <p:slideViewPr>
    <p:cSldViewPr>
      <p:cViewPr>
        <p:scale>
          <a:sx n="66" d="100"/>
          <a:sy n="66" d="100"/>
        </p:scale>
        <p:origin x="2563" y="-21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handoutMaster" Target="handoutMasters/handoutMaster1.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 Id="rId19" Type="http://schemas.openxmlformats.org/officeDocument/2006/relationships/font" Target="fonts/font5.fntdata"/><Relationship Id="rId20" Type="http://schemas.openxmlformats.org/officeDocument/2006/relationships/font" Target="fonts/font6.fntdata"/><Relationship Id="rId21" Type="http://schemas.openxmlformats.org/officeDocument/2006/relationships/font" Target="fonts/font7.fntdata"/><Relationship Id="rId22" Type="http://schemas.openxmlformats.org/officeDocument/2006/relationships/font" Target="fonts/font8.fntdata"/><Relationship Id="rId23" Type="http://schemas.openxmlformats.org/officeDocument/2006/relationships/font" Target="fonts/font9.fntdata"/><Relationship Id="rId24" Type="http://schemas.openxmlformats.org/officeDocument/2006/relationships/font" Target="fonts/font10.fntdata"/><Relationship Id="rId25" Type="http://schemas.openxmlformats.org/officeDocument/2006/relationships/font" Target="fonts/font11.fntdata"/><Relationship Id="rId26" Type="http://schemas.openxmlformats.org/officeDocument/2006/relationships/font" Target="fonts/font12.fntdata"/><Relationship Id="rId27" Type="http://schemas.openxmlformats.org/officeDocument/2006/relationships/font" Target="fonts/font13.fntdata"/><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E090448-BEA7-13A3-E3BE-E0F629BA59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6563141-DD44-53D6-0ADC-DBD0F49868D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8EAC7F4-989E-4E80-AA70-449465F511CB}" type="datetimeFigureOut">
              <a:rPr lang="en-US" smtClean="0"/>
              <a:t>19-May-26</a:t>
            </a:fld>
            <a:endParaRPr lang="en-US"/>
          </a:p>
        </p:txBody>
      </p:sp>
      <p:sp>
        <p:nvSpPr>
          <p:cNvPr id="4" name="Footer Placeholder 3">
            <a:extLst>
              <a:ext uri="{FF2B5EF4-FFF2-40B4-BE49-F238E27FC236}">
                <a16:creationId xmlns:a16="http://schemas.microsoft.com/office/drawing/2014/main" id="{0C2C51CB-7E77-5AF0-5B4C-D6C702DE41E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B22FBA9-A29B-B09C-5BE6-D5FB66F8317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5138348-FB05-4257-A0BD-11356C79A27B}" type="slidenum">
              <a:rPr lang="en-US" smtClean="0"/>
              <a:t>‹#›</a:t>
            </a:fld>
            <a:endParaRPr lang="en-US"/>
          </a:p>
        </p:txBody>
      </p:sp>
    </p:spTree>
    <p:extLst>
      <p:ext uri="{BB962C8B-B14F-4D97-AF65-F5344CB8AC3E}">
        <p14:creationId xmlns:p14="http://schemas.microsoft.com/office/powerpoint/2010/main" val="3783394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90F206-EE2D-408D-9188-EF36162EE9A3}" type="datetimeFigureOut">
              <a:rPr lang="en-US" smtClean="0"/>
              <a:t>19-May-26</a:t>
            </a:fld>
            <a:endParaRPr lang="en-US"/>
          </a:p>
        </p:txBody>
      </p:sp>
      <p:sp>
        <p:nvSpPr>
          <p:cNvPr id="4" name="Slide Image Placeholder 3"/>
          <p:cNvSpPr>
            <a:spLocks noGrp="1" noRot="1" noChangeAspect="1"/>
          </p:cNvSpPr>
          <p:nvPr>
            <p:ph type="sldImg" idx="2"/>
          </p:nvPr>
        </p:nvSpPr>
        <p:spPr>
          <a:xfrm>
            <a:off x="2338388" y="1143000"/>
            <a:ext cx="21812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8ED63A-9D04-49DF-9757-7D83F06E14E4}" type="slidenum">
              <a:rPr lang="en-US" smtClean="0"/>
              <a:t>‹#›</a:t>
            </a:fld>
            <a:endParaRPr lang="en-US"/>
          </a:p>
        </p:txBody>
      </p:sp>
    </p:spTree>
    <p:extLst>
      <p:ext uri="{BB962C8B-B14F-4D97-AF65-F5344CB8AC3E}">
        <p14:creationId xmlns:p14="http://schemas.microsoft.com/office/powerpoint/2010/main" val="304129445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78ED63A-9D04-49DF-9757-7D83F06E14E4}" type="slidenum">
              <a:rPr lang="en-US" smtClean="0"/>
              <a:t>9</a:t>
            </a:fld>
            <a:endParaRPr lang="en-US"/>
          </a:p>
        </p:txBody>
      </p:sp>
    </p:spTree>
    <p:extLst>
      <p:ext uri="{BB962C8B-B14F-4D97-AF65-F5344CB8AC3E}">
        <p14:creationId xmlns:p14="http://schemas.microsoft.com/office/powerpoint/2010/main" val="11842251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B4D23EE-C28E-41DC-8BBD-F57A0AD8FACE}"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5E1DF6A-5983-4275-9F6C-E198972BE1F2}"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5E17121-B280-4071-9A85-E3B9C8C8310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857BDFE-9C60-4B7B-8991-612ACA6C157F}"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FA230DB-6D8B-4397-A447-2E850283409E}" type="datetime1">
              <a:rPr lang="en-US" smtClean="0"/>
              <a:t>19-May-26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0B9369B-338F-4E50-A49A-83ABDED5F3B2}" type="datetime1">
              <a:rPr lang="en-US" smtClean="0"/>
              <a:t>19-May-26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4250EB-D47C-458D-97E7-3139D0BAC1E9}" type="datetime1">
              <a:rPr lang="en-US" smtClean="0"/>
              <a:t>19-May-26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F155C71-FA91-43D3-82C5-0E3155B59D11}"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8264B2-330E-4794-A78E-185438AAB38A}" type="datetime1">
              <a:rPr lang="en-US" smtClean="0"/>
              <a:t>19-May-26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4151176-0F27-4BA3-B6F0-F479C7EBC6DD}"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904CF1D-AEE3-40DD-B035-C7A7DE1CAC30}" type="datetime1">
              <a:rPr lang="en-US" smtClean="0"/>
              <a:t>19-May-26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898AD87-AA51-4402-A791-38EC1485A591}" type="datetime1">
              <a:rPr lang="en-US" smtClean="0"/>
              <a:t>19-May-26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hyperlink" Target="mailto:Karthik@Peritumpartners.com" TargetMode="External"/><Relationship Id="rId6" Type="http://schemas.openxmlformats.org/officeDocument/2006/relationships/image" Target="../media/image7.jpg"/><Relationship Id="rId7"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2" name="TextBox 2"/>
          <p:cNvSpPr txBox="1"/>
          <p:nvPr/>
        </p:nvSpPr>
        <p:spPr>
          <a:xfrm>
            <a:off x="273050" y="1452803"/>
            <a:ext cx="7054625" cy="1361078"/>
          </a:xfrm>
          <a:prstGeom prst="rect">
            <a:avLst/>
          </a:prstGeom>
        </p:spPr>
        <p:txBody>
          <a:bodyPr wrap="square" lIns="0" tIns="0" rIns="0" bIns="0" rtlCol="0" anchor="t">
            <a:spAutoFit/>
          </a:bodyPr>
          <a:lstStyle/>
          <a:p>
            <a:pPr algn="ctr">
              <a:lnSpc>
                <a:spcPts val="5523"/>
              </a:lnSpc>
            </a:pPr>
            <a:r>
              <a:rPr lang="en-US" sz="4000" b="1" spc="933" dirty="0">
                <a:solidFill>
                  <a:srgbClr val="000000"/>
                </a:solidFill>
                <a:latin typeface="Montserrat Bold"/>
                <a:ea typeface="Montserrat Bold"/>
                <a:cs typeface="Montserrat Bold"/>
                <a:sym typeface="Montserrat Bold"/>
              </a:rPr>
              <a:t>____</a:t>
            </a:r>
          </a:p>
          <a:p>
            <a:pPr algn="ctr">
              <a:lnSpc>
                <a:spcPts val="5523"/>
              </a:lnSpc>
            </a:pPr>
            <a:r>
              <a:rPr lang="en-US" sz="4000" b="1" spc="933" dirty="0">
                <a:solidFill>
                  <a:srgbClr val="000000"/>
                </a:solidFill>
                <a:latin typeface="Montserrat Bold"/>
                <a:ea typeface="Montserrat Bold"/>
                <a:cs typeface="Montserrat Bold"/>
                <a:sym typeface="Montserrat Bold"/>
              </a:rPr>
              <a:t>2026-INSIGHTS</a:t>
            </a:r>
          </a:p>
        </p:txBody>
      </p:sp>
      <p:sp>
        <p:nvSpPr>
          <p:cNvPr id="3" name="Freeform 3"/>
          <p:cNvSpPr/>
          <p:nvPr/>
        </p:nvSpPr>
        <p:spPr>
          <a:xfrm>
            <a:off x="0" y="2623822"/>
            <a:ext cx="7569820" cy="8068178"/>
          </a:xfrm>
          <a:custGeom>
            <a:avLst/>
            <a:gdLst/>
            <a:ahLst/>
            <a:cxnLst/>
            <a:rect l="l" t="t" r="r" b="b"/>
            <a:pathLst>
              <a:path w="7569820" h="8068178">
                <a:moveTo>
                  <a:pt x="0" y="0"/>
                </a:moveTo>
                <a:lnTo>
                  <a:pt x="7569820" y="0"/>
                </a:lnTo>
                <a:lnTo>
                  <a:pt x="7569820" y="8068178"/>
                </a:lnTo>
                <a:lnTo>
                  <a:pt x="0" y="8068178"/>
                </a:lnTo>
                <a:lnTo>
                  <a:pt x="0" y="0"/>
                </a:lnTo>
                <a:close/>
              </a:path>
            </a:pathLst>
          </a:custGeom>
          <a:blipFill>
            <a:blip r:embed="rId2"/>
            <a:stretch>
              <a:fillRect l="-92267" t="-64" r="-25217" b="-14713"/>
            </a:stretch>
          </a:blipFill>
        </p:spPr>
        <p:txBody>
          <a:bodyPr/>
          <a:lstStyle/>
          <a:p>
            <a:endParaRPr lang="en-US"/>
          </a:p>
        </p:txBody>
      </p:sp>
      <p:grpSp>
        <p:nvGrpSpPr>
          <p:cNvPr id="4" name="Group 4"/>
          <p:cNvGrpSpPr/>
          <p:nvPr/>
        </p:nvGrpSpPr>
        <p:grpSpPr>
          <a:xfrm>
            <a:off x="0" y="8757906"/>
            <a:ext cx="7569820" cy="2356188"/>
            <a:chOff x="0" y="0"/>
            <a:chExt cx="2712853" cy="844405"/>
          </a:xfrm>
          <a:solidFill>
            <a:srgbClr val="00B0F0"/>
          </a:solidFill>
        </p:grpSpPr>
        <p:sp>
          <p:nvSpPr>
            <p:cNvPr id="5" name="Freeform 5"/>
            <p:cNvSpPr/>
            <p:nvPr/>
          </p:nvSpPr>
          <p:spPr>
            <a:xfrm>
              <a:off x="0" y="0"/>
              <a:ext cx="2712853" cy="844405"/>
            </a:xfrm>
            <a:custGeom>
              <a:avLst/>
              <a:gdLst/>
              <a:ahLst/>
              <a:cxnLst/>
              <a:rect l="l" t="t" r="r" b="b"/>
              <a:pathLst>
                <a:path w="2712853" h="844405">
                  <a:moveTo>
                    <a:pt x="0" y="0"/>
                  </a:moveTo>
                  <a:lnTo>
                    <a:pt x="2712853" y="0"/>
                  </a:lnTo>
                  <a:lnTo>
                    <a:pt x="2712853" y="844405"/>
                  </a:lnTo>
                  <a:lnTo>
                    <a:pt x="0" y="844405"/>
                  </a:lnTo>
                  <a:close/>
                </a:path>
              </a:pathLst>
            </a:custGeom>
            <a:grpFill/>
          </p:spPr>
          <p:txBody>
            <a:bodyPr/>
            <a:lstStyle/>
            <a:p>
              <a:endParaRPr lang="en-US" dirty="0"/>
            </a:p>
          </p:txBody>
        </p:sp>
        <p:sp>
          <p:nvSpPr>
            <p:cNvPr id="6" name="TextBox 6"/>
            <p:cNvSpPr txBox="1"/>
            <p:nvPr/>
          </p:nvSpPr>
          <p:spPr>
            <a:xfrm>
              <a:off x="0" y="-28575"/>
              <a:ext cx="2712853" cy="872980"/>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7" name="Group 7"/>
          <p:cNvGrpSpPr/>
          <p:nvPr/>
        </p:nvGrpSpPr>
        <p:grpSpPr>
          <a:xfrm>
            <a:off x="0" y="8875518"/>
            <a:ext cx="7569820" cy="1874539"/>
            <a:chOff x="0" y="0"/>
            <a:chExt cx="2712853" cy="671793"/>
          </a:xfrm>
          <a:solidFill>
            <a:schemeClr val="tx2"/>
          </a:solidFill>
        </p:grpSpPr>
        <p:sp>
          <p:nvSpPr>
            <p:cNvPr id="8" name="Freeform 8"/>
            <p:cNvSpPr/>
            <p:nvPr/>
          </p:nvSpPr>
          <p:spPr>
            <a:xfrm>
              <a:off x="0" y="0"/>
              <a:ext cx="2712853" cy="671793"/>
            </a:xfrm>
            <a:custGeom>
              <a:avLst/>
              <a:gdLst/>
              <a:ahLst/>
              <a:cxnLst/>
              <a:rect l="l" t="t" r="r" b="b"/>
              <a:pathLst>
                <a:path w="2712853" h="671793">
                  <a:moveTo>
                    <a:pt x="0" y="0"/>
                  </a:moveTo>
                  <a:lnTo>
                    <a:pt x="2712853" y="0"/>
                  </a:lnTo>
                  <a:lnTo>
                    <a:pt x="2712853" y="671793"/>
                  </a:lnTo>
                  <a:lnTo>
                    <a:pt x="0" y="671793"/>
                  </a:lnTo>
                  <a:close/>
                </a:path>
              </a:pathLst>
            </a:custGeom>
            <a:grpFill/>
          </p:spPr>
          <p:txBody>
            <a:bodyPr lIns="50800" tIns="50800" rIns="50800" bIns="50800" rtlCol="0" anchor="ctr"/>
            <a:lstStyle/>
            <a:p>
              <a:pPr algn="ctr">
                <a:lnSpc>
                  <a:spcPts val="1960"/>
                </a:lnSpc>
                <a:spcBef>
                  <a:spcPct val="0"/>
                </a:spcBef>
              </a:pPr>
              <a:endParaRPr lang="en-US"/>
            </a:p>
          </p:txBody>
        </p:sp>
        <p:sp>
          <p:nvSpPr>
            <p:cNvPr id="9" name="TextBox 9"/>
            <p:cNvSpPr txBox="1"/>
            <p:nvPr/>
          </p:nvSpPr>
          <p:spPr>
            <a:xfrm>
              <a:off x="0" y="-28575"/>
              <a:ext cx="2712853" cy="700368"/>
            </a:xfrm>
            <a:prstGeom prst="rect">
              <a:avLst/>
            </a:prstGeom>
            <a:grpFill/>
          </p:spPr>
          <p:txBody>
            <a:bodyPr lIns="50800" tIns="50800" rIns="50800" bIns="50800" rtlCol="0" anchor="ctr"/>
            <a:lstStyle>
              <a:defPPr>
                <a:defRPr lang="en-US"/>
              </a:defPPr>
              <a:lvl1pPr algn="ctr">
                <a:lnSpc>
                  <a:spcPts val="1960"/>
                </a:lnSpc>
                <a:spcBef>
                  <a:spcPct val="0"/>
                </a:spcBef>
              </a:lvl1pPr>
            </a:lstStyle>
            <a:p>
              <a:endParaRPr/>
            </a:p>
          </p:txBody>
        </p:sp>
      </p:grpSp>
      <p:sp>
        <p:nvSpPr>
          <p:cNvPr id="13" name="TextBox 13"/>
          <p:cNvSpPr txBox="1"/>
          <p:nvPr/>
        </p:nvSpPr>
        <p:spPr>
          <a:xfrm>
            <a:off x="4692650" y="902270"/>
            <a:ext cx="3400750" cy="217560"/>
          </a:xfrm>
          <a:prstGeom prst="rect">
            <a:avLst/>
          </a:prstGeom>
        </p:spPr>
        <p:txBody>
          <a:bodyPr wrap="square" lIns="0" tIns="0" rIns="0" bIns="0" rtlCol="0" anchor="t">
            <a:spAutoFit/>
          </a:bodyPr>
          <a:lstStyle/>
          <a:p>
            <a:pPr algn="l">
              <a:lnSpc>
                <a:spcPts val="1933"/>
              </a:lnSpc>
            </a:pPr>
            <a:r>
              <a:rPr lang="en-US" sz="1400" dirty="0">
                <a:ln w="0"/>
                <a:latin typeface="Montserrat Classic"/>
                <a:ea typeface="Montserrat Classic"/>
                <a:cs typeface="Montserrat Classic"/>
                <a:sym typeface="Montserrat Classic"/>
              </a:rPr>
              <a:t>Issue</a:t>
            </a:r>
            <a:r>
              <a:rPr lang="en-US" sz="1400" dirty="0">
                <a:ln w="0"/>
                <a:effectLst>
                  <a:outerShdw blurRad="38100" dist="19050" dir="2700000" algn="tl" rotWithShape="0">
                    <a:schemeClr val="dk1">
                      <a:alpha val="40000"/>
                    </a:schemeClr>
                  </a:outerShdw>
                </a:effectLst>
                <a:latin typeface="Montserrat Classic"/>
                <a:ea typeface="Montserrat Classic"/>
                <a:cs typeface="Montserrat Classic"/>
                <a:sym typeface="Montserrat Classic"/>
              </a:rPr>
              <a:t> ____ | _____ 2026</a:t>
            </a:r>
          </a:p>
        </p:txBody>
      </p:sp>
      <p:grpSp>
        <p:nvGrpSpPr>
          <p:cNvPr id="15" name="Group 15"/>
          <p:cNvGrpSpPr/>
          <p:nvPr/>
        </p:nvGrpSpPr>
        <p:grpSpPr>
          <a:xfrm>
            <a:off x="-3500" y="-1332120"/>
            <a:ext cx="7560000" cy="1874539"/>
            <a:chOff x="0" y="0"/>
            <a:chExt cx="2709333" cy="671793"/>
          </a:xfrm>
          <a:solidFill>
            <a:schemeClr val="tx2"/>
          </a:solidFill>
        </p:grpSpPr>
        <p:sp>
          <p:nvSpPr>
            <p:cNvPr id="16" name="Freeform 16"/>
            <p:cNvSpPr/>
            <p:nvPr/>
          </p:nvSpPr>
          <p:spPr>
            <a:xfrm>
              <a:off x="0" y="0"/>
              <a:ext cx="2709333" cy="671793"/>
            </a:xfrm>
            <a:custGeom>
              <a:avLst/>
              <a:gdLst/>
              <a:ahLst/>
              <a:cxnLst/>
              <a:rect l="l" t="t" r="r" b="b"/>
              <a:pathLst>
                <a:path w="2709333" h="671793">
                  <a:moveTo>
                    <a:pt x="0" y="0"/>
                  </a:moveTo>
                  <a:lnTo>
                    <a:pt x="2709333" y="0"/>
                  </a:lnTo>
                  <a:lnTo>
                    <a:pt x="2709333" y="671793"/>
                  </a:lnTo>
                  <a:lnTo>
                    <a:pt x="0" y="671793"/>
                  </a:lnTo>
                  <a:close/>
                </a:path>
              </a:pathLst>
            </a:custGeom>
            <a:grpFill/>
          </p:spPr>
          <p:txBody>
            <a:bodyPr/>
            <a:lstStyle/>
            <a:p>
              <a:endParaRPr lang="en-US" dirty="0"/>
            </a:p>
          </p:txBody>
        </p:sp>
        <p:sp>
          <p:nvSpPr>
            <p:cNvPr id="17" name="TextBox 17"/>
            <p:cNvSpPr txBox="1"/>
            <p:nvPr/>
          </p:nvSpPr>
          <p:spPr>
            <a:xfrm>
              <a:off x="0" y="-28575"/>
              <a:ext cx="2709333" cy="700368"/>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8" name="Group 18"/>
          <p:cNvGrpSpPr/>
          <p:nvPr/>
        </p:nvGrpSpPr>
        <p:grpSpPr>
          <a:xfrm>
            <a:off x="-13539" y="36934"/>
            <a:ext cx="7569820" cy="599044"/>
            <a:chOff x="0" y="0"/>
            <a:chExt cx="2712853" cy="148399"/>
          </a:xfrm>
          <a:solidFill>
            <a:srgbClr val="00B0F0"/>
          </a:solidFill>
        </p:grpSpPr>
        <p:sp>
          <p:nvSpPr>
            <p:cNvPr id="19" name="Freeform 19"/>
            <p:cNvSpPr/>
            <p:nvPr/>
          </p:nvSpPr>
          <p:spPr>
            <a:xfrm>
              <a:off x="0" y="0"/>
              <a:ext cx="2712853" cy="148399"/>
            </a:xfrm>
            <a:custGeom>
              <a:avLst/>
              <a:gdLst/>
              <a:ahLst/>
              <a:cxnLst/>
              <a:rect l="l" t="t" r="r" b="b"/>
              <a:pathLst>
                <a:path w="2712853" h="148399">
                  <a:moveTo>
                    <a:pt x="0" y="0"/>
                  </a:moveTo>
                  <a:lnTo>
                    <a:pt x="2712853" y="0"/>
                  </a:lnTo>
                  <a:lnTo>
                    <a:pt x="2712853" y="148399"/>
                  </a:lnTo>
                  <a:lnTo>
                    <a:pt x="0" y="148399"/>
                  </a:lnTo>
                  <a:close/>
                </a:path>
              </a:pathLst>
            </a:custGeom>
            <a:grpFill/>
          </p:spPr>
          <p:txBody>
            <a:bodyPr/>
            <a:lstStyle/>
            <a:p>
              <a:endParaRPr lang="en-US" sz="4000"/>
            </a:p>
          </p:txBody>
        </p:sp>
        <p:sp>
          <p:nvSpPr>
            <p:cNvPr id="20" name="TextBox 20"/>
            <p:cNvSpPr txBox="1"/>
            <p:nvPr/>
          </p:nvSpPr>
          <p:spPr>
            <a:xfrm>
              <a:off x="0" y="-28575"/>
              <a:ext cx="2712853" cy="176974"/>
            </a:xfrm>
            <a:prstGeom prst="rect">
              <a:avLst/>
            </a:prstGeom>
            <a:grpFill/>
          </p:spPr>
          <p:txBody>
            <a:bodyPr lIns="50800" tIns="50800" rIns="50800" bIns="50800" rtlCol="0" anchor="ctr"/>
            <a:lstStyle/>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endParaRPr lang="en-US" sz="4000" b="1" dirty="0">
                <a:solidFill>
                  <a:srgbClr val="000000"/>
                </a:solidFill>
                <a:latin typeface="Montserrat Classic Bold"/>
                <a:ea typeface="Montserrat Classic Bold"/>
                <a:cs typeface="Montserrat Classic Bold"/>
                <a:sym typeface="Montserrat Classic Bold"/>
              </a:endParaRPr>
            </a:p>
            <a:p>
              <a:pPr algn="ctr">
                <a:lnSpc>
                  <a:spcPts val="1960"/>
                </a:lnSpc>
                <a:spcBef>
                  <a:spcPct val="0"/>
                </a:spcBef>
              </a:pPr>
              <a:r>
                <a:rPr lang="en-US" sz="4000" b="1" dirty="0">
                  <a:solidFill>
                    <a:srgbClr val="000000"/>
                  </a:solidFill>
                  <a:latin typeface="Montserrat Classic Bold"/>
                  <a:ea typeface="Montserrat Classic Bold"/>
                  <a:cs typeface="Montserrat Classic Bold"/>
                  <a:sym typeface="Montserrat Classic Bold"/>
                </a:rPr>
                <a:t>PRAVARTIYA</a:t>
              </a:r>
            </a:p>
            <a:p>
              <a:pPr algn="ctr">
                <a:lnSpc>
                  <a:spcPts val="1960"/>
                </a:lnSpc>
                <a:spcBef>
                  <a:spcPct val="0"/>
                </a:spcBef>
              </a:pPr>
              <a:endParaRPr sz="4000" dirty="0"/>
            </a:p>
          </p:txBody>
        </p:sp>
      </p:grpSp>
      <p:grpSp>
        <p:nvGrpSpPr>
          <p:cNvPr id="21" name="Group 21"/>
          <p:cNvGrpSpPr/>
          <p:nvPr/>
        </p:nvGrpSpPr>
        <p:grpSpPr>
          <a:xfrm>
            <a:off x="-44006" y="7502328"/>
            <a:ext cx="7569820" cy="1082285"/>
            <a:chOff x="0" y="0"/>
            <a:chExt cx="2712853" cy="387866"/>
          </a:xfrm>
        </p:grpSpPr>
        <p:sp>
          <p:nvSpPr>
            <p:cNvPr id="22" name="Freeform 22"/>
            <p:cNvSpPr/>
            <p:nvPr/>
          </p:nvSpPr>
          <p:spPr>
            <a:xfrm>
              <a:off x="0" y="0"/>
              <a:ext cx="2712853" cy="387866"/>
            </a:xfrm>
            <a:custGeom>
              <a:avLst/>
              <a:gdLst/>
              <a:ahLst/>
              <a:cxnLst/>
              <a:rect l="l" t="t" r="r" b="b"/>
              <a:pathLst>
                <a:path w="2712853" h="387866">
                  <a:moveTo>
                    <a:pt x="0" y="0"/>
                  </a:moveTo>
                  <a:lnTo>
                    <a:pt x="2712853" y="0"/>
                  </a:lnTo>
                  <a:lnTo>
                    <a:pt x="2712853" y="387866"/>
                  </a:lnTo>
                  <a:lnTo>
                    <a:pt x="0" y="387866"/>
                  </a:lnTo>
                  <a:close/>
                </a:path>
              </a:pathLst>
            </a:custGeom>
            <a:solidFill>
              <a:srgbClr val="02062C">
                <a:alpha val="61961"/>
              </a:srgbClr>
            </a:solidFill>
          </p:spPr>
          <p:txBody>
            <a:bodyPr/>
            <a:lstStyle/>
            <a:p>
              <a:endParaRPr lang="en-US"/>
            </a:p>
          </p:txBody>
        </p:sp>
        <p:sp>
          <p:nvSpPr>
            <p:cNvPr id="23" name="TextBox 23"/>
            <p:cNvSpPr txBox="1"/>
            <p:nvPr/>
          </p:nvSpPr>
          <p:spPr>
            <a:xfrm>
              <a:off x="0" y="-28575"/>
              <a:ext cx="2712853" cy="416441"/>
            </a:xfrm>
            <a:prstGeom prst="rect">
              <a:avLst/>
            </a:prstGeom>
          </p:spPr>
          <p:txBody>
            <a:bodyPr lIns="50800" tIns="50800" rIns="50800" bIns="50800" rtlCol="0" anchor="ctr"/>
            <a:lstStyle/>
            <a:p>
              <a:pPr algn="ctr">
                <a:lnSpc>
                  <a:spcPts val="1960"/>
                </a:lnSpc>
                <a:spcBef>
                  <a:spcPct val="0"/>
                </a:spcBef>
              </a:pPr>
              <a:endParaRPr/>
            </a:p>
          </p:txBody>
        </p:sp>
      </p:grpSp>
      <p:sp>
        <p:nvSpPr>
          <p:cNvPr id="24" name="TextBox 24"/>
          <p:cNvSpPr txBox="1"/>
          <p:nvPr/>
        </p:nvSpPr>
        <p:spPr>
          <a:xfrm>
            <a:off x="501650" y="7691797"/>
            <a:ext cx="6306891" cy="586379"/>
          </a:xfrm>
          <a:prstGeom prst="rect">
            <a:avLst/>
          </a:prstGeom>
        </p:spPr>
        <p:txBody>
          <a:bodyPr lIns="0" tIns="0" rIns="0" bIns="0" rtlCol="0" anchor="t">
            <a:spAutoFit/>
          </a:bodyPr>
          <a:lstStyle/>
          <a:p>
            <a:pPr algn="ctr">
              <a:lnSpc>
                <a:spcPts val="2362"/>
              </a:lnSpc>
            </a:pPr>
            <a:r>
              <a:rPr lang="en-US" sz="1920" spc="5" dirty="0">
                <a:solidFill>
                  <a:srgbClr val="FFFFFF"/>
                </a:solidFill>
                <a:latin typeface="Montserrat Classic"/>
                <a:ea typeface="Montserrat Classic"/>
                <a:cs typeface="Montserrat Classic"/>
                <a:sym typeface="Montserrat Classic"/>
              </a:rPr>
              <a:t>A Monthly newsletter from Akshayam  focusing on Listed Companies</a:t>
            </a:r>
          </a:p>
        </p:txBody>
      </p:sp>
      <p:sp>
        <p:nvSpPr>
          <p:cNvPr id="25" name="TextBox 25"/>
          <p:cNvSpPr txBox="1"/>
          <p:nvPr/>
        </p:nvSpPr>
        <p:spPr>
          <a:xfrm>
            <a:off x="2635250" y="9146316"/>
            <a:ext cx="4890564" cy="1604029"/>
          </a:xfrm>
          <a:prstGeom prst="rect">
            <a:avLst/>
          </a:prstGeom>
        </p:spPr>
        <p:txBody>
          <a:bodyPr wrap="square" lIns="0" tIns="0" rIns="0" bIns="0" rtlCol="0" anchor="t">
            <a:spAutoFit/>
          </a:bodyPr>
          <a:lstStyle/>
          <a:p>
            <a:pPr algn="just">
              <a:lnSpc>
                <a:spcPts val="1400"/>
              </a:lnSpc>
              <a:spcBef>
                <a:spcPct val="0"/>
              </a:spcBef>
            </a:pPr>
            <a:r>
              <a:rPr lang="en-US" sz="1000" b="1" i="1" dirty="0" err="1">
                <a:solidFill>
                  <a:srgbClr val="FFFFFF"/>
                </a:solidFill>
                <a:latin typeface="Canva Sans Bold Italics"/>
                <a:ea typeface="Canva Sans Bold Italics"/>
                <a:cs typeface="Canva Sans Bold Italics"/>
                <a:sym typeface="Canva Sans Bold Italics"/>
              </a:rPr>
              <a:t>Pravartiya</a:t>
            </a:r>
            <a:r>
              <a:rPr lang="en-US" sz="1000" b="1" i="1" dirty="0">
                <a:solidFill>
                  <a:srgbClr val="FFFFFF"/>
                </a:solidFill>
                <a:latin typeface="Canva Sans Bold Italics"/>
                <a:ea typeface="Canva Sans Bold Italics"/>
                <a:cs typeface="Canva Sans Bold Italics"/>
                <a:sym typeface="Canva Sans Bold Italics"/>
              </a:rPr>
              <a:t> is derived from Sanskrit term  "</a:t>
            </a:r>
            <a:r>
              <a:rPr lang="en-US" sz="1000" b="1" i="1" dirty="0" err="1">
                <a:solidFill>
                  <a:srgbClr val="FFFFFF"/>
                </a:solidFill>
                <a:latin typeface="Canva Sans Bold Italics"/>
                <a:ea typeface="Canva Sans Bold Italics"/>
                <a:cs typeface="Canva Sans Bold Italics"/>
                <a:sym typeface="Canva Sans Bold Italics"/>
              </a:rPr>
              <a:t>Pravritti</a:t>
            </a:r>
            <a:r>
              <a:rPr lang="en-US" sz="1000" b="1" i="1" dirty="0">
                <a:solidFill>
                  <a:srgbClr val="FFFFFF"/>
                </a:solidFill>
                <a:latin typeface="Canva Sans Bold Italics"/>
                <a:ea typeface="Canva Sans Bold Italics"/>
                <a:cs typeface="Canva Sans Bold Italics"/>
                <a:sym typeface="Canva Sans Bold Italics"/>
              </a:rPr>
              <a:t>" (activity or commencement), symbolizing the dissemination of crucial updates particularly in the domain of compliance and regulatory matters. The term suggests not only the initiation of action but also the ongoing flow of information and engagement with the necessary changes or updates.</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a:p>
            <a:pPr algn="just">
              <a:lnSpc>
                <a:spcPts val="1400"/>
              </a:lnSpc>
              <a:spcBef>
                <a:spcPct val="0"/>
              </a:spcBef>
            </a:pPr>
            <a:r>
              <a:rPr lang="en-US" sz="1000" b="1" i="1" dirty="0">
                <a:solidFill>
                  <a:srgbClr val="FFFFFF"/>
                </a:solidFill>
                <a:latin typeface="Canva Sans Bold Italics"/>
                <a:ea typeface="Canva Sans Bold Italics"/>
                <a:cs typeface="Canva Sans Bold Italics"/>
                <a:sym typeface="Canva Sans Bold Italics"/>
              </a:rPr>
              <a:t>In this spirit, Akshayam presents this newsletter to aid listed entities with timely, actionable insights for navigating compliance with clarity. </a:t>
            </a:r>
          </a:p>
          <a:p>
            <a:pPr algn="just">
              <a:lnSpc>
                <a:spcPts val="1400"/>
              </a:lnSpc>
              <a:spcBef>
                <a:spcPct val="0"/>
              </a:spcBef>
            </a:pPr>
            <a:endParaRPr lang="en-US" sz="1000" b="1" i="1" dirty="0">
              <a:solidFill>
                <a:srgbClr val="FFFFFF"/>
              </a:solidFill>
              <a:latin typeface="Canva Sans Bold Italics"/>
              <a:ea typeface="Canva Sans Bold Italics"/>
              <a:cs typeface="Canva Sans Bold Italics"/>
              <a:sym typeface="Canva Sans Bold Italics"/>
            </a:endParaRPr>
          </a:p>
        </p:txBody>
      </p:sp>
      <p:pic>
        <p:nvPicPr>
          <p:cNvPr id="11" name="Picture 10">
            <a:extLst>
              <a:ext uri="{FF2B5EF4-FFF2-40B4-BE49-F238E27FC236}">
                <a16:creationId xmlns:a16="http://schemas.microsoft.com/office/drawing/2014/main" id="{AA59AB90-DA7C-A834-2A22-09AFA21701F8}"/>
              </a:ext>
            </a:extLst>
          </p:cNvPr>
          <p:cNvPicPr>
            <a:picLocks noChangeAspect="1"/>
          </p:cNvPicPr>
          <p:nvPr/>
        </p:nvPicPr>
        <p:blipFill>
          <a:blip r:embed="rId3"/>
          <a:stretch>
            <a:fillRect/>
          </a:stretch>
        </p:blipFill>
        <p:spPr>
          <a:xfrm>
            <a:off x="273050" y="9130990"/>
            <a:ext cx="2057400" cy="1441467"/>
          </a:xfrm>
          <a:prstGeom prst="rect">
            <a:avLst/>
          </a:prstGeom>
        </p:spPr>
      </p:pic>
      <p:sp>
        <p:nvSpPr>
          <p:cNvPr id="10" name="Slide Number Placeholder 9">
            <a:extLst>
              <a:ext uri="{FF2B5EF4-FFF2-40B4-BE49-F238E27FC236}">
                <a16:creationId xmlns:a16="http://schemas.microsoft.com/office/drawing/2014/main" id="{13E56074-7C45-D2EC-2319-7B980B3CCECE}"/>
              </a:ext>
            </a:extLst>
          </p:cNvPr>
          <p:cNvSpPr>
            <a:spLocks noGrp="1"/>
          </p:cNvSpPr>
          <p:nvPr>
            <p:ph type="sldNum" sz="quarter" idx="12"/>
          </p:nvPr>
        </p:nvSpPr>
        <p:spPr/>
        <p:txBody>
          <a:bodyPr/>
          <a:lstStyle/>
          <a:p>
            <a:fld id="{B6F15528-21DE-4FAA-801E-634DDDAF4B2B}" type="slidenum">
              <a:rPr lang="en-US" smtClean="0"/>
              <a:pPr/>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2 of 11</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E65D1568-0A2F-4CE9-74DF-DCE53D681004}"/>
              </a:ext>
            </a:extLst>
          </p:cNvPr>
          <p:cNvSpPr txBox="1"/>
          <p:nvPr/>
        </p:nvSpPr>
        <p:spPr>
          <a:xfrm>
            <a:off x="109949" y="1725927"/>
            <a:ext cx="7349922" cy="3583289"/>
          </a:xfrm>
          <a:prstGeom prst="rect">
            <a:avLst/>
          </a:prstGeom>
          <a:noFill/>
        </p:spPr>
        <p:txBody>
          <a:bodyPr wrap="square">
            <a:spAutoFit/>
          </a:bodyPr>
          <a:lstStyle/>
          <a:p>
            <a:pPr marL="0" marR="0" algn="just">
              <a:lnSpc>
                <a:spcPct val="150000"/>
              </a:lnSpc>
              <a:spcAft>
                <a:spcPts val="800"/>
              </a:spcAft>
              <a:buNone/>
            </a:pPr>
            <a:r>
              <a:rPr lang="en-US" sz="1600" kern="100" dirty="0">
                <a:solidFill>
                  <a:srgbClr val="002060"/>
                </a:solidFill>
                <a:effectLst/>
                <a:ea typeface="Aptos" panose="020B0004020202020204" pitchFamily="34" charset="0"/>
                <a:cs typeface="Times New Roman" panose="02020603050405020304" pitchFamily="18" charset="0"/>
              </a:rPr>
              <a:t>This edition captures key updates from SEBI issued durin</a:t>
            </a:r>
            <a:r>
              <a:rPr lang="en-US" sz="1600" kern="100" dirty="0">
                <a:solidFill>
                  <a:srgbClr val="002060"/>
                </a:solidFill>
                <a:ea typeface="Aptos" panose="020B0004020202020204" pitchFamily="34" charset="0"/>
                <a:cs typeface="Times New Roman" panose="02020603050405020304" pitchFamily="18" charset="0"/>
              </a:rPr>
              <a:t>g ______</a:t>
            </a:r>
            <a:r>
              <a:rPr lang="en-US" sz="1600" kern="100" dirty="0">
                <a:solidFill>
                  <a:srgbClr val="002060"/>
                </a:solidFill>
                <a:effectLst/>
                <a:ea typeface="Aptos" panose="020B0004020202020204" pitchFamily="34" charset="0"/>
                <a:cs typeface="Times New Roman" panose="02020603050405020304" pitchFamily="18" charset="0"/>
              </a:rPr>
              <a:t>, grouped by relevance to ensure actionable insights. </a:t>
            </a:r>
            <a:r>
              <a:rPr lang="en-IN" sz="1600" kern="100" dirty="0">
                <a:solidFill>
                  <a:srgbClr val="002060"/>
                </a:solidFill>
                <a:effectLst/>
                <a:ea typeface="Aptos" panose="020B0004020202020204" pitchFamily="34" charset="0"/>
                <a:cs typeface="Times New Roman" panose="02020603050405020304" pitchFamily="18" charset="0"/>
              </a:rPr>
              <a:t>Our aim is to support your governance journey and reinforce transparency across your operations.</a:t>
            </a:r>
            <a:endParaRPr lang="en-US" sz="1600" kern="100" dirty="0">
              <a:solidFill>
                <a:srgbClr val="002060"/>
              </a:solidFill>
              <a:effectLst/>
              <a:ea typeface="Aptos" panose="020B0004020202020204" pitchFamily="34" charset="0"/>
              <a:cs typeface="Times New Roman" panose="02020603050405020304" pitchFamily="18" charset="0"/>
            </a:endParaRPr>
          </a:p>
          <a:p>
            <a:pPr marL="0" marR="0" algn="just">
              <a:lnSpc>
                <a:spcPct val="150000"/>
              </a:lnSpc>
              <a:spcAft>
                <a:spcPts val="800"/>
              </a:spcAft>
            </a:pPr>
            <a:r>
              <a:rPr lang="en-IN" sz="1600" kern="100" dirty="0">
                <a:solidFill>
                  <a:srgbClr val="002060"/>
                </a:solidFill>
                <a:effectLst/>
                <a:ea typeface="Aptos" panose="020B0004020202020204" pitchFamily="34" charset="0"/>
                <a:cs typeface="Times New Roman" panose="02020603050405020304" pitchFamily="18" charset="0"/>
              </a:rPr>
              <a:t>Let divine blessings illuminate our path as we foster integrity, accountability, and principled action in every endeavour</a:t>
            </a:r>
          </a:p>
          <a:p>
            <a:pPr>
              <a:lnSpc>
                <a:spcPct val="150000"/>
              </a:lnSpc>
            </a:pPr>
            <a:r>
              <a:rPr lang="en-IN" sz="1600" b="1" u="sng" dirty="0">
                <a:solidFill>
                  <a:srgbClr val="002060"/>
                </a:solidFill>
              </a:rPr>
              <a:t>FOR LISTED ENTITIES</a:t>
            </a:r>
            <a:r>
              <a:rPr lang="en-IN" sz="1600" dirty="0">
                <a:solidFill>
                  <a:srgbClr val="002060"/>
                </a:solidFill>
              </a:rPr>
              <a:t> </a:t>
            </a:r>
          </a:p>
          <a:p>
            <a:pPr>
              <a:lnSpc>
                <a:spcPct val="150000"/>
              </a:lnSpc>
            </a:pPr>
            <a:endParaRPr lang="en-IN" sz="1600" dirty="0">
              <a:solidFill>
                <a:srgbClr val="002060"/>
              </a:solidFill>
            </a:endParaRPr>
          </a:p>
          <a:p>
            <a:pPr>
              <a:lnSpc>
                <a:spcPct val="150000"/>
              </a:lnSpc>
            </a:pPr>
            <a:r>
              <a:rPr lang="en-IN" sz="1600" dirty="0">
                <a:solidFill>
                  <a:srgbClr val="002060"/>
                </a:solidFill>
              </a:rPr>
              <a:t>  </a:t>
            </a:r>
            <a:endParaRPr lang="en-US" sz="1600" kern="100" dirty="0">
              <a:solidFill>
                <a:srgbClr val="002060"/>
              </a:solidFill>
              <a:cs typeface="Times New Roman" panose="02020603050405020304" pitchFamily="18" charset="0"/>
            </a:endParaRPr>
          </a:p>
          <a:p>
            <a:pPr algn="just">
              <a:lnSpc>
                <a:spcPct val="150000"/>
              </a:lnSpc>
            </a:pPr>
            <a:endParaRPr lang="en-US" sz="1600" b="1" u="sng"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5B2CAF88-C710-FBDB-FCE0-EB1A648302E7}"/>
              </a:ext>
            </a:extLst>
          </p:cNvPr>
          <p:cNvSpPr txBox="1"/>
          <p:nvPr/>
        </p:nvSpPr>
        <p:spPr>
          <a:xfrm>
            <a:off x="230982" y="2700827"/>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882E317A-E6C8-1577-3225-8FB2BDDB6093}"/>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B04C6D90-66FE-6977-FA89-0863A744C7CE}"/>
              </a:ext>
            </a:extLst>
          </p:cNvPr>
          <p:cNvSpPr>
            <a:spLocks noGrp="1"/>
          </p:cNvSpPr>
          <p:nvPr>
            <p:ph type="sldNum" sz="quarter" idx="12"/>
          </p:nvPr>
        </p:nvSpPr>
        <p:spPr/>
        <p:txBody>
          <a:bodyPr/>
          <a:lstStyle/>
          <a:p>
            <a:fld id="{B6F15528-21DE-4FAA-801E-634DDDAF4B2B}" type="slidenum">
              <a:rPr lang="en-US" smtClean="0"/>
              <a:pPr/>
              <a:t>2</a:t>
            </a:fld>
            <a:endParaRPr lang="en-US" dirty="0"/>
          </a:p>
        </p:txBody>
      </p:sp>
      <p:sp>
        <p:nvSpPr>
          <p:cNvPr id="34" name="TextBox 33"/>
          <p:cNvSpPr txBox="1"/>
          <p:nvPr/>
        </p:nvSpPr>
        <p:spPr>
          <a:xfrm>
            <a:off x="457200" y="4114800"/>
            <a:ext cx="6858000" cy="4572000"/>
          </a:xfrm>
          <a:prstGeom prst="rect">
            <a:avLst/>
          </a:prstGeom>
          <a:noFill/>
        </p:spPr>
        <p:txBody>
          <a:bodyPr wrap="square">
            <a:spAutoFit/>
          </a:bodyPr>
          <a:lstStyle/>
          <a:p>
            <a:br/>
            <a:pPr>
              <a:defRPr b="1" u="sng" sz="1200"/>
            </a:pPr>
            <a:r>
              <a:t>CIRCULAR-BSE:</a:t>
            </a:r>
          </a:p>
          <a:p>
            <a:pPr>
              <a:defRPr sz="1200"/>
            </a:pPr>
            <a:r>
              <a:t>➢ Pre-Packaged Insolvency Resolution Process under Section 54L of the Insolvency and Bankruptcy Code, 2016</a:t>
            </a:r>
          </a:p>
          <a:p>
            <a:pPr>
              <a:defRPr sz="1200"/>
            </a:pPr>
            <a:r>
              <a:t>➢ Frequently Asked Questions (FAQs) on the submission of the Quarterly Integrated Filing – Governance</a:t>
            </a:r>
          </a:p>
          <a:p>
            <a:br/>
            <a:pPr>
              <a:defRPr b="1" u="sng" sz="1200"/>
            </a:pPr>
            <a:r>
              <a:t>CIRCULARS:</a:t>
            </a:r>
          </a:p>
          <a:p>
            <a:pPr>
              <a:defRPr sz="1200"/>
            </a:pPr>
            <a:r>
              <a:t>➢ Ease of Doing Business – Relaxation in certification requirement for Persons Associated with Investment Advice (PAIA) – Sales and other non-core services</a:t>
            </a:r>
          </a:p>
          <a:p>
            <a:pPr>
              <a:defRPr sz="1200"/>
            </a:pPr>
            <a:r>
              <a:t>➢ Clarification with respect to applicability of the benefit of early pay-in in Commodity Derivatives Segment</a:t>
            </a:r>
          </a:p>
          <a:p>
            <a:pPr>
              <a:defRPr sz="1200"/>
            </a:pPr>
            <a:r>
              <a:t>➢ Norms for Base Price, Price Bands, Call Auction in pre-open session and Close-out procedure for Exchange Traded Funds (ETFs)</a:t>
            </a:r>
          </a:p>
          <a:p>
            <a:pPr>
              <a:defRPr sz="1200"/>
            </a:pPr>
            <a:r>
              <a:t>➢ Extension of timelines for compliance with certain provisions of Circular dated  January 02, 2026</a:t>
            </a:r>
          </a:p>
          <a:p>
            <a:br/>
            <a:pPr>
              <a:defRPr b="1" u="sng" sz="1200"/>
            </a:pPr>
            <a:r>
              <a:t>PRESS RELEASE:</a:t>
            </a:r>
          </a:p>
          <a:p>
            <a:pPr>
              <a:defRPr sz="1200"/>
            </a:pPr>
            <a:r>
              <a:t>➢ Constitution of an Expert Working Group on review of extant regulatory framework applicable for Debenture Trusteeship activities and other incidental matters</a:t>
            </a:r>
          </a:p>
          <a:p>
            <a:pPr>
              <a:defRPr sz="1200"/>
            </a:pPr>
            <a:r>
              <a:t>➢ SEBI Proposes Common Advertisement Code for Specified Regulated Entities</a:t>
            </a:r>
          </a:p>
          <a:p>
            <a:pPr>
              <a:defRPr sz="1200"/>
            </a:pPr>
            <a:r>
              <a:t>➢ Launch of Securities Market TechSprint at Global Fintech Fest 2026 (GFF ’26)</a:t>
            </a:r>
          </a:p>
          <a:p>
            <a:pPr>
              <a:defRPr sz="1200"/>
            </a:pPr>
            <a:r>
              <a:t>➢ Key decisions taken in the SEBI Board Meeting dated 19th June, 2026</a:t>
            </a:r>
          </a:p>
          <a:p>
            <a:pPr>
              <a:defRPr sz="1200"/>
            </a:pPr>
            <a:r>
              <a:t>➢ Transaction in Securities of Unlisted Public Limited Companies on various Platforms</a:t>
            </a:r>
          </a:p>
          <a:p>
            <a:br/>
            <a:pPr>
              <a:defRPr b="1" u="sng" sz="1200"/>
            </a:pPr>
            <a:r>
              <a:t>CONSULTATION PAPER:</a:t>
            </a:r>
          </a:p>
          <a:p>
            <a:pPr>
              <a:defRPr sz="1200"/>
            </a:pPr>
            <a:r>
              <a:t>➢ Consultation Paper on Common Advertisement Code for Specified SEBI Regulated Entities</a:t>
            </a:r>
          </a:p>
          <a:p>
            <a:pPr>
              <a:defRPr sz="1200"/>
            </a:pPr>
            <a:r>
              <a:t>➢ Consultation Paper on Review of Margin Trading Facility (MTF) Framework</a:t>
            </a:r>
          </a:p>
          <a:p>
            <a:pPr>
              <a:defRPr sz="1200"/>
            </a:pPr>
            <a:r>
              <a:t>➢ Consultation paper on review of provisions on disclosure of Executive Remuneration by Asset Management Companies (AMCs).</a:t>
            </a:r>
          </a:p>
          <a:p>
            <a:br/>
            <a:pPr>
              <a:defRPr b="1" u="sng" sz="1200"/>
            </a:pPr>
            <a:r>
              <a:t>INFORMAL GUIDANCE:</a:t>
            </a:r>
          </a:p>
          <a:p>
            <a:pPr>
              <a:defRPr sz="1200"/>
            </a:pPr>
            <a:r>
              <a:t>➢ Request for Informal Guidance by way of an "interpretive letter" under under the Securities and Exchange Board of India (Informal Guidance) Scheme, 2025 received from Maithan Alloys Limited seeking interpretation of the provisions of Regulation 16(1)(b)(iii) of Securities and Exchange Board of India (Listing Obligations and Disclosure Requirements/) Regulations, 2015.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D43D0FC-F3AA-A652-2C27-523F9E41EE54}"/>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4F55D29A-E1DB-4EF3-DCB8-3A28EC2D5110}"/>
              </a:ext>
            </a:extLst>
          </p:cNvPr>
          <p:cNvSpPr/>
          <p:nvPr/>
        </p:nvSpPr>
        <p:spPr>
          <a:xfrm>
            <a:off x="0" y="91896"/>
            <a:ext cx="7569820" cy="1308974"/>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endParaRPr lang="en-US" dirty="0"/>
          </a:p>
        </p:txBody>
      </p:sp>
      <p:grpSp>
        <p:nvGrpSpPr>
          <p:cNvPr id="11" name="Group 11">
            <a:extLst>
              <a:ext uri="{FF2B5EF4-FFF2-40B4-BE49-F238E27FC236}">
                <a16:creationId xmlns:a16="http://schemas.microsoft.com/office/drawing/2014/main" id="{2274EB0C-1F3D-71D2-F728-1CCC1D3A27CE}"/>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D3F63C58-5958-944B-AA73-10A32D56B0C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9BA410C3-41CA-CF9C-6E62-0D9BE4754D0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418F693A-0569-085E-CF03-72FC21E8DC9D}"/>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75FB7D13-610D-E741-80D8-B67D6D7EF22F}"/>
              </a:ext>
            </a:extLst>
          </p:cNvPr>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rgbClr val="FFFFFF">
                    <a:alpha val="60000"/>
                  </a:srgbClr>
                </a:solidFill>
                <a:latin typeface="Montserrat Classic Bold"/>
                <a:ea typeface="Montserrat Classic Bold"/>
                <a:cs typeface="Montserrat Classic Bold"/>
                <a:sym typeface="Montserrat Classic Bold"/>
              </a:rPr>
              <a:t> </a:t>
            </a: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3 of 11 </a:t>
            </a:r>
          </a:p>
          <a:p>
            <a:pPr algn="ctr">
              <a:lnSpc>
                <a:spcPts val="1598"/>
              </a:lnSpc>
            </a:pPr>
            <a:endParaRPr lang="en-US" sz="1299" b="1" spc="3" dirty="0">
              <a:solidFill>
                <a:srgbClr val="FFFFFF">
                  <a:alpha val="60000"/>
                </a:srgbClr>
              </a:solidFill>
              <a:latin typeface="Montserrat Classic Bold"/>
              <a:ea typeface="Montserrat Classic Bold"/>
              <a:cs typeface="Montserrat Classic Bold"/>
              <a:sym typeface="Montserrat Classic Bold"/>
            </a:endParaRPr>
          </a:p>
        </p:txBody>
      </p:sp>
      <p:sp>
        <p:nvSpPr>
          <p:cNvPr id="31" name="TextBox 30">
            <a:extLst>
              <a:ext uri="{FF2B5EF4-FFF2-40B4-BE49-F238E27FC236}">
                <a16:creationId xmlns:a16="http://schemas.microsoft.com/office/drawing/2014/main" id="{CE210C6A-462C-991F-2D45-EB1BDDD8828B}"/>
              </a:ext>
            </a:extLst>
          </p:cNvPr>
          <p:cNvSpPr txBox="1"/>
          <p:nvPr/>
        </p:nvSpPr>
        <p:spPr>
          <a:xfrm>
            <a:off x="206578" y="1604977"/>
            <a:ext cx="7081214" cy="895373"/>
          </a:xfrm>
          <a:prstGeom prst="rect">
            <a:avLst/>
          </a:prstGeom>
          <a:noFill/>
        </p:spPr>
        <p:txBody>
          <a:bodyPr wrap="square">
            <a:spAutoFit/>
          </a:bodyPr>
          <a:lstStyle/>
          <a:p>
            <a:pPr marL="285750" indent="-285750">
              <a:lnSpc>
                <a:spcPct val="150000"/>
              </a:lnSpc>
              <a:spcAft>
                <a:spcPts val="800"/>
              </a:spcAft>
              <a:buFont typeface="Arial" panose="020B0604020202020204" pitchFamily="34" charset="0"/>
              <a:buChar char="•"/>
            </a:pPr>
            <a:endParaRPr lang="en-US" sz="1600" b="1" u="sng" kern="100" dirty="0">
              <a:solidFill>
                <a:srgbClr val="002060"/>
              </a:solidFill>
              <a:cs typeface="Times New Roman" panose="02020603050405020304" pitchFamily="18" charset="0"/>
            </a:endParaRPr>
          </a:p>
          <a:p>
            <a:pPr algn="just">
              <a:lnSpc>
                <a:spcPct val="150000"/>
              </a:lnSpc>
              <a:spcAft>
                <a:spcPts val="800"/>
              </a:spcAft>
            </a:pPr>
            <a:endParaRPr lang="en-US" sz="1600" kern="100" dirty="0">
              <a:solidFill>
                <a:srgbClr val="002060"/>
              </a:solidFill>
              <a:cs typeface="Times New Roman" panose="02020603050405020304" pitchFamily="18" charset="0"/>
            </a:endParaRPr>
          </a:p>
        </p:txBody>
      </p:sp>
      <p:sp>
        <p:nvSpPr>
          <p:cNvPr id="33" name="TextBox 32">
            <a:extLst>
              <a:ext uri="{FF2B5EF4-FFF2-40B4-BE49-F238E27FC236}">
                <a16:creationId xmlns:a16="http://schemas.microsoft.com/office/drawing/2014/main" id="{8EDDEE75-E309-5599-8007-F4AEE4BD1515}"/>
              </a:ext>
            </a:extLst>
          </p:cNvPr>
          <p:cNvSpPr txBox="1"/>
          <p:nvPr/>
        </p:nvSpPr>
        <p:spPr>
          <a:xfrm>
            <a:off x="682797" y="4371308"/>
            <a:ext cx="6629400" cy="358816"/>
          </a:xfrm>
          <a:prstGeom prst="rect">
            <a:avLst/>
          </a:prstGeom>
          <a:noFill/>
        </p:spPr>
        <p:txBody>
          <a:bodyPr wrap="square">
            <a:spAutoFit/>
          </a:bodyPr>
          <a:lstStyle/>
          <a:p>
            <a:pPr lvl="0" algn="just">
              <a:lnSpc>
                <a:spcPct val="115000"/>
              </a:lnSpc>
            </a:pPr>
            <a:endParaRPr lang="en-IN" sz="1600" kern="100" dirty="0">
              <a:effectLst/>
              <a:ea typeface="Aptos" panose="020B0004020202020204" pitchFamily="34" charset="0"/>
              <a:cs typeface="Times New Roman" panose="02020603050405020304" pitchFamily="18" charset="0"/>
            </a:endParaRPr>
          </a:p>
        </p:txBody>
      </p:sp>
      <p:sp>
        <p:nvSpPr>
          <p:cNvPr id="18" name="TextBox 10">
            <a:extLst>
              <a:ext uri="{FF2B5EF4-FFF2-40B4-BE49-F238E27FC236}">
                <a16:creationId xmlns:a16="http://schemas.microsoft.com/office/drawing/2014/main" id="{6F0588AA-CE31-502D-E515-FC56E7D1567E}"/>
              </a:ext>
            </a:extLst>
          </p:cNvPr>
          <p:cNvSpPr txBox="1"/>
          <p:nvPr/>
        </p:nvSpPr>
        <p:spPr>
          <a:xfrm>
            <a:off x="0" y="17860"/>
            <a:ext cx="7569820" cy="1383010"/>
          </a:xfrm>
          <a:prstGeom prst="rect">
            <a:avLst/>
          </a:prstGeom>
          <a:solidFill>
            <a:schemeClr val="tx2"/>
          </a:solidFill>
        </p:spPr>
        <p:txBody>
          <a:bodyPr lIns="50800" tIns="50800" rIns="50800" bIns="50800" rtlCol="0" anchor="ctr"/>
          <a:lstStyle/>
          <a:p>
            <a:pPr algn="ctr">
              <a:lnSpc>
                <a:spcPts val="1960"/>
              </a:lnSpc>
            </a:pPr>
            <a:r>
              <a:rPr lang="en-IN" sz="2800" b="1" u="sng" kern="100">
                <a:solidFill>
                  <a:schemeClr val="bg1"/>
                </a:solidFill>
                <a:latin typeface="Calibri" panose="020F0502020204030204" pitchFamily="34" charset="0"/>
                <a:ea typeface="Aptos" panose="020B0004020202020204" pitchFamily="34" charset="0"/>
                <a:cs typeface="Times New Roman" panose="02020603050405020304" pitchFamily="18" charset="0"/>
              </a:rPr>
              <a:t>INDEX</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27E29C8F-7CEE-AF9A-01C7-39334E220BDA}"/>
              </a:ext>
            </a:extLst>
          </p:cNvPr>
          <p:cNvPicPr>
            <a:picLocks noChangeAspect="1"/>
          </p:cNvPicPr>
          <p:nvPr/>
        </p:nvPicPr>
        <p:blipFill>
          <a:blip r:embed="rId2"/>
          <a:stretch>
            <a:fillRect/>
          </a:stretch>
        </p:blipFill>
        <p:spPr>
          <a:xfrm>
            <a:off x="5605461" y="124648"/>
            <a:ext cx="1706736" cy="1159053"/>
          </a:xfrm>
          <a:prstGeom prst="rect">
            <a:avLst/>
          </a:prstGeom>
        </p:spPr>
      </p:pic>
      <p:sp>
        <p:nvSpPr>
          <p:cNvPr id="2" name="Slide Number Placeholder 1">
            <a:extLst>
              <a:ext uri="{FF2B5EF4-FFF2-40B4-BE49-F238E27FC236}">
                <a16:creationId xmlns:a16="http://schemas.microsoft.com/office/drawing/2014/main" id="{24D13AA5-AB8B-2868-E8A4-87CAAC05F09A}"/>
              </a:ext>
            </a:extLst>
          </p:cNvPr>
          <p:cNvSpPr>
            <a:spLocks noGrp="1"/>
          </p:cNvSpPr>
          <p:nvPr>
            <p:ph type="sldNum" sz="quarter" idx="12"/>
          </p:nvPr>
        </p:nvSpPr>
        <p:spPr/>
        <p:txBody>
          <a:bodyPr/>
          <a:lstStyle/>
          <a:p>
            <a:fld id="{B6F15528-21DE-4FAA-801E-634DDDAF4B2B}" type="slidenum">
              <a:rPr lang="en-US" smtClean="0"/>
              <a:pPr/>
              <a:t>3</a:t>
            </a:fld>
            <a:endParaRPr lang="en-US"/>
          </a:p>
        </p:txBody>
      </p:sp>
    </p:spTree>
    <p:extLst>
      <p:ext uri="{BB962C8B-B14F-4D97-AF65-F5344CB8AC3E}">
        <p14:creationId xmlns:p14="http://schemas.microsoft.com/office/powerpoint/2010/main" val="3263285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AA94FDAB-C0E1-AA34-7E9E-D884927F19DF}"/>
            </a:ext>
          </a:extLst>
        </p:cNvPr>
        <p:cNvGrpSpPr/>
        <p:nvPr/>
      </p:nvGrpSpPr>
      <p:grpSpPr>
        <a:xfrm>
          <a:off x="0" y="0"/>
          <a:ext cx="0" cy="0"/>
          <a:chOff x="0" y="0"/>
          <a:chExt cx="0" cy="0"/>
        </a:xfrm>
      </p:grpSpPr>
      <p:grpSp>
        <p:nvGrpSpPr>
          <p:cNvPr id="8" name="Group 8">
            <a:extLst>
              <a:ext uri="{FF2B5EF4-FFF2-40B4-BE49-F238E27FC236}">
                <a16:creationId xmlns:a16="http://schemas.microsoft.com/office/drawing/2014/main" id="{26C9E441-C00F-1D83-DA36-608BD11F64CB}"/>
              </a:ext>
            </a:extLst>
          </p:cNvPr>
          <p:cNvGrpSpPr/>
          <p:nvPr/>
        </p:nvGrpSpPr>
        <p:grpSpPr>
          <a:xfrm>
            <a:off x="0" y="17860"/>
            <a:ext cx="7569820" cy="1383010"/>
            <a:chOff x="0" y="-28575"/>
            <a:chExt cx="2712853" cy="533791"/>
          </a:xfrm>
          <a:solidFill>
            <a:schemeClr val="tx2"/>
          </a:solidFill>
        </p:grpSpPr>
        <p:sp>
          <p:nvSpPr>
            <p:cNvPr id="9" name="Freeform 9">
              <a:extLst>
                <a:ext uri="{FF2B5EF4-FFF2-40B4-BE49-F238E27FC236}">
                  <a16:creationId xmlns:a16="http://schemas.microsoft.com/office/drawing/2014/main" id="{C5B81A88-6DC2-84FE-28FD-B8D2B0043052}"/>
                </a:ext>
              </a:extLst>
            </p:cNvPr>
            <p:cNvSpPr/>
            <p:nvPr/>
          </p:nvSpPr>
          <p:spPr>
            <a:xfrm>
              <a:off x="0" y="0"/>
              <a:ext cx="2712853" cy="505216"/>
            </a:xfrm>
            <a:custGeom>
              <a:avLst/>
              <a:gdLst/>
              <a:ahLst/>
              <a:cxnLst/>
              <a:rect l="l" t="t" r="r" b="b"/>
              <a:pathLst>
                <a:path w="2712853" h="505216">
                  <a:moveTo>
                    <a:pt x="0" y="0"/>
                  </a:moveTo>
                  <a:lnTo>
                    <a:pt x="2712853" y="0"/>
                  </a:lnTo>
                  <a:lnTo>
                    <a:pt x="2712853" y="505216"/>
                  </a:lnTo>
                  <a:lnTo>
                    <a:pt x="0" y="505216"/>
                  </a:lnTo>
                  <a:close/>
                </a:path>
              </a:pathLst>
            </a:custGeom>
            <a:grpFill/>
          </p:spPr>
          <p:txBody>
            <a:bodyPr/>
            <a:lstStyle/>
            <a:p>
              <a:endParaRPr lang="en-US" dirty="0"/>
            </a:p>
          </p:txBody>
        </p:sp>
        <p:sp>
          <p:nvSpPr>
            <p:cNvPr id="10" name="TextBox 10">
              <a:extLst>
                <a:ext uri="{FF2B5EF4-FFF2-40B4-BE49-F238E27FC236}">
                  <a16:creationId xmlns:a16="http://schemas.microsoft.com/office/drawing/2014/main" id="{B3DAB8DC-01A1-1233-08A7-4619C609844C}"/>
                </a:ext>
              </a:extLst>
            </p:cNvPr>
            <p:cNvSpPr txBox="1"/>
            <p:nvPr/>
          </p:nvSpPr>
          <p:spPr>
            <a:xfrm>
              <a:off x="0" y="-28575"/>
              <a:ext cx="2712853" cy="533791"/>
            </a:xfrm>
            <a:prstGeom prst="rect">
              <a:avLst/>
            </a:prstGeom>
            <a:grpFill/>
          </p:spPr>
          <p:txBody>
            <a:bodyPr lIns="50800" tIns="50800" rIns="50800" bIns="50800" rtlCol="0" anchor="ctr"/>
            <a:lstStyle/>
            <a:p>
              <a:pPr algn="ctr">
                <a:lnSpc>
                  <a:spcPts val="1960"/>
                </a:lnSpc>
              </a:pPr>
              <a:endParaRPr lang="en-US" sz="2800" b="1" dirty="0">
                <a:solidFill>
                  <a:schemeClr val="bg1"/>
                </a:solidFill>
              </a:endParaRPr>
            </a:p>
            <a:p>
              <a:pPr algn="ctr">
                <a:lnSpc>
                  <a:spcPct val="107000"/>
                </a:lnSpc>
                <a:spcAft>
                  <a:spcPts val="800"/>
                </a:spcAft>
              </a:pPr>
              <a:r>
                <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rPr>
                <a:t>FOR LISTED ENTITIES </a:t>
              </a:r>
              <a:endParaRPr lang="en-IN" sz="1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p:txBody>
        </p:sp>
      </p:grpSp>
      <p:grpSp>
        <p:nvGrpSpPr>
          <p:cNvPr id="11" name="Group 11">
            <a:extLst>
              <a:ext uri="{FF2B5EF4-FFF2-40B4-BE49-F238E27FC236}">
                <a16:creationId xmlns:a16="http://schemas.microsoft.com/office/drawing/2014/main" id="{1FF50D35-BAAE-6197-8187-5F91658FD012}"/>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6C8B191-5E84-4C09-64D8-4B3CE0F1978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2C0F79C2-2F34-5F91-0CA7-34E594BDC055}"/>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35E48552-9BE8-E739-74C4-99C4DD8321C8}"/>
              </a:ext>
            </a:extLst>
          </p:cNvPr>
          <p:cNvSpPr txBox="1"/>
          <p:nvPr/>
        </p:nvSpPr>
        <p:spPr>
          <a:xfrm>
            <a:off x="230983" y="1537364"/>
            <a:ext cx="7081214" cy="246221"/>
          </a:xfrm>
          <a:prstGeom prst="rect">
            <a:avLst/>
          </a:prstGeom>
        </p:spPr>
        <p:txBody>
          <a:bodyPr lIns="0" tIns="0" rIns="0" bIns="0" rtlCol="0" anchor="t">
            <a:spAutoFit/>
          </a:bodyPr>
          <a:lstStyle/>
          <a:p>
            <a:pPr algn="just">
              <a:spcAft>
                <a:spcPts val="800"/>
              </a:spcAft>
              <a:buNone/>
            </a:pPr>
            <a:r>
              <a:rPr lang="en-IN" sz="1600" kern="100" dirty="0">
                <a:effectLst/>
                <a:latin typeface="Aptos" panose="020B0004020202020204" pitchFamily="34" charset="0"/>
                <a:ea typeface="Aptos" panose="020B0004020202020204" pitchFamily="34" charset="0"/>
                <a:cs typeface="Times New Roman" panose="02020603050405020304" pitchFamily="18" charset="0"/>
              </a:rPr>
              <a:t> </a:t>
            </a:r>
            <a:endParaRPr lang="en-US" sz="1200" b="1" spc="3" dirty="0">
              <a:solidFill>
                <a:srgbClr val="000000"/>
              </a:solidFill>
              <a:latin typeface="Montserrat Classic Bold"/>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C8316834-8554-4B2B-2EFE-00570FFA6C34}"/>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4 of 11</a:t>
            </a:r>
          </a:p>
        </p:txBody>
      </p:sp>
      <p:pic>
        <p:nvPicPr>
          <p:cNvPr id="2" name="Picture 1">
            <a:extLst>
              <a:ext uri="{FF2B5EF4-FFF2-40B4-BE49-F238E27FC236}">
                <a16:creationId xmlns:a16="http://schemas.microsoft.com/office/drawing/2014/main" id="{09F93F5B-4AF9-3A39-AA8E-62583C8F1846}"/>
              </a:ext>
            </a:extLst>
          </p:cNvPr>
          <p:cNvPicPr>
            <a:picLocks noChangeAspect="1"/>
          </p:cNvPicPr>
          <p:nvPr/>
        </p:nvPicPr>
        <p:blipFill>
          <a:blip r:embed="rId2"/>
          <a:stretch>
            <a:fillRect/>
          </a:stretch>
        </p:blipFill>
        <p:spPr>
          <a:xfrm>
            <a:off x="5527989" y="139757"/>
            <a:ext cx="1677526" cy="1139216"/>
          </a:xfrm>
          <a:prstGeom prst="rect">
            <a:avLst/>
          </a:prstGeom>
        </p:spPr>
      </p:pic>
      <p:sp>
        <p:nvSpPr>
          <p:cNvPr id="3" name="Slide Number Placeholder 2">
            <a:extLst>
              <a:ext uri="{FF2B5EF4-FFF2-40B4-BE49-F238E27FC236}">
                <a16:creationId xmlns:a16="http://schemas.microsoft.com/office/drawing/2014/main" id="{97EB0DCA-14FB-C75F-0683-C98EFA7583B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extLst>
      <p:ext uri="{BB962C8B-B14F-4D97-AF65-F5344CB8AC3E}">
        <p14:creationId xmlns:p14="http://schemas.microsoft.com/office/powerpoint/2010/main" val="23342592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09732"/>
          </a:xfrm>
          <a:custGeom>
            <a:avLst/>
            <a:gdLst/>
            <a:ahLst/>
            <a:cxnLst/>
            <a:rect l="l" t="t" r="r" b="b"/>
            <a:pathLst>
              <a:path w="2712853" h="505216">
                <a:moveTo>
                  <a:pt x="0" y="0"/>
                </a:moveTo>
                <a:lnTo>
                  <a:pt x="2712853" y="0"/>
                </a:lnTo>
                <a:lnTo>
                  <a:pt x="2712853" y="505216"/>
                </a:lnTo>
                <a:lnTo>
                  <a:pt x="0" y="505216"/>
                </a:lnTo>
                <a:close/>
              </a:path>
            </a:pathLst>
          </a:custGeom>
          <a:solidFill>
            <a:schemeClr val="tx2"/>
          </a:solidFill>
        </p:spPr>
        <p:txBody>
          <a:bodyPr/>
          <a:lstStyle/>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3500" y="72585"/>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5" name="TextBox 15"/>
          <p:cNvSpPr txBox="1"/>
          <p:nvPr/>
        </p:nvSpPr>
        <p:spPr>
          <a:xfrm>
            <a:off x="507036" y="10147300"/>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5 of 11</a:t>
            </a:r>
          </a:p>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 </a:t>
            </a:r>
          </a:p>
        </p:txBody>
      </p:sp>
      <p:pic>
        <p:nvPicPr>
          <p:cNvPr id="2" name="Picture 1">
            <a:extLst>
              <a:ext uri="{FF2B5EF4-FFF2-40B4-BE49-F238E27FC236}">
                <a16:creationId xmlns:a16="http://schemas.microsoft.com/office/drawing/2014/main" id="{2305DE8E-8631-C5DA-AC40-551EBD981F7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10" name="Rectangle 4">
            <a:extLst>
              <a:ext uri="{FF2B5EF4-FFF2-40B4-BE49-F238E27FC236}">
                <a16:creationId xmlns:a16="http://schemas.microsoft.com/office/drawing/2014/main" id="{86AFBC7B-8BCD-4C58-2C61-D97B192CA3B5}"/>
              </a:ext>
            </a:extLst>
          </p:cNvPr>
          <p:cNvSpPr>
            <a:spLocks noChangeArrowheads="1"/>
          </p:cNvSpPr>
          <p:nvPr/>
        </p:nvSpPr>
        <p:spPr bwMode="auto">
          <a:xfrm>
            <a:off x="430167" y="5086787"/>
            <a:ext cx="6692281"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tabLst>
                <a:tab pos="457200" algn="l"/>
              </a:tabLst>
            </a:pPr>
            <a:r>
              <a:rPr lang="en-US" altLang="en-US" sz="1100" dirty="0">
                <a:solidFill>
                  <a:srgbClr val="002060"/>
                </a:solidFill>
                <a:latin typeface="Calibri" panose="020F0502020204030204" pitchFamily="34" charset="0"/>
                <a:ea typeface="Times New Roman" panose="02020603050405020304" pitchFamily="18" charset="0"/>
                <a:cs typeface="Calibri" panose="020F0502020204030204" pitchFamily="34" charset="0"/>
              </a:rPr>
              <a:t>\</a:t>
            </a:r>
          </a:p>
          <a:p>
            <a:pPr marL="0" marR="0" lvl="0" indent="0" algn="just" defTabSz="914400" rtl="0" eaLnBrk="0" fontAlgn="base" latinLnBrk="0" hangingPunct="0">
              <a:lnSpc>
                <a:spcPct val="100000"/>
              </a:lnSpc>
              <a:spcBef>
                <a:spcPct val="0"/>
              </a:spcBef>
              <a:spcAft>
                <a:spcPct val="0"/>
              </a:spcAft>
              <a:buClrTx/>
              <a:buSzTx/>
              <a:tabLst>
                <a:tab pos="457200" algn="l"/>
              </a:tabLst>
            </a:pPr>
            <a:endParaRPr kumimoji="0" lang="en-US" altLang="en-US" sz="1100" b="0" i="0" u="none" strike="noStrike" cap="none" normalizeH="0" baseline="0" dirty="0">
              <a:ln>
                <a:noFill/>
              </a:ln>
              <a:solidFill>
                <a:srgbClr val="002060"/>
              </a:solidFill>
              <a:effectLst/>
              <a:latin typeface="Calibri" panose="020F0502020204030204" pitchFamily="34" charset="0"/>
              <a:ea typeface="Times New Roman" panose="02020603050405020304" pitchFamily="18" charset="0"/>
              <a:cs typeface="Calibri" panose="020F0502020204030204" pitchFamily="34" charset="0"/>
            </a:endParaRPr>
          </a:p>
        </p:txBody>
      </p:sp>
      <p:sp>
        <p:nvSpPr>
          <p:cNvPr id="3" name="Slide Number Placeholder 2">
            <a:extLst>
              <a:ext uri="{FF2B5EF4-FFF2-40B4-BE49-F238E27FC236}">
                <a16:creationId xmlns:a16="http://schemas.microsoft.com/office/drawing/2014/main" id="{7A255718-BBE4-711D-1EE2-7852EAA9EDEA}"/>
              </a:ext>
            </a:extLst>
          </p:cNvPr>
          <p:cNvSpPr>
            <a:spLocks noGrp="1"/>
          </p:cNvSpPr>
          <p:nvPr>
            <p:ph type="sldNum" sz="quarter" idx="12"/>
          </p:nvPr>
        </p:nvSpPr>
        <p:spPr/>
        <p:txBody>
          <a:bodyPr/>
          <a:lstStyle/>
          <a:p>
            <a:fld id="{B6F15528-21DE-4FAA-801E-634DDDAF4B2B}"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sp>
        <p:nvSpPr>
          <p:cNvPr id="9" name="Freeform 9"/>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p:cNvGrpSpPr/>
          <p:nvPr/>
        </p:nvGrpSpPr>
        <p:grpSpPr>
          <a:xfrm>
            <a:off x="0" y="0"/>
            <a:ext cx="7560000" cy="91895"/>
            <a:chOff x="0" y="0"/>
            <a:chExt cx="2709333" cy="32933"/>
          </a:xfrm>
          <a:solidFill>
            <a:srgbClr val="00B0F0"/>
          </a:solidFill>
        </p:grpSpPr>
        <p:sp>
          <p:nvSpPr>
            <p:cNvPr id="12" name="Freeform 12"/>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p:cNvSpPr txBox="1"/>
          <p:nvPr/>
        </p:nvSpPr>
        <p:spPr>
          <a:xfrm>
            <a:off x="371997" y="10119945"/>
            <a:ext cx="7081214" cy="391389"/>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6 of 11</a:t>
            </a:r>
          </a:p>
          <a:p>
            <a:pPr algn="ctr">
              <a:lnSpc>
                <a:spcPts val="1598"/>
              </a:lnSpc>
            </a:pPr>
            <a:endPar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endParaRPr>
          </a:p>
        </p:txBody>
      </p:sp>
      <p:pic>
        <p:nvPicPr>
          <p:cNvPr id="4" name="Picture 3">
            <a:extLst>
              <a:ext uri="{FF2B5EF4-FFF2-40B4-BE49-F238E27FC236}">
                <a16:creationId xmlns:a16="http://schemas.microsoft.com/office/drawing/2014/main" id="{D43C8765-4A25-4F0C-8883-319210D4C8C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928F00D9-4B84-1CFD-773E-5E970E4BAA9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18CEE9C3-8403-637B-A4A3-228433734057}"/>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128401DA-A549-469E-D78C-45EDBF01EDA3}"/>
              </a:ext>
            </a:extLst>
          </p:cNvPr>
          <p:cNvSpPr>
            <a:spLocks noGrp="1"/>
          </p:cNvSpPr>
          <p:nvPr>
            <p:ph type="sldNum" sz="quarter" idx="12"/>
          </p:nvPr>
        </p:nvSpPr>
        <p:spPr/>
        <p:txBody>
          <a:bodyPr/>
          <a:lstStyle/>
          <a:p>
            <a:fld id="{B6F15528-21DE-4FAA-801E-634DDDAF4B2B}" type="slidenum">
              <a:rPr lang="en-US" smtClean="0"/>
              <a:pPr/>
              <a:t>6</a:t>
            </a:fld>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500331DB-FC41-8E43-A0AD-0EE3042BEE5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941BC203-7FE3-B3F1-A9A5-BDB05FD4A67E}"/>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00CDC9E7-FBCF-BCEE-78AB-A35D4053CAB5}"/>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5BEDBFDE-EF5C-A3E8-3B99-74FB7325FBE6}"/>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F90207FD-D8E3-E8CD-A520-E7D55FAE4390}"/>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09CD22DA-38C0-22A5-C521-28E1C36D3119}"/>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AA14FEEA-45F9-3D7A-9822-7B88E8807451}"/>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7 of 11</a:t>
            </a:r>
          </a:p>
        </p:txBody>
      </p:sp>
      <p:pic>
        <p:nvPicPr>
          <p:cNvPr id="4" name="Picture 3">
            <a:extLst>
              <a:ext uri="{FF2B5EF4-FFF2-40B4-BE49-F238E27FC236}">
                <a16:creationId xmlns:a16="http://schemas.microsoft.com/office/drawing/2014/main" id="{8FABCEF1-4FBA-82B8-E33E-AC14F8E91C7B}"/>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C8FE3F0B-030B-2804-CF86-522CEEA54530}"/>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AFD2BE0D-9C06-EA0C-71E1-5F2AFE5AC0F3}"/>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B937FC59-7972-B319-1A8C-38CBC1920082}"/>
              </a:ext>
            </a:extLst>
          </p:cNvPr>
          <p:cNvSpPr>
            <a:spLocks noGrp="1"/>
          </p:cNvSpPr>
          <p:nvPr>
            <p:ph type="sldNum" sz="quarter" idx="12"/>
          </p:nvPr>
        </p:nvSpPr>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617810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CE85FD45-CBC4-91CD-A97A-EC215316B629}"/>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8D4832D1-3BFB-F83A-0D85-E896BF27D9B0}"/>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CCDDFF27-EB23-9DFF-16D1-EC97DEF909E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2D03A656-CBB4-3D92-B767-EBB3CC5B3DE2}"/>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2B01FD4-0535-ABA6-34D3-20DEDB4FA6AF}"/>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B3DD2F7B-59E1-E415-ED1D-36FB36128DC8}"/>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B591F0A1-DF14-A910-4E78-D929D62F9ADD}"/>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8 of 11</a:t>
            </a:r>
          </a:p>
        </p:txBody>
      </p:sp>
      <p:pic>
        <p:nvPicPr>
          <p:cNvPr id="4" name="Picture 3">
            <a:extLst>
              <a:ext uri="{FF2B5EF4-FFF2-40B4-BE49-F238E27FC236}">
                <a16:creationId xmlns:a16="http://schemas.microsoft.com/office/drawing/2014/main" id="{41525E64-5DDE-ECDD-1A47-8E8603E40A61}"/>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4FF8101C-5D93-4CCF-03F5-9E464DD901CD}"/>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8710A754-D923-F18D-1C2D-FAE4C17AD96F}"/>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24AC8F59-D9A3-A3EE-741C-2FD7FEADD609}"/>
              </a:ext>
            </a:extLst>
          </p:cNvPr>
          <p:cNvSpPr>
            <a:spLocks noGrp="1"/>
          </p:cNvSpPr>
          <p:nvPr>
            <p:ph type="sldNum" sz="quarter" idx="12"/>
          </p:nvPr>
        </p:nvSpPr>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31509914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B3E4409F-9F7A-63AC-8444-06C28CC93222}"/>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C35781B7-6E55-2D0D-8D49-F76A81B1F5FF}"/>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D95D8A5F-1F12-6725-846A-B251AFBBCBED}"/>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A0FD5682-D5CE-F5C5-F36A-C85F98BFD79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5A3D4884-3742-EFA0-07DE-33A2AD33E2A8}"/>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62F6FBC1-119D-55DE-4825-E8B1C5B449BE}"/>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62E821D2-B6EA-3E7E-B6AB-9FC27D8C2C28}"/>
              </a:ext>
            </a:extLst>
          </p:cNvPr>
          <p:cNvSpPr txBox="1"/>
          <p:nvPr/>
        </p:nvSpPr>
        <p:spPr>
          <a:xfrm>
            <a:off x="371997"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9 of 11</a:t>
            </a:r>
          </a:p>
        </p:txBody>
      </p:sp>
      <p:pic>
        <p:nvPicPr>
          <p:cNvPr id="4" name="Picture 3">
            <a:extLst>
              <a:ext uri="{FF2B5EF4-FFF2-40B4-BE49-F238E27FC236}">
                <a16:creationId xmlns:a16="http://schemas.microsoft.com/office/drawing/2014/main" id="{E3B55752-CD9F-A57C-0D72-FA8B5C676ECE}"/>
              </a:ext>
            </a:extLst>
          </p:cNvPr>
          <p:cNvPicPr>
            <a:picLocks noChangeAspect="1"/>
          </p:cNvPicPr>
          <p:nvPr/>
        </p:nvPicPr>
        <p:blipFill>
          <a:blip r:embed="rId3"/>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2E8A12CA-F006-F094-AE02-69FD8279D41C}"/>
              </a:ext>
            </a:extLst>
          </p:cNvPr>
          <p:cNvSpPr>
            <a:spLocks noChangeArrowheads="1"/>
          </p:cNvSpPr>
          <p:nvPr/>
        </p:nvSpPr>
        <p:spPr bwMode="auto">
          <a:xfrm>
            <a:off x="429326" y="5155599"/>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07F384DC-24D4-1C95-DC5A-41D0EECF6AF5}"/>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9CC04957-DFA4-8EA8-989D-B2F9F055C143}"/>
              </a:ext>
            </a:extLst>
          </p:cNvPr>
          <p:cNvSpPr>
            <a:spLocks noGrp="1"/>
          </p:cNvSpPr>
          <p:nvPr>
            <p:ph type="sldNum" sz="quarter" idx="12"/>
          </p:nvPr>
        </p:nvSpPr>
        <p:spPr/>
        <p:txBody>
          <a:bodyPr/>
          <a:lstStyle/>
          <a:p>
            <a:fld id="{B6F15528-21DE-4FAA-801E-634DDDAF4B2B}" type="slidenum">
              <a:rPr lang="en-US" smtClean="0"/>
              <a:pPr/>
              <a:t>9</a:t>
            </a:fld>
            <a:endParaRPr lang="en-US" dirty="0"/>
          </a:p>
        </p:txBody>
      </p:sp>
    </p:spTree>
    <p:extLst>
      <p:ext uri="{BB962C8B-B14F-4D97-AF65-F5344CB8AC3E}">
        <p14:creationId xmlns:p14="http://schemas.microsoft.com/office/powerpoint/2010/main" val="18209837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a:extLst>
            <a:ext uri="{FF2B5EF4-FFF2-40B4-BE49-F238E27FC236}">
              <a16:creationId xmlns:a16="http://schemas.microsoft.com/office/drawing/2014/main" id="{E4326579-D67A-1CE5-6308-9E37C1754B68}"/>
            </a:ext>
          </a:extLst>
        </p:cNvPr>
        <p:cNvGrpSpPr/>
        <p:nvPr/>
      </p:nvGrpSpPr>
      <p:grpSpPr>
        <a:xfrm>
          <a:off x="0" y="0"/>
          <a:ext cx="0" cy="0"/>
          <a:chOff x="0" y="0"/>
          <a:chExt cx="0" cy="0"/>
        </a:xfrm>
      </p:grpSpPr>
      <p:sp>
        <p:nvSpPr>
          <p:cNvPr id="9" name="Freeform 9">
            <a:extLst>
              <a:ext uri="{FF2B5EF4-FFF2-40B4-BE49-F238E27FC236}">
                <a16:creationId xmlns:a16="http://schemas.microsoft.com/office/drawing/2014/main" id="{B2524028-2C9B-1404-BE53-33ADB3A2FCD5}"/>
              </a:ext>
            </a:extLst>
          </p:cNvPr>
          <p:cNvSpPr/>
          <p:nvPr/>
        </p:nvSpPr>
        <p:spPr>
          <a:xfrm>
            <a:off x="0" y="91895"/>
            <a:ext cx="7569820" cy="1433488"/>
          </a:xfrm>
          <a:custGeom>
            <a:avLst/>
            <a:gdLst/>
            <a:ahLst/>
            <a:cxnLst/>
            <a:rect l="l" t="t" r="r" b="b"/>
            <a:pathLst>
              <a:path w="2712853" h="513730">
                <a:moveTo>
                  <a:pt x="0" y="0"/>
                </a:moveTo>
                <a:lnTo>
                  <a:pt x="2712853" y="0"/>
                </a:lnTo>
                <a:lnTo>
                  <a:pt x="2712853" y="513730"/>
                </a:lnTo>
                <a:lnTo>
                  <a:pt x="0" y="513730"/>
                </a:lnTo>
                <a:close/>
              </a:path>
            </a:pathLst>
          </a:custGeom>
          <a:solidFill>
            <a:schemeClr val="tx2"/>
          </a:solidFill>
        </p:spPr>
        <p:txBody>
          <a:bodyPr/>
          <a:lstStyle/>
          <a:p>
            <a:pPr algn="ctr"/>
            <a:endParaRPr lang="en-IN" sz="1800" b="1" u="sng" kern="100" dirty="0">
              <a:solidFill>
                <a:schemeClr val="bg1"/>
              </a:solidFill>
              <a:effectLst/>
              <a:latin typeface="Calibri" panose="020F050202020403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r>
              <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rPr>
              <a:t>FOR LISTED ENTITIES </a:t>
            </a:r>
            <a:endParaRPr lang="en-IN" kern="100" dirty="0">
              <a:solidFill>
                <a:schemeClr val="bg1"/>
              </a:solidFill>
              <a:latin typeface="Aptos" panose="020B0004020202020204" pitchFamily="34" charset="0"/>
              <a:ea typeface="Aptos" panose="020B0004020202020204" pitchFamily="34" charset="0"/>
              <a:cs typeface="Times New Roman" panose="02020603050405020304" pitchFamily="18" charset="0"/>
            </a:endParaRPr>
          </a:p>
          <a:p>
            <a:pPr algn="ctr"/>
            <a:endParaRPr lang="en-IN" b="1" u="sng" kern="100" dirty="0">
              <a:solidFill>
                <a:schemeClr val="bg1"/>
              </a:solidFill>
              <a:latin typeface="Calibri" panose="020F0502020204030204" pitchFamily="34" charset="0"/>
              <a:ea typeface="Aptos" panose="020B0004020202020204" pitchFamily="34" charset="0"/>
              <a:cs typeface="Times New Roman" panose="02020603050405020304" pitchFamily="18" charset="0"/>
            </a:endParaRPr>
          </a:p>
          <a:p>
            <a:pPr algn="ctr"/>
            <a:endParaRPr lang="en-US" dirty="0"/>
          </a:p>
        </p:txBody>
      </p:sp>
      <p:grpSp>
        <p:nvGrpSpPr>
          <p:cNvPr id="11" name="Group 11">
            <a:extLst>
              <a:ext uri="{FF2B5EF4-FFF2-40B4-BE49-F238E27FC236}">
                <a16:creationId xmlns:a16="http://schemas.microsoft.com/office/drawing/2014/main" id="{E2514E86-0813-FDB3-C8E1-A65BAC7CAF8B}"/>
              </a:ext>
            </a:extLst>
          </p:cNvPr>
          <p:cNvGrpSpPr/>
          <p:nvPr/>
        </p:nvGrpSpPr>
        <p:grpSpPr>
          <a:xfrm>
            <a:off x="0" y="0"/>
            <a:ext cx="7560000" cy="91895"/>
            <a:chOff x="0" y="0"/>
            <a:chExt cx="2709333" cy="32933"/>
          </a:xfrm>
          <a:solidFill>
            <a:srgbClr val="00B0F0"/>
          </a:solidFill>
        </p:grpSpPr>
        <p:sp>
          <p:nvSpPr>
            <p:cNvPr id="12" name="Freeform 12">
              <a:extLst>
                <a:ext uri="{FF2B5EF4-FFF2-40B4-BE49-F238E27FC236}">
                  <a16:creationId xmlns:a16="http://schemas.microsoft.com/office/drawing/2014/main" id="{09FAB878-0211-ED08-EE38-35F69816CF24}"/>
                </a:ext>
              </a:extLst>
            </p:cNvPr>
            <p:cNvSpPr/>
            <p:nvPr/>
          </p:nvSpPr>
          <p:spPr>
            <a:xfrm>
              <a:off x="0" y="0"/>
              <a:ext cx="2709333" cy="32933"/>
            </a:xfrm>
            <a:custGeom>
              <a:avLst/>
              <a:gdLst/>
              <a:ahLst/>
              <a:cxnLst/>
              <a:rect l="l" t="t" r="r" b="b"/>
              <a:pathLst>
                <a:path w="2709333" h="32933">
                  <a:moveTo>
                    <a:pt x="0" y="0"/>
                  </a:moveTo>
                  <a:lnTo>
                    <a:pt x="2709333" y="0"/>
                  </a:lnTo>
                  <a:lnTo>
                    <a:pt x="2709333" y="32933"/>
                  </a:lnTo>
                  <a:lnTo>
                    <a:pt x="0" y="32933"/>
                  </a:lnTo>
                  <a:close/>
                </a:path>
              </a:pathLst>
            </a:custGeom>
            <a:grpFill/>
          </p:spPr>
          <p:txBody>
            <a:bodyPr/>
            <a:lstStyle/>
            <a:p>
              <a:endParaRPr lang="en-US"/>
            </a:p>
          </p:txBody>
        </p:sp>
        <p:sp>
          <p:nvSpPr>
            <p:cNvPr id="13" name="TextBox 13">
              <a:extLst>
                <a:ext uri="{FF2B5EF4-FFF2-40B4-BE49-F238E27FC236}">
                  <a16:creationId xmlns:a16="http://schemas.microsoft.com/office/drawing/2014/main" id="{4B05D324-5046-D7D5-9841-5447C419D50D}"/>
                </a:ext>
              </a:extLst>
            </p:cNvPr>
            <p:cNvSpPr txBox="1"/>
            <p:nvPr/>
          </p:nvSpPr>
          <p:spPr>
            <a:xfrm>
              <a:off x="0" y="-28575"/>
              <a:ext cx="2709333" cy="61508"/>
            </a:xfrm>
            <a:prstGeom prst="rect">
              <a:avLst/>
            </a:prstGeom>
            <a:grpFill/>
          </p:spPr>
          <p:txBody>
            <a:bodyPr lIns="50800" tIns="50800" rIns="50800" bIns="50800" rtlCol="0" anchor="ctr"/>
            <a:lstStyle/>
            <a:p>
              <a:pPr algn="ctr">
                <a:lnSpc>
                  <a:spcPts val="1960"/>
                </a:lnSpc>
                <a:spcBef>
                  <a:spcPct val="0"/>
                </a:spcBef>
              </a:pPr>
              <a:endParaRPr/>
            </a:p>
          </p:txBody>
        </p:sp>
      </p:grpSp>
      <p:sp>
        <p:nvSpPr>
          <p:cNvPr id="14" name="TextBox 14">
            <a:extLst>
              <a:ext uri="{FF2B5EF4-FFF2-40B4-BE49-F238E27FC236}">
                <a16:creationId xmlns:a16="http://schemas.microsoft.com/office/drawing/2014/main" id="{F0D261B9-C556-A210-8F75-69B5678B6DD0}"/>
              </a:ext>
            </a:extLst>
          </p:cNvPr>
          <p:cNvSpPr txBox="1"/>
          <p:nvPr/>
        </p:nvSpPr>
        <p:spPr>
          <a:xfrm>
            <a:off x="120650" y="1617279"/>
            <a:ext cx="7239000" cy="1383777"/>
          </a:xfrm>
          <a:prstGeom prst="rect">
            <a:avLst/>
          </a:prstGeom>
        </p:spPr>
        <p:txBody>
          <a:bodyPr wrap="square" lIns="0" tIns="0" rIns="0" bIns="0" rtlCol="0" anchor="t">
            <a:spAutoFit/>
          </a:bodyPr>
          <a:lstStyle/>
          <a:p>
            <a:pPr marL="342900" lvl="0" indent="-342900" algn="just">
              <a:lnSpc>
                <a:spcPct val="115000"/>
              </a:lnSpc>
              <a:spcAft>
                <a:spcPts val="800"/>
              </a:spcAft>
              <a:buFont typeface="Wingdings" panose="05000000000000000000" pitchFamily="2" charset="2"/>
              <a:buChar char=""/>
            </a:pPr>
            <a:endParaRPr lang="en-IN" sz="1600" b="1" u="sng" kern="100" dirty="0">
              <a:solidFill>
                <a:srgbClr val="002060"/>
              </a:solidFill>
              <a:effectLst/>
              <a:ea typeface="Aptos" panose="020B0004020202020204" pitchFamily="34" charset="0"/>
              <a:cs typeface="Times New Roman" panose="02020603050405020304" pitchFamily="18" charset="0"/>
            </a:endParaRPr>
          </a:p>
          <a:p>
            <a:pPr marL="742950" lvl="1" indent="-285750" algn="just">
              <a:lnSpc>
                <a:spcPct val="107000"/>
              </a:lnSpc>
              <a:spcAft>
                <a:spcPts val="800"/>
              </a:spcAft>
              <a:buSzPts val="1000"/>
              <a:buFont typeface="Courier New" panose="02070309020205020404" pitchFamily="49" charset="0"/>
              <a:buChar char="o"/>
              <a:tabLst>
                <a:tab pos="914400" algn="l"/>
              </a:tabLst>
            </a:pPr>
            <a:endParaRPr lang="en-IN" sz="1600" kern="100" dirty="0">
              <a:effectLst/>
              <a:ea typeface="Aptos" panose="020B0004020202020204" pitchFamily="34" charset="0"/>
              <a:cs typeface="Times New Roman" panose="02020603050405020304" pitchFamily="18" charset="0"/>
            </a:endParaRPr>
          </a:p>
          <a:p>
            <a:pPr marL="342900" lvl="0" indent="-342900" algn="just">
              <a:lnSpc>
                <a:spcPct val="115000"/>
              </a:lnSpc>
              <a:spcAft>
                <a:spcPts val="800"/>
              </a:spcAft>
              <a:buFont typeface="Wingdings" panose="05000000000000000000" pitchFamily="2" charset="2"/>
              <a:buChar char=""/>
            </a:pPr>
            <a:endParaRPr lang="en-IN" sz="1600" b="1" u="sng" kern="100" dirty="0">
              <a:effectLst/>
              <a:ea typeface="Aptos" panose="020B0004020202020204" pitchFamily="34" charset="0"/>
              <a:cs typeface="Times New Roman" panose="02020603050405020304" pitchFamily="18" charset="0"/>
            </a:endParaRPr>
          </a:p>
          <a:p>
            <a:pPr marL="285750" indent="-285750">
              <a:spcAft>
                <a:spcPts val="800"/>
              </a:spcAft>
              <a:buFont typeface="Arial" panose="020B0604020202020204" pitchFamily="34" charset="0"/>
              <a:buChar char="•"/>
            </a:pPr>
            <a:endParaRPr lang="en-US" sz="1600" b="1" u="sng" spc="3" dirty="0">
              <a:solidFill>
                <a:srgbClr val="000000"/>
              </a:solidFill>
              <a:ea typeface="Montserrat Classic Bold"/>
              <a:cs typeface="Montserrat Classic Bold"/>
              <a:sym typeface="Montserrat Classic Bold"/>
            </a:endParaRPr>
          </a:p>
        </p:txBody>
      </p:sp>
      <p:sp>
        <p:nvSpPr>
          <p:cNvPr id="15" name="TextBox 15">
            <a:extLst>
              <a:ext uri="{FF2B5EF4-FFF2-40B4-BE49-F238E27FC236}">
                <a16:creationId xmlns:a16="http://schemas.microsoft.com/office/drawing/2014/main" id="{D0A12A1A-9265-659A-0EED-42FD4976DAAB}"/>
              </a:ext>
            </a:extLst>
          </p:cNvPr>
          <p:cNvSpPr txBox="1"/>
          <p:nvPr/>
        </p:nvSpPr>
        <p:spPr>
          <a:xfrm>
            <a:off x="349250" y="10119945"/>
            <a:ext cx="7081214" cy="186205"/>
          </a:xfrm>
          <a:prstGeom prst="rect">
            <a:avLst/>
          </a:prstGeom>
        </p:spPr>
        <p:txBody>
          <a:bodyPr lIns="0" tIns="0" rIns="0" bIns="0" rtlCol="0" anchor="t">
            <a:spAutoFit/>
          </a:bodyPr>
          <a:lstStyle/>
          <a:p>
            <a:pPr algn="ctr">
              <a:lnSpc>
                <a:spcPts val="1598"/>
              </a:lnSpc>
            </a:pPr>
            <a:r>
              <a:rPr lang="en-US" sz="1299" b="1" spc="3" dirty="0">
                <a:solidFill>
                  <a:schemeClr val="tx2">
                    <a:lumMod val="60000"/>
                    <a:lumOff val="40000"/>
                    <a:alpha val="60000"/>
                  </a:schemeClr>
                </a:solidFill>
                <a:latin typeface="Montserrat Classic Bold"/>
                <a:ea typeface="Montserrat Classic Bold"/>
                <a:cs typeface="Montserrat Classic Bold"/>
                <a:sym typeface="Montserrat Classic Bold"/>
              </a:rPr>
              <a:t>Page 10 of 11</a:t>
            </a:r>
          </a:p>
        </p:txBody>
      </p:sp>
      <p:pic>
        <p:nvPicPr>
          <p:cNvPr id="4" name="Picture 3">
            <a:extLst>
              <a:ext uri="{FF2B5EF4-FFF2-40B4-BE49-F238E27FC236}">
                <a16:creationId xmlns:a16="http://schemas.microsoft.com/office/drawing/2014/main" id="{4ED11A61-0C56-09B4-EE85-24320CEA0716}"/>
              </a:ext>
            </a:extLst>
          </p:cNvPr>
          <p:cNvPicPr>
            <a:picLocks noChangeAspect="1"/>
          </p:cNvPicPr>
          <p:nvPr/>
        </p:nvPicPr>
        <p:blipFill>
          <a:blip r:embed="rId2"/>
          <a:stretch>
            <a:fillRect/>
          </a:stretch>
        </p:blipFill>
        <p:spPr>
          <a:xfrm>
            <a:off x="5700611" y="387250"/>
            <a:ext cx="1752600" cy="1067946"/>
          </a:xfrm>
          <a:prstGeom prst="rect">
            <a:avLst/>
          </a:prstGeom>
        </p:spPr>
      </p:pic>
      <p:sp>
        <p:nvSpPr>
          <p:cNvPr id="8" name="Rectangle 1">
            <a:extLst>
              <a:ext uri="{FF2B5EF4-FFF2-40B4-BE49-F238E27FC236}">
                <a16:creationId xmlns:a16="http://schemas.microsoft.com/office/drawing/2014/main" id="{DAAE1D69-07AD-34DE-A40D-39BC5927BFF2}"/>
              </a:ext>
            </a:extLst>
          </p:cNvPr>
          <p:cNvSpPr>
            <a:spLocks noChangeArrowheads="1"/>
          </p:cNvSpPr>
          <p:nvPr/>
        </p:nvSpPr>
        <p:spPr bwMode="auto">
          <a:xfrm>
            <a:off x="434874" y="5474448"/>
            <a:ext cx="672197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en-US" altLang="en-US" sz="1600" dirty="0">
                <a:solidFill>
                  <a:srgbClr val="002060"/>
                </a:solidFill>
                <a:cs typeface="Calibri" panose="020F0502020204030204" pitchFamily="34" charset="0"/>
              </a:rPr>
              <a:t>.</a:t>
            </a:r>
          </a:p>
        </p:txBody>
      </p:sp>
      <p:sp>
        <p:nvSpPr>
          <p:cNvPr id="10" name="Rectangle 2">
            <a:extLst>
              <a:ext uri="{FF2B5EF4-FFF2-40B4-BE49-F238E27FC236}">
                <a16:creationId xmlns:a16="http://schemas.microsoft.com/office/drawing/2014/main" id="{E418F2FF-AB72-6152-EFFD-3BF109C49EDA}"/>
              </a:ext>
            </a:extLst>
          </p:cNvPr>
          <p:cNvSpPr>
            <a:spLocks noChangeArrowheads="1"/>
          </p:cNvSpPr>
          <p:nvPr/>
        </p:nvSpPr>
        <p:spPr bwMode="auto">
          <a:xfrm>
            <a:off x="405196" y="6945974"/>
            <a:ext cx="6746107"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tabLst>
                <a:tab pos="457200" algn="l"/>
              </a:tabLst>
              <a:defRPr>
                <a:solidFill>
                  <a:schemeClr val="tx1"/>
                </a:solidFill>
                <a:latin typeface="Arial" panose="020B0604020202020204" pitchFamily="34" charset="0"/>
              </a:defRPr>
            </a:lvl1pPr>
            <a:lvl2pPr eaLnBrk="0" fontAlgn="base" hangingPunct="0">
              <a:spcBef>
                <a:spcPct val="0"/>
              </a:spcBef>
              <a:spcAft>
                <a:spcPct val="0"/>
              </a:spcAft>
              <a:tabLst>
                <a:tab pos="457200" algn="l"/>
              </a:tabLst>
              <a:defRPr>
                <a:solidFill>
                  <a:schemeClr val="tx1"/>
                </a:solidFill>
                <a:latin typeface="Arial" panose="020B0604020202020204" pitchFamily="34" charset="0"/>
              </a:defRPr>
            </a:lvl2pPr>
            <a:lvl3pPr eaLnBrk="0" fontAlgn="base" hangingPunct="0">
              <a:spcBef>
                <a:spcPct val="0"/>
              </a:spcBef>
              <a:spcAft>
                <a:spcPct val="0"/>
              </a:spcAft>
              <a:tabLst>
                <a:tab pos="457200" algn="l"/>
              </a:tabLst>
              <a:defRPr>
                <a:solidFill>
                  <a:schemeClr val="tx1"/>
                </a:solidFill>
                <a:latin typeface="Arial" panose="020B0604020202020204" pitchFamily="34" charset="0"/>
              </a:defRPr>
            </a:lvl3pPr>
            <a:lvl4pPr eaLnBrk="0" fontAlgn="base" hangingPunct="0">
              <a:spcBef>
                <a:spcPct val="0"/>
              </a:spcBef>
              <a:spcAft>
                <a:spcPct val="0"/>
              </a:spcAft>
              <a:tabLst>
                <a:tab pos="457200" algn="l"/>
              </a:tabLst>
              <a:defRPr>
                <a:solidFill>
                  <a:schemeClr val="tx1"/>
                </a:solidFill>
                <a:latin typeface="Arial" panose="020B0604020202020204" pitchFamily="34" charset="0"/>
              </a:defRPr>
            </a:lvl4pPr>
            <a:lvl5pPr eaLnBrk="0" fontAlgn="base" hangingPunct="0">
              <a:spcBef>
                <a:spcPct val="0"/>
              </a:spcBef>
              <a:spcAft>
                <a:spcPct val="0"/>
              </a:spcAft>
              <a:tabLst>
                <a:tab pos="457200" algn="l"/>
              </a:tabLst>
              <a:defRPr>
                <a:solidFill>
                  <a:schemeClr val="tx1"/>
                </a:solidFill>
                <a:latin typeface="Arial" panose="020B0604020202020204" pitchFamily="34" charset="0"/>
              </a:defRPr>
            </a:lvl5pPr>
            <a:lvl6pPr eaLnBrk="0" fontAlgn="base" hangingPunct="0">
              <a:spcBef>
                <a:spcPct val="0"/>
              </a:spcBef>
              <a:spcAft>
                <a:spcPct val="0"/>
              </a:spcAft>
              <a:tabLst>
                <a:tab pos="457200" algn="l"/>
              </a:tabLst>
              <a:defRPr>
                <a:solidFill>
                  <a:schemeClr val="tx1"/>
                </a:solidFill>
                <a:latin typeface="Arial" panose="020B0604020202020204" pitchFamily="34" charset="0"/>
              </a:defRPr>
            </a:lvl6pPr>
            <a:lvl7pPr eaLnBrk="0" fontAlgn="base" hangingPunct="0">
              <a:spcBef>
                <a:spcPct val="0"/>
              </a:spcBef>
              <a:spcAft>
                <a:spcPct val="0"/>
              </a:spcAft>
              <a:tabLst>
                <a:tab pos="457200" algn="l"/>
              </a:tabLst>
              <a:defRPr>
                <a:solidFill>
                  <a:schemeClr val="tx1"/>
                </a:solidFill>
                <a:latin typeface="Arial" panose="020B0604020202020204" pitchFamily="34" charset="0"/>
              </a:defRPr>
            </a:lvl7pPr>
            <a:lvl8pPr eaLnBrk="0" fontAlgn="base" hangingPunct="0">
              <a:spcBef>
                <a:spcPct val="0"/>
              </a:spcBef>
              <a:spcAft>
                <a:spcPct val="0"/>
              </a:spcAft>
              <a:tabLst>
                <a:tab pos="457200" algn="l"/>
              </a:tabLst>
              <a:defRPr>
                <a:solidFill>
                  <a:schemeClr val="tx1"/>
                </a:solidFill>
                <a:latin typeface="Arial" panose="020B0604020202020204" pitchFamily="34" charset="0"/>
              </a:defRPr>
            </a:lvl8pPr>
            <a:lvl9pPr eaLnBrk="0" fontAlgn="base" hangingPunct="0">
              <a:spcBef>
                <a:spcPct val="0"/>
              </a:spcBef>
              <a:spcAft>
                <a:spcPct val="0"/>
              </a:spcAft>
              <a:tabLst>
                <a:tab pos="457200" algn="l"/>
              </a:tabLs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tab pos="457200" algn="l"/>
              </a:tabLst>
            </a:pPr>
            <a:r>
              <a:rPr lang="en-US" altLang="en-US" sz="1600" dirty="0">
                <a:solidFill>
                  <a:srgbClr val="002060"/>
                </a:solidFill>
                <a:latin typeface="+mn-lt"/>
                <a:cs typeface="Calibri" panose="020F0502020204030204" pitchFamily="34" charset="0"/>
              </a:rPr>
              <a:t>.</a:t>
            </a:r>
          </a:p>
        </p:txBody>
      </p:sp>
      <p:sp>
        <p:nvSpPr>
          <p:cNvPr id="2" name="Slide Number Placeholder 1">
            <a:extLst>
              <a:ext uri="{FF2B5EF4-FFF2-40B4-BE49-F238E27FC236}">
                <a16:creationId xmlns:a16="http://schemas.microsoft.com/office/drawing/2014/main" id="{73BF2278-C9D9-6969-211F-206FF6E49823}"/>
              </a:ext>
            </a:extLst>
          </p:cNvPr>
          <p:cNvSpPr>
            <a:spLocks noGrp="1"/>
          </p:cNvSpPr>
          <p:nvPr>
            <p:ph type="sldNum" sz="quarter" idx="12"/>
          </p:nvPr>
        </p:nvSpPr>
        <p:spPr/>
        <p:txBody>
          <a:bodyPr/>
          <a:lstStyle/>
          <a:p>
            <a:fld id="{B6F15528-21DE-4FAA-801E-634DDDAF4B2B}" type="slidenum">
              <a:rPr lang="en-US" smtClean="0"/>
              <a:pPr/>
              <a:t>10</a:t>
            </a:fld>
            <a:endParaRPr lang="en-US" dirty="0"/>
          </a:p>
        </p:txBody>
      </p:sp>
    </p:spTree>
    <p:extLst>
      <p:ext uri="{BB962C8B-B14F-4D97-AF65-F5344CB8AC3E}">
        <p14:creationId xmlns:p14="http://schemas.microsoft.com/office/powerpoint/2010/main" val="17278145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BEDF3"/>
        </a:solidFill>
        <a:effectLst/>
      </p:bgPr>
    </p:bg>
    <p:spTree>
      <p:nvGrpSpPr>
        <p:cNvPr id="1" name=""/>
        <p:cNvGrpSpPr/>
        <p:nvPr/>
      </p:nvGrpSpPr>
      <p:grpSpPr>
        <a:xfrm>
          <a:off x="0" y="0"/>
          <a:ext cx="0" cy="0"/>
          <a:chOff x="0" y="0"/>
          <a:chExt cx="0" cy="0"/>
        </a:xfrm>
      </p:grpSpPr>
      <p:grpSp>
        <p:nvGrpSpPr>
          <p:cNvPr id="2" name="Group 2"/>
          <p:cNvGrpSpPr/>
          <p:nvPr/>
        </p:nvGrpSpPr>
        <p:grpSpPr>
          <a:xfrm>
            <a:off x="0" y="6493418"/>
            <a:ext cx="7569820" cy="4620676"/>
            <a:chOff x="0" y="0"/>
            <a:chExt cx="2712853" cy="1655946"/>
          </a:xfrm>
          <a:solidFill>
            <a:srgbClr val="00B0F0"/>
          </a:solidFill>
        </p:grpSpPr>
        <p:sp>
          <p:nvSpPr>
            <p:cNvPr id="3" name="Freeform 3"/>
            <p:cNvSpPr/>
            <p:nvPr/>
          </p:nvSpPr>
          <p:spPr>
            <a:xfrm>
              <a:off x="0" y="0"/>
              <a:ext cx="2712853" cy="1655946"/>
            </a:xfrm>
            <a:custGeom>
              <a:avLst/>
              <a:gdLst/>
              <a:ahLst/>
              <a:cxnLst/>
              <a:rect l="l" t="t" r="r" b="b"/>
              <a:pathLst>
                <a:path w="2712853" h="1655946">
                  <a:moveTo>
                    <a:pt x="0" y="0"/>
                  </a:moveTo>
                  <a:lnTo>
                    <a:pt x="2712853" y="0"/>
                  </a:lnTo>
                  <a:lnTo>
                    <a:pt x="2712853" y="1655946"/>
                  </a:lnTo>
                  <a:lnTo>
                    <a:pt x="0" y="1655946"/>
                  </a:lnTo>
                  <a:close/>
                </a:path>
              </a:pathLst>
            </a:custGeom>
            <a:grpFill/>
          </p:spPr>
          <p:txBody>
            <a:bodyPr/>
            <a:lstStyle/>
            <a:p>
              <a:endParaRPr lang="en-US"/>
            </a:p>
          </p:txBody>
        </p:sp>
        <p:sp>
          <p:nvSpPr>
            <p:cNvPr id="4" name="TextBox 4"/>
            <p:cNvSpPr txBox="1"/>
            <p:nvPr/>
          </p:nvSpPr>
          <p:spPr>
            <a:xfrm>
              <a:off x="0" y="-28575"/>
              <a:ext cx="2712853" cy="1684521"/>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5" name="Group 5"/>
          <p:cNvGrpSpPr/>
          <p:nvPr/>
        </p:nvGrpSpPr>
        <p:grpSpPr>
          <a:xfrm>
            <a:off x="0" y="6502867"/>
            <a:ext cx="7569820" cy="4065232"/>
            <a:chOff x="0" y="0"/>
            <a:chExt cx="2712853" cy="1456888"/>
          </a:xfrm>
          <a:solidFill>
            <a:schemeClr val="tx2"/>
          </a:solidFill>
        </p:grpSpPr>
        <p:sp>
          <p:nvSpPr>
            <p:cNvPr id="6" name="Freeform 6"/>
            <p:cNvSpPr/>
            <p:nvPr/>
          </p:nvSpPr>
          <p:spPr>
            <a:xfrm>
              <a:off x="0" y="0"/>
              <a:ext cx="2712853" cy="1456888"/>
            </a:xfrm>
            <a:custGeom>
              <a:avLst/>
              <a:gdLst/>
              <a:ahLst/>
              <a:cxnLst/>
              <a:rect l="l" t="t" r="r" b="b"/>
              <a:pathLst>
                <a:path w="2712853" h="1456888">
                  <a:moveTo>
                    <a:pt x="0" y="0"/>
                  </a:moveTo>
                  <a:lnTo>
                    <a:pt x="2712853" y="0"/>
                  </a:lnTo>
                  <a:lnTo>
                    <a:pt x="2712853" y="1456888"/>
                  </a:lnTo>
                  <a:lnTo>
                    <a:pt x="0" y="1456888"/>
                  </a:lnTo>
                  <a:close/>
                </a:path>
              </a:pathLst>
            </a:custGeom>
            <a:grpFill/>
            <a:ln>
              <a:solidFill>
                <a:srgbClr val="00B0F0"/>
              </a:solidFill>
            </a:ln>
          </p:spPr>
          <p:txBody>
            <a:bodyPr/>
            <a:lstStyle/>
            <a:p>
              <a:endParaRPr lang="en-US"/>
            </a:p>
          </p:txBody>
        </p:sp>
        <p:sp>
          <p:nvSpPr>
            <p:cNvPr id="7" name="TextBox 7"/>
            <p:cNvSpPr txBox="1"/>
            <p:nvPr/>
          </p:nvSpPr>
          <p:spPr>
            <a:xfrm>
              <a:off x="0" y="-28575"/>
              <a:ext cx="2712853" cy="1485463"/>
            </a:xfrm>
            <a:prstGeom prst="rect">
              <a:avLst/>
            </a:prstGeom>
            <a:grpFill/>
            <a:ln>
              <a:solidFill>
                <a:srgbClr val="00B0F0"/>
              </a:solidFill>
            </a:ln>
          </p:spPr>
          <p:txBody>
            <a:bodyPr lIns="50800" tIns="50800" rIns="50800" bIns="50800" rtlCol="0" anchor="ctr"/>
            <a:lstStyle/>
            <a:p>
              <a:pPr algn="ctr">
                <a:lnSpc>
                  <a:spcPts val="1960"/>
                </a:lnSpc>
                <a:spcBef>
                  <a:spcPct val="0"/>
                </a:spcBef>
              </a:pPr>
              <a:endParaRPr dirty="0"/>
            </a:p>
          </p:txBody>
        </p:sp>
      </p:grpSp>
      <p:grpSp>
        <p:nvGrpSpPr>
          <p:cNvPr id="11" name="Group 11"/>
          <p:cNvGrpSpPr/>
          <p:nvPr/>
        </p:nvGrpSpPr>
        <p:grpSpPr>
          <a:xfrm>
            <a:off x="-29425" y="0"/>
            <a:ext cx="7560000" cy="671389"/>
            <a:chOff x="0" y="0"/>
            <a:chExt cx="2709333" cy="240611"/>
          </a:xfrm>
          <a:solidFill>
            <a:srgbClr val="00B0F0"/>
          </a:solidFill>
        </p:grpSpPr>
        <p:sp>
          <p:nvSpPr>
            <p:cNvPr id="12" name="Freeform 12"/>
            <p:cNvSpPr/>
            <p:nvPr/>
          </p:nvSpPr>
          <p:spPr>
            <a:xfrm>
              <a:off x="0" y="0"/>
              <a:ext cx="2709333" cy="240611"/>
            </a:xfrm>
            <a:custGeom>
              <a:avLst/>
              <a:gdLst/>
              <a:ahLst/>
              <a:cxnLst/>
              <a:rect l="l" t="t" r="r" b="b"/>
              <a:pathLst>
                <a:path w="2709333" h="240611">
                  <a:moveTo>
                    <a:pt x="0" y="0"/>
                  </a:moveTo>
                  <a:lnTo>
                    <a:pt x="2709333" y="0"/>
                  </a:lnTo>
                  <a:lnTo>
                    <a:pt x="2709333" y="240611"/>
                  </a:lnTo>
                  <a:lnTo>
                    <a:pt x="0" y="240611"/>
                  </a:lnTo>
                  <a:close/>
                </a:path>
              </a:pathLst>
            </a:custGeom>
            <a:grpFill/>
          </p:spPr>
          <p:txBody>
            <a:bodyPr/>
            <a:lstStyle/>
            <a:p>
              <a:endParaRPr lang="en-US"/>
            </a:p>
          </p:txBody>
        </p:sp>
        <p:sp>
          <p:nvSpPr>
            <p:cNvPr id="13" name="TextBox 13"/>
            <p:cNvSpPr txBox="1"/>
            <p:nvPr/>
          </p:nvSpPr>
          <p:spPr>
            <a:xfrm>
              <a:off x="0" y="-28575"/>
              <a:ext cx="2709333" cy="269186"/>
            </a:xfrm>
            <a:prstGeom prst="rect">
              <a:avLst/>
            </a:prstGeom>
            <a:grpFill/>
          </p:spPr>
          <p:txBody>
            <a:bodyPr lIns="50800" tIns="50800" rIns="50800" bIns="50800" rtlCol="0" anchor="ctr"/>
            <a:lstStyle/>
            <a:p>
              <a:pPr algn="ctr">
                <a:lnSpc>
                  <a:spcPts val="1960"/>
                </a:lnSpc>
                <a:spcBef>
                  <a:spcPct val="0"/>
                </a:spcBef>
              </a:pPr>
              <a:endParaRPr/>
            </a:p>
          </p:txBody>
        </p:sp>
      </p:grpSp>
      <p:grpSp>
        <p:nvGrpSpPr>
          <p:cNvPr id="14" name="Group 14"/>
          <p:cNvGrpSpPr/>
          <p:nvPr/>
        </p:nvGrpSpPr>
        <p:grpSpPr>
          <a:xfrm>
            <a:off x="-29425" y="0"/>
            <a:ext cx="7569820" cy="558063"/>
            <a:chOff x="0" y="0"/>
            <a:chExt cx="2712853" cy="199997"/>
          </a:xfrm>
          <a:solidFill>
            <a:schemeClr val="tx2"/>
          </a:solidFill>
        </p:grpSpPr>
        <p:sp>
          <p:nvSpPr>
            <p:cNvPr id="15" name="Freeform 15"/>
            <p:cNvSpPr/>
            <p:nvPr/>
          </p:nvSpPr>
          <p:spPr>
            <a:xfrm>
              <a:off x="0" y="0"/>
              <a:ext cx="2712853" cy="199997"/>
            </a:xfrm>
            <a:custGeom>
              <a:avLst/>
              <a:gdLst/>
              <a:ahLst/>
              <a:cxnLst/>
              <a:rect l="l" t="t" r="r" b="b"/>
              <a:pathLst>
                <a:path w="2712853" h="199997">
                  <a:moveTo>
                    <a:pt x="0" y="0"/>
                  </a:moveTo>
                  <a:lnTo>
                    <a:pt x="2712853" y="0"/>
                  </a:lnTo>
                  <a:lnTo>
                    <a:pt x="2712853" y="199997"/>
                  </a:lnTo>
                  <a:lnTo>
                    <a:pt x="0" y="199997"/>
                  </a:lnTo>
                  <a:close/>
                </a:path>
              </a:pathLst>
            </a:custGeom>
            <a:grpFill/>
          </p:spPr>
          <p:txBody>
            <a:bodyPr/>
            <a:lstStyle/>
            <a:p>
              <a:endParaRPr lang="en-US"/>
            </a:p>
          </p:txBody>
        </p:sp>
        <p:sp>
          <p:nvSpPr>
            <p:cNvPr id="16" name="TextBox 16"/>
            <p:cNvSpPr txBox="1"/>
            <p:nvPr/>
          </p:nvSpPr>
          <p:spPr>
            <a:xfrm>
              <a:off x="0" y="-28575"/>
              <a:ext cx="2712853" cy="228572"/>
            </a:xfrm>
            <a:prstGeom prst="rect">
              <a:avLst/>
            </a:prstGeom>
            <a:grpFill/>
          </p:spPr>
          <p:txBody>
            <a:bodyPr lIns="50800" tIns="50800" rIns="50800" bIns="50800" rtlCol="0" anchor="ctr"/>
            <a:lstStyle/>
            <a:p>
              <a:pPr algn="ctr">
                <a:lnSpc>
                  <a:spcPts val="1960"/>
                </a:lnSpc>
                <a:spcBef>
                  <a:spcPct val="0"/>
                </a:spcBef>
              </a:pPr>
              <a:endParaRPr/>
            </a:p>
          </p:txBody>
        </p:sp>
      </p:grpSp>
      <p:sp>
        <p:nvSpPr>
          <p:cNvPr id="17" name="Freeform 17"/>
          <p:cNvSpPr/>
          <p:nvPr/>
        </p:nvSpPr>
        <p:spPr>
          <a:xfrm>
            <a:off x="388949" y="8928101"/>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2"/>
                </a:ext>
              </a:extLst>
            </a:blip>
            <a:stretch>
              <a:fillRect/>
            </a:stretch>
          </a:blipFill>
          <a:ln>
            <a:solidFill>
              <a:srgbClr val="00B0F0"/>
            </a:solidFill>
          </a:ln>
        </p:spPr>
        <p:txBody>
          <a:bodyPr/>
          <a:lstStyle/>
          <a:p>
            <a:endParaRPr lang="en-US" dirty="0"/>
          </a:p>
        </p:txBody>
      </p:sp>
      <p:sp>
        <p:nvSpPr>
          <p:cNvPr id="18" name="Freeform 18"/>
          <p:cNvSpPr/>
          <p:nvPr/>
        </p:nvSpPr>
        <p:spPr>
          <a:xfrm>
            <a:off x="414043" y="9605149"/>
            <a:ext cx="412175" cy="412175"/>
          </a:xfrm>
          <a:custGeom>
            <a:avLst/>
            <a:gdLst/>
            <a:ahLst/>
            <a:cxnLst/>
            <a:rect l="l" t="t" r="r" b="b"/>
            <a:pathLst>
              <a:path w="412175" h="412175">
                <a:moveTo>
                  <a:pt x="0" y="0"/>
                </a:moveTo>
                <a:lnTo>
                  <a:pt x="412176" y="0"/>
                </a:lnTo>
                <a:lnTo>
                  <a:pt x="412176" y="412175"/>
                </a:lnTo>
                <a:lnTo>
                  <a:pt x="0" y="41217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Freeform 19"/>
          <p:cNvSpPr/>
          <p:nvPr/>
        </p:nvSpPr>
        <p:spPr>
          <a:xfrm>
            <a:off x="4144696" y="8926661"/>
            <a:ext cx="390492" cy="390492"/>
          </a:xfrm>
          <a:custGeom>
            <a:avLst/>
            <a:gdLst/>
            <a:ahLst/>
            <a:cxnLst/>
            <a:rect l="l" t="t" r="r" b="b"/>
            <a:pathLst>
              <a:path w="390492" h="390492">
                <a:moveTo>
                  <a:pt x="0" y="0"/>
                </a:moveTo>
                <a:lnTo>
                  <a:pt x="390492" y="0"/>
                </a:lnTo>
                <a:lnTo>
                  <a:pt x="390492" y="390492"/>
                </a:lnTo>
                <a:lnTo>
                  <a:pt x="0" y="390492"/>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21" name="TextBox 21"/>
          <p:cNvSpPr txBox="1"/>
          <p:nvPr/>
        </p:nvSpPr>
        <p:spPr>
          <a:xfrm>
            <a:off x="307304" y="861889"/>
            <a:ext cx="3318546" cy="461665"/>
          </a:xfrm>
          <a:prstGeom prst="rect">
            <a:avLst/>
          </a:prstGeom>
        </p:spPr>
        <p:txBody>
          <a:bodyPr wrap="square" lIns="0" tIns="0" rIns="0" bIns="0" rtlCol="0" anchor="t">
            <a:spAutoFit/>
          </a:bodyPr>
          <a:lstStyle/>
          <a:p>
            <a:pPr algn="l">
              <a:lnSpc>
                <a:spcPts val="3637"/>
              </a:lnSpc>
            </a:pPr>
            <a:r>
              <a:rPr lang="en-US" sz="3277" b="1" dirty="0">
                <a:solidFill>
                  <a:srgbClr val="000000"/>
                </a:solidFill>
                <a:latin typeface="Montserrat Classic Bold"/>
                <a:ea typeface="Montserrat Classic Bold"/>
                <a:cs typeface="Montserrat Classic Bold"/>
                <a:sym typeface="Montserrat Classic Bold"/>
              </a:rPr>
              <a:t>PRAVARTIYA</a:t>
            </a:r>
          </a:p>
        </p:txBody>
      </p:sp>
      <p:sp>
        <p:nvSpPr>
          <p:cNvPr id="23" name="TextBox 23"/>
          <p:cNvSpPr txBox="1"/>
          <p:nvPr/>
        </p:nvSpPr>
        <p:spPr>
          <a:xfrm>
            <a:off x="1038965" y="9609690"/>
            <a:ext cx="2586885" cy="213072"/>
          </a:xfrm>
          <a:prstGeom prst="rect">
            <a:avLst/>
          </a:prstGeom>
        </p:spPr>
        <p:txBody>
          <a:bodyPr wrap="square" lIns="0" tIns="0" rIns="0" bIns="0" rtlCol="0" anchor="t">
            <a:spAutoFit/>
          </a:bodyPr>
          <a:lstStyle/>
          <a:p>
            <a:pPr algn="l">
              <a:lnSpc>
                <a:spcPts val="1766"/>
              </a:lnSpc>
            </a:pPr>
            <a:r>
              <a:rPr lang="en-US" sz="1261" dirty="0">
                <a:solidFill>
                  <a:srgbClr val="FFFFFF"/>
                </a:solidFill>
                <a:latin typeface="Montserrat"/>
                <a:ea typeface="Montserrat"/>
                <a:cs typeface="Montserrat"/>
                <a:sym typeface="Montserrat"/>
              </a:rPr>
              <a:t>www.akshayamcorporate.com</a:t>
            </a:r>
          </a:p>
        </p:txBody>
      </p:sp>
      <p:sp>
        <p:nvSpPr>
          <p:cNvPr id="24" name="TextBox 24"/>
          <p:cNvSpPr txBox="1"/>
          <p:nvPr/>
        </p:nvSpPr>
        <p:spPr>
          <a:xfrm>
            <a:off x="4566659" y="8928101"/>
            <a:ext cx="2825607" cy="1095621"/>
          </a:xfrm>
          <a:prstGeom prst="rect">
            <a:avLst/>
          </a:prstGeom>
        </p:spPr>
        <p:txBody>
          <a:bodyPr lIns="0" tIns="0" rIns="0" bIns="0" rtlCol="0" anchor="t">
            <a:spAutoFit/>
          </a:bodyPr>
          <a:lstStyle/>
          <a:p>
            <a:pPr>
              <a:lnSpc>
                <a:spcPts val="1679"/>
              </a:lnSpc>
            </a:pPr>
            <a:r>
              <a:rPr lang="en-US" sz="1200" dirty="0">
                <a:solidFill>
                  <a:srgbClr val="FFFFFF"/>
                </a:solidFill>
                <a:latin typeface="Montserrat"/>
                <a:ea typeface="Montserrat"/>
                <a:cs typeface="Montserrat"/>
                <a:sym typeface="Montserrat"/>
              </a:rPr>
              <a:t>Head Office: </a:t>
            </a:r>
            <a:r>
              <a:rPr lang="en-US" sz="1200" dirty="0">
                <a:solidFill>
                  <a:srgbClr val="FFFFFF"/>
                </a:solidFill>
                <a:latin typeface="Montserrat"/>
              </a:rPr>
              <a:t>5th Floor – West Wing Old No. 23 &amp; 24, New No. 37 </a:t>
            </a:r>
            <a:r>
              <a:rPr lang="en-US" sz="1200" dirty="0" err="1">
                <a:solidFill>
                  <a:srgbClr val="FFFFFF"/>
                </a:solidFill>
                <a:latin typeface="Montserrat"/>
              </a:rPr>
              <a:t>Chamiers</a:t>
            </a:r>
            <a:r>
              <a:rPr lang="en-US" sz="1200" dirty="0">
                <a:solidFill>
                  <a:srgbClr val="FFFFFF"/>
                </a:solidFill>
                <a:latin typeface="Montserrat"/>
              </a:rPr>
              <a:t> Tower, </a:t>
            </a:r>
            <a:r>
              <a:rPr lang="en-US" sz="1200" dirty="0" err="1">
                <a:solidFill>
                  <a:srgbClr val="FFFFFF"/>
                </a:solidFill>
                <a:latin typeface="Montserrat"/>
              </a:rPr>
              <a:t>Chamiers</a:t>
            </a:r>
            <a:r>
              <a:rPr lang="en-US" sz="1200" dirty="0">
                <a:solidFill>
                  <a:srgbClr val="FFFFFF"/>
                </a:solidFill>
                <a:latin typeface="Montserrat"/>
              </a:rPr>
              <a:t> Road Teynampet,</a:t>
            </a:r>
            <a:br>
              <a:rPr lang="en-US" sz="1200" dirty="0">
                <a:solidFill>
                  <a:srgbClr val="FFFFFF"/>
                </a:solidFill>
                <a:latin typeface="Montserrat"/>
              </a:rPr>
            </a:br>
            <a:r>
              <a:rPr lang="en-US" sz="1200" dirty="0">
                <a:solidFill>
                  <a:srgbClr val="FFFFFF"/>
                </a:solidFill>
                <a:latin typeface="Montserrat"/>
              </a:rPr>
              <a:t>Chennai – 600 018</a:t>
            </a:r>
            <a:endParaRPr lang="en-US" sz="1200" dirty="0">
              <a:solidFill>
                <a:srgbClr val="FFFFFF"/>
              </a:solidFill>
              <a:latin typeface="Montserrat"/>
              <a:sym typeface="Montserrat"/>
            </a:endParaRPr>
          </a:p>
        </p:txBody>
      </p:sp>
      <p:sp>
        <p:nvSpPr>
          <p:cNvPr id="25" name="TextBox 25"/>
          <p:cNvSpPr txBox="1"/>
          <p:nvPr/>
        </p:nvSpPr>
        <p:spPr>
          <a:xfrm>
            <a:off x="958158" y="8896372"/>
            <a:ext cx="3381784" cy="443904"/>
          </a:xfrm>
          <a:prstGeom prst="rect">
            <a:avLst/>
          </a:prstGeom>
        </p:spPr>
        <p:txBody>
          <a:bodyPr wrap="square" lIns="0" tIns="0" rIns="0" bIns="0" rtlCol="0" anchor="t">
            <a:spAutoFit/>
          </a:bodyPr>
          <a:lstStyle/>
          <a:p>
            <a:pPr algn="l">
              <a:lnSpc>
                <a:spcPts val="1766"/>
              </a:lnSpc>
            </a:pP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bhuvana.r@akshayamcorporate.com</a:t>
            </a:r>
          </a:p>
          <a:p>
            <a:pPr algn="l">
              <a:lnSpc>
                <a:spcPts val="1766"/>
              </a:lnSpc>
            </a:pPr>
            <a:r>
              <a:rPr lang="en-US" sz="1261" u="sng" dirty="0" err="1">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Jayanth.v</a:t>
            </a:r>
            <a:r>
              <a:rPr lang="en-US" sz="1261" u="sng" dirty="0">
                <a:solidFill>
                  <a:schemeClr val="bg1"/>
                </a:solidFill>
                <a:latin typeface="Montserrat"/>
                <a:ea typeface="Montserrat"/>
                <a:cs typeface="Montserrat"/>
                <a:sym typeface="Montserrat"/>
                <a:hlinkClick r:id="rId5" tooltip="mailto:Karthik@Peritumpartners.com">
                  <a:extLst>
                    <a:ext uri="{A12FA001-AC4F-418D-AE19-62706E023703}">
                      <ahyp:hlinkClr xmlns:ahyp="http://schemas.microsoft.com/office/drawing/2018/hyperlinkcolor" val="tx"/>
                    </a:ext>
                  </a:extLst>
                </a:hlinkClick>
              </a:rPr>
              <a:t> @akshayamcorporate.com</a:t>
            </a:r>
          </a:p>
        </p:txBody>
      </p:sp>
      <p:sp>
        <p:nvSpPr>
          <p:cNvPr id="26" name="TextBox 26"/>
          <p:cNvSpPr txBox="1"/>
          <p:nvPr/>
        </p:nvSpPr>
        <p:spPr>
          <a:xfrm>
            <a:off x="307304" y="1454900"/>
            <a:ext cx="6968361" cy="1073564"/>
          </a:xfrm>
          <a:prstGeom prst="rect">
            <a:avLst/>
          </a:prstGeom>
        </p:spPr>
        <p:txBody>
          <a:bodyPr lIns="0" tIns="0" rIns="0" bIns="0" rtlCol="0" anchor="t">
            <a:spAutoFit/>
          </a:bodyPr>
          <a:lstStyle/>
          <a:p>
            <a:pPr algn="just">
              <a:lnSpc>
                <a:spcPts val="1679"/>
              </a:lnSpc>
              <a:spcBef>
                <a:spcPct val="0"/>
              </a:spcBef>
            </a:pPr>
            <a:r>
              <a:rPr lang="en-US" sz="1200" dirty="0">
                <a:solidFill>
                  <a:srgbClr val="000000"/>
                </a:solidFill>
                <a:latin typeface="Montserrat"/>
                <a:ea typeface="Montserrat"/>
                <a:cs typeface="Montserrat"/>
                <a:sym typeface="Montserrat"/>
              </a:rPr>
              <a:t>This newsletter is only for general informational purposes and shall not be construed to constitute legal advice (which can only be given after being formally engaged and familiarizing ourselves with all the relevant facts). Should you have any queries or require any assistance or clarifications with regard to anything contained in this newsletter, please feel free to contact our email Id given below</a:t>
            </a:r>
          </a:p>
        </p:txBody>
      </p:sp>
      <p:pic>
        <p:nvPicPr>
          <p:cNvPr id="9" name="Picture 8" descr="A person presenting to a group of people&#10;&#10;AI-generated content may be incorrect.">
            <a:extLst>
              <a:ext uri="{FF2B5EF4-FFF2-40B4-BE49-F238E27FC236}">
                <a16:creationId xmlns:a16="http://schemas.microsoft.com/office/drawing/2014/main" id="{48BF356C-FBE1-3DD8-28F9-2C5F581914B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320" y="2669867"/>
            <a:ext cx="7569820" cy="3753266"/>
          </a:xfrm>
          <a:prstGeom prst="rect">
            <a:avLst/>
          </a:prstGeom>
        </p:spPr>
      </p:pic>
      <p:pic>
        <p:nvPicPr>
          <p:cNvPr id="8" name="Picture 7">
            <a:extLst>
              <a:ext uri="{FF2B5EF4-FFF2-40B4-BE49-F238E27FC236}">
                <a16:creationId xmlns:a16="http://schemas.microsoft.com/office/drawing/2014/main" id="{77884094-E59E-743C-0481-11960D5D7F7D}"/>
              </a:ext>
            </a:extLst>
          </p:cNvPr>
          <p:cNvPicPr>
            <a:picLocks noChangeAspect="1"/>
          </p:cNvPicPr>
          <p:nvPr/>
        </p:nvPicPr>
        <p:blipFill>
          <a:blip r:embed="rId7"/>
          <a:stretch>
            <a:fillRect/>
          </a:stretch>
        </p:blipFill>
        <p:spPr>
          <a:xfrm>
            <a:off x="2332407" y="6600156"/>
            <a:ext cx="2971801" cy="2059777"/>
          </a:xfrm>
          <a:prstGeom prst="rect">
            <a:avLst/>
          </a:prstGeom>
        </p:spPr>
      </p:pic>
      <p:sp>
        <p:nvSpPr>
          <p:cNvPr id="10" name="Slide Number Placeholder 9">
            <a:extLst>
              <a:ext uri="{FF2B5EF4-FFF2-40B4-BE49-F238E27FC236}">
                <a16:creationId xmlns:a16="http://schemas.microsoft.com/office/drawing/2014/main" id="{A1979B08-17CB-6821-93C3-F472C87A3824}"/>
              </a:ext>
            </a:extLst>
          </p:cNvPr>
          <p:cNvSpPr>
            <a:spLocks noGrp="1"/>
          </p:cNvSpPr>
          <p:nvPr>
            <p:ph type="sldNum" sz="quarter" idx="12"/>
          </p:nvPr>
        </p:nvSpPr>
        <p:spPr/>
        <p:txBody>
          <a:bodyPr/>
          <a:lstStyle/>
          <a:p>
            <a:fld id="{B6F15528-21DE-4FAA-801E-634DDDAF4B2B}" type="slidenum">
              <a:rPr lang="en-US" smtClean="0"/>
              <a:pPr/>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sz="1600" b="1" u="sng" kern="100" dirty="0" smtClean="0">
            <a:solidFill>
              <a:srgbClr val="002060"/>
            </a:solidFill>
            <a:cs typeface="Times New Roman" panose="02020603050405020304" pitchFamily="18"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1216</TotalTime>
  <Words>356</Words>
  <Application>Microsoft Office PowerPoint</Application>
  <PresentationFormat>Custom</PresentationFormat>
  <Paragraphs>89</Paragraphs>
  <Slides>11</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11</vt:i4>
      </vt:variant>
    </vt:vector>
  </HeadingPairs>
  <TitlesOfParts>
    <vt:vector size="23" baseType="lpstr">
      <vt:lpstr>Courier New</vt:lpstr>
      <vt:lpstr>Times New Roman</vt:lpstr>
      <vt:lpstr>Montserrat Classic</vt:lpstr>
      <vt:lpstr>Aptos</vt:lpstr>
      <vt:lpstr>Montserrat</vt:lpstr>
      <vt:lpstr>Arial</vt:lpstr>
      <vt:lpstr>Canva Sans Bold Italics</vt:lpstr>
      <vt:lpstr>Montserrat Bold</vt:lpstr>
      <vt:lpstr>Calibri</vt:lpstr>
      <vt:lpstr>Wingdings</vt:lpstr>
      <vt:lpstr>Montserrat Classic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ARTHYA NEWSLETTER</dc:title>
  <dc:creator>Gayathri Akshayam</dc:creator>
  <cp:lastModifiedBy>Vijayashree Akshayam</cp:lastModifiedBy>
  <cp:revision>452</cp:revision>
  <dcterms:created xsi:type="dcterms:W3CDTF">2006-08-16T00:00:00Z</dcterms:created>
  <dcterms:modified xsi:type="dcterms:W3CDTF">2026-05-19T04:24:50Z</dcterms:modified>
  <dc:identifier>DAGjRylsoc0</dc:identifier>
</cp:coreProperties>
</file>